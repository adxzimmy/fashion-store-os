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05e97e884014975" /><Relationship Type="http://schemas.openxmlformats.org/officeDocument/2006/relationships/extended-properties" Target="/docProps/app.xml" Id="R8e21a6bde65949da" /><Relationship Type="http://schemas.openxmlformats.org/officeDocument/2006/relationships/officeDocument" Target="/ppt/presentation.xml" Id="Re6dfb80fb9e441ad" /></Relationships>
</file>

<file path=ppt/presentation.xml><?xml version="1.0" encoding="utf-8"?>
<p:presentation xmlns:p="http://schemas.openxmlformats.org/presentationml/2006/main">
  <p:sldMasterIdLst>
    <p:sldMasterId xmlns:r="http://schemas.openxmlformats.org/officeDocument/2006/relationships" id="2147483648" r:id="R1dd2abd83bcf4301"/>
  </p:sldMasterIdLst>
  <p:notesMasterIdLst>
    <p:notesMasterId xmlns:r="http://schemas.openxmlformats.org/officeDocument/2006/relationships" r:id="Rf0488dbcbf344021"/>
  </p:notesMasterIdLst>
  <p:sldIdLst>
    <p:sldId xmlns:r="http://schemas.openxmlformats.org/officeDocument/2006/relationships" id="256" r:id="R6380fe15f6ea42e1"/>
    <p:sldId xmlns:r="http://schemas.openxmlformats.org/officeDocument/2006/relationships" id="257" r:id="R76626c1e93344909"/>
    <p:sldId xmlns:r="http://schemas.openxmlformats.org/officeDocument/2006/relationships" id="258" r:id="R1533e8d1265f4097"/>
    <p:sldId xmlns:r="http://schemas.openxmlformats.org/officeDocument/2006/relationships" id="259" r:id="Recd2020d8c634a96"/>
    <p:sldId xmlns:r="http://schemas.openxmlformats.org/officeDocument/2006/relationships" id="260" r:id="R1c779a51898f4ecd"/>
    <p:sldId xmlns:r="http://schemas.openxmlformats.org/officeDocument/2006/relationships" id="261" r:id="R5e1930686925456e"/>
    <p:sldId xmlns:r="http://schemas.openxmlformats.org/officeDocument/2006/relationships" id="262" r:id="R302de482c6ef4a95"/>
    <p:sldId xmlns:r="http://schemas.openxmlformats.org/officeDocument/2006/relationships" id="263" r:id="Ra2a7f1c7e20343ca"/>
    <p:sldId xmlns:r="http://schemas.openxmlformats.org/officeDocument/2006/relationships" id="264" r:id="R9a7e7f4503f240d3"/>
    <p:sldId xmlns:r="http://schemas.openxmlformats.org/officeDocument/2006/relationships" id="265" r:id="R1e214af769a44041"/>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1dd2abd83bcf4301" /><Relationship Type="http://schemas.openxmlformats.org/officeDocument/2006/relationships/theme" Target="/ppt/theme/theme1.xml" Id="R16ca0b08a6bf4f5d" /><Relationship Type="http://schemas.openxmlformats.org/officeDocument/2006/relationships/notesMaster" Target="/ppt/notesMasters/notesMaster1.xml" Id="Rf0488dbcbf344021" /><Relationship Type="http://schemas.openxmlformats.org/officeDocument/2006/relationships/presProps" Target="/ppt/presProps.xml" Id="R547f1064ee794bd8" /><Relationship Type="http://schemas.openxmlformats.org/officeDocument/2006/relationships/viewProps" Target="/ppt/viewProps.xml" Id="Ra8036274e6c24cae" /><Relationship Type="http://schemas.openxmlformats.org/officeDocument/2006/relationships/tableStyles" Target="/ppt/tableStyles.xml" Id="Rb002a477ceea421f" /><Relationship Type="http://schemas.openxmlformats.org/officeDocument/2006/relationships/slide" Target="/ppt/slides/slide1.xml" Id="R6380fe15f6ea42e1" /><Relationship Type="http://schemas.openxmlformats.org/officeDocument/2006/relationships/slide" Target="/ppt/slides/slide2.xml" Id="R76626c1e93344909" /><Relationship Type="http://schemas.openxmlformats.org/officeDocument/2006/relationships/slide" Target="/ppt/slides/slide3.xml" Id="R1533e8d1265f4097" /><Relationship Type="http://schemas.openxmlformats.org/officeDocument/2006/relationships/slide" Target="/ppt/slides/slide4.xml" Id="Recd2020d8c634a96" /><Relationship Type="http://schemas.openxmlformats.org/officeDocument/2006/relationships/slide" Target="/ppt/slides/slide5.xml" Id="R1c779a51898f4ecd" /><Relationship Type="http://schemas.openxmlformats.org/officeDocument/2006/relationships/slide" Target="/ppt/slides/slide6.xml" Id="R5e1930686925456e" /><Relationship Type="http://schemas.openxmlformats.org/officeDocument/2006/relationships/slide" Target="/ppt/slides/slide7.xml" Id="R302de482c6ef4a95" /><Relationship Type="http://schemas.openxmlformats.org/officeDocument/2006/relationships/slide" Target="/ppt/slides/slide8.xml" Id="Ra2a7f1c7e20343ca" /><Relationship Type="http://schemas.openxmlformats.org/officeDocument/2006/relationships/slide" Target="/ppt/slides/slide9.xml" Id="R9a7e7f4503f240d3" /><Relationship Type="http://schemas.openxmlformats.org/officeDocument/2006/relationships/slide" Target="/ppt/slides/slide10.xml" Id="R1e214af769a4404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978e39a4d0694dc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c929bf1089343cc" /><Relationship Type="http://schemas.openxmlformats.org/officeDocument/2006/relationships/notesMaster" Target="/ppt/notesMasters/notesMaster1.xml" Id="Rb7fedc63991b4ba1" /></Relationships>
</file>

<file path=ppt/notesSlides/_rels/notesSlide2.xml.rels>&#65279;<?xml version="1.0" encoding="utf-8"?><Relationships xmlns="http://schemas.openxmlformats.org/package/2006/relationships"><Relationship Type="http://schemas.openxmlformats.org/officeDocument/2006/relationships/slide" Target="/ppt/slides/slide2.xml" Id="R7937e0ef1a30470c" /><Relationship Type="http://schemas.openxmlformats.org/officeDocument/2006/relationships/notesMaster" Target="/ppt/notesMasters/notesMaster1.xml" Id="R3854fd8c33d14296" /></Relationships>
</file>

<file path=ppt/notesSlides/_rels/notesSlide3.xml.rels>&#65279;<?xml version="1.0" encoding="utf-8"?><Relationships xmlns="http://schemas.openxmlformats.org/package/2006/relationships"><Relationship Type="http://schemas.openxmlformats.org/officeDocument/2006/relationships/slide" Target="/ppt/slides/slide3.xml" Id="Rab19f45f54ab4a4f" /><Relationship Type="http://schemas.openxmlformats.org/officeDocument/2006/relationships/notesMaster" Target="/ppt/notesMasters/notesMaster1.xml" Id="R064f92a9efa240e7" /></Relationships>
</file>

<file path=ppt/notesSlides/_rels/notesSlide4.xml.rels>&#65279;<?xml version="1.0" encoding="utf-8"?><Relationships xmlns="http://schemas.openxmlformats.org/package/2006/relationships"><Relationship Type="http://schemas.openxmlformats.org/officeDocument/2006/relationships/slide" Target="/ppt/slides/slide4.xml" Id="Re9a2021659094738" /><Relationship Type="http://schemas.openxmlformats.org/officeDocument/2006/relationships/notesMaster" Target="/ppt/notesMasters/notesMaster1.xml" Id="R35e0e9c4d5e34f50" /></Relationships>
</file>

<file path=ppt/notesSlides/_rels/notesSlide5.xml.rels>&#65279;<?xml version="1.0" encoding="utf-8"?><Relationships xmlns="http://schemas.openxmlformats.org/package/2006/relationships"><Relationship Type="http://schemas.openxmlformats.org/officeDocument/2006/relationships/slide" Target="/ppt/slides/slide5.xml" Id="Rbb498107092b4061" /><Relationship Type="http://schemas.openxmlformats.org/officeDocument/2006/relationships/notesMaster" Target="/ppt/notesMasters/notesMaster1.xml" Id="Rcf3d08e4c07747d6" /></Relationships>
</file>

<file path=ppt/notesSlides/_rels/notesSlide6.xml.rels>&#65279;<?xml version="1.0" encoding="utf-8"?><Relationships xmlns="http://schemas.openxmlformats.org/package/2006/relationships"><Relationship Type="http://schemas.openxmlformats.org/officeDocument/2006/relationships/slide" Target="/ppt/slides/slide6.xml" Id="R90d3a544dac7440f" /><Relationship Type="http://schemas.openxmlformats.org/officeDocument/2006/relationships/notesMaster" Target="/ppt/notesMasters/notesMaster1.xml" Id="R51187d800f4546dc" /></Relationships>
</file>

<file path=ppt/notesSlides/_rels/notesSlide7.xml.rels>&#65279;<?xml version="1.0" encoding="utf-8"?><Relationships xmlns="http://schemas.openxmlformats.org/package/2006/relationships"><Relationship Type="http://schemas.openxmlformats.org/officeDocument/2006/relationships/slide" Target="/ppt/slides/slide7.xml" Id="R64acf4cb2c0a4a80" /><Relationship Type="http://schemas.openxmlformats.org/officeDocument/2006/relationships/notesMaster" Target="/ppt/notesMasters/notesMaster1.xml" Id="R071924b8103243ab" /></Relationships>
</file>

<file path=ppt/notesSlides/_rels/notesSlide8.xml.rels>&#65279;<?xml version="1.0" encoding="utf-8"?><Relationships xmlns="http://schemas.openxmlformats.org/package/2006/relationships"><Relationship Type="http://schemas.openxmlformats.org/officeDocument/2006/relationships/slide" Target="/ppt/slides/slide8.xml" Id="R8948e32edec5488a" /><Relationship Type="http://schemas.openxmlformats.org/officeDocument/2006/relationships/notesMaster" Target="/ppt/notesMasters/notesMaster1.xml" Id="R3f450c5e90a845fe" /></Relationships>
</file>

<file path=ppt/notesSlides/_rels/notesSlide9.xml.rels>&#65279;<?xml version="1.0" encoding="utf-8"?><Relationships xmlns="http://schemas.openxmlformats.org/package/2006/relationships"><Relationship Type="http://schemas.openxmlformats.org/officeDocument/2006/relationships/slide" Target="/ppt/slides/slide9.xml" Id="Re606fac9c4a64e2b" /><Relationship Type="http://schemas.openxmlformats.org/officeDocument/2006/relationships/notesMaster" Target="/ppt/notesMasters/notesMaster1.xml" Id="Rc7d1954d65e9444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caae783e44c4fd2" /><Relationship Type="http://schemas.openxmlformats.org/officeDocument/2006/relationships/notesMaster" Target="/ppt/notesMasters/notesMaster1.xml" Id="R34aefa33b22d4ea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framing Studio OS as the operating layer behind Mo'orafrika's next stage. The goal is not to make the brand feel more technical; it is to protect the luxury client experience as demand, orders, and production complexity grow.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should feel familiar, not accusatory. The current system works because people are attentive, but attention is doing the work that software should eventually absorb.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this to the founder narrative: Mo'orafrika is not trying to imitate external luxury systems. It can build a distinctly African luxury language and then support it with disciplined operations.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mockup to make the system tangible. The dashboard does not replace the brand voice; it gives the team one place to see conversations, order status, stock pressure, and production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Emphasize that the welcome menu should feel like Mo'orafrika: concise, confident, and elegant. Automation handles triage; staff can still step in for high-touch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important shift is that order confirmation becomes an operational event. Stock is reserved, work is assigned, quality is checked, and the delivery status is visible without asking three people.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emphasis on connection. CRM without order creation is just another inbox; inventory without production status is still incomplete. Studio OS should make the whole operation legible.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Position Phase 1 as the practical MVP: clean data, stock visibility, and order control. Phase 2 adds channel automation after workflows are confirmed. Phase 3 is where AI becomes useful because the underlying data is already structured.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overstate with invented numbers. The value is directional but concrete: faster response, fewer lost opportunities, better stock discipline, and a calmer customer experience as order volume grows.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momentum. The MVP should begin with the real inventory and real order states, then test against live orders before expanding automation. This keeps the build practical and true to the brand's working rhythm.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366648dfc204d1f"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5f6ef28f420743bc" /><Relationship Type="http://schemas.openxmlformats.org/officeDocument/2006/relationships/slideLayout" Target="/ppt/slideLayouts/slideLayout2.xml" Id="R9fbdfcac00aa40b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fbdfcac00aa40b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8a901fc3346e4c0f" /><Relationship Type="http://schemas.openxmlformats.org/officeDocument/2006/relationships/image" Target="/ppt/media/image.png" Id="R3d8ed65d7349467a" /><Relationship Type="http://schemas.openxmlformats.org/officeDocument/2006/relationships/image" Target="/ppt/media/image2.png" Id="Rca5ea2073e2c4287" /><Relationship Type="http://schemas.openxmlformats.org/officeDocument/2006/relationships/notesSlide" Target="/ppt/notesSlides/notesSlide1.xml" Id="R73c691a41d6d4f6c"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d0f35c22dcb94496" /><Relationship Type="http://schemas.openxmlformats.org/officeDocument/2006/relationships/image" Target="/ppt/media/image3.png" Id="R88e92d6985a7426f" /><Relationship Type="http://schemas.openxmlformats.org/officeDocument/2006/relationships/image" Target="/ppt/media/image4.png" Id="Rf6d144723f1246ce" /><Relationship Type="http://schemas.openxmlformats.org/officeDocument/2006/relationships/image" Target="/ppt/media/image.svg" Id="Rfd9b65f3651a45cf" /><Relationship Type="http://schemas.openxmlformats.org/officeDocument/2006/relationships/image" Target="/ppt/media/image5.png" Id="R5f80c5eccb1b47a1" /><Relationship Type="http://schemas.openxmlformats.org/officeDocument/2006/relationships/image" Target="/ppt/media/image2.svg" Id="R2ee07d28af264e6d" /><Relationship Type="http://schemas.openxmlformats.org/officeDocument/2006/relationships/image" Target="/ppt/media/image6.png" Id="Rd62a3a684cea456f" /><Relationship Type="http://schemas.openxmlformats.org/officeDocument/2006/relationships/image" Target="/ppt/media/image3.svg" Id="R7723c436147d40ab" /><Relationship Type="http://schemas.openxmlformats.org/officeDocument/2006/relationships/image" Target="/ppt/media/image7.png" Id="Ree78d9b278094e48" /><Relationship Type="http://schemas.openxmlformats.org/officeDocument/2006/relationships/image" Target="/ppt/media/image4.svg" Id="Rb04bc989ea614000" /><Relationship Type="http://schemas.openxmlformats.org/officeDocument/2006/relationships/notesSlide" Target="/ppt/notesSlides/notesSlide2.xml" Id="R838f490b5b9d4bfd"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6ef42eba49e74011" /><Relationship Type="http://schemas.openxmlformats.org/officeDocument/2006/relationships/image" Target="/ppt/media/image8.png" Id="Rf0bcba508deb4efb" /><Relationship Type="http://schemas.openxmlformats.org/officeDocument/2006/relationships/image" Target="/ppt/media/image9.png" Id="R1cdf085dc0ca461f" /><Relationship Type="http://schemas.openxmlformats.org/officeDocument/2006/relationships/notesSlide" Target="/ppt/notesSlides/notesSlide3.xml" Id="R9bfa7da76ac34107"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6269d93899c743ef" /><Relationship Type="http://schemas.openxmlformats.org/officeDocument/2006/relationships/image" Target="/ppt/media/image10.png" Id="R3cc28af3109347b5" /><Relationship Type="http://schemas.openxmlformats.org/officeDocument/2006/relationships/image" Target="/ppt/media/image11.png" Id="Rfb809f42f4ad47b6" /><Relationship Type="http://schemas.openxmlformats.org/officeDocument/2006/relationships/notesSlide" Target="/ppt/notesSlides/notesSlide4.xml" Id="R53405cf9874f4dbc"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d6caf20457254e60" /><Relationship Type="http://schemas.openxmlformats.org/officeDocument/2006/relationships/image" Target="/ppt/media/image12.png" Id="R21b20774f8054963" /><Relationship Type="http://schemas.openxmlformats.org/officeDocument/2006/relationships/image" Target="/ppt/media/image13.png" Id="Rea9d53a2f8414ca8" /><Relationship Type="http://schemas.openxmlformats.org/officeDocument/2006/relationships/image" Target="/ppt/media/image5.svg" Id="Rb96b98e4746a4de8" /><Relationship Type="http://schemas.openxmlformats.org/officeDocument/2006/relationships/image" Target="/ppt/media/image14.png" Id="Rdda83842fb5b4d78" /><Relationship Type="http://schemas.openxmlformats.org/officeDocument/2006/relationships/image" Target="/ppt/media/image6.svg" Id="Rd32ba683b6b84311" /><Relationship Type="http://schemas.openxmlformats.org/officeDocument/2006/relationships/notesSlide" Target="/ppt/notesSlides/notesSlide5.xml" Id="R8f919cc39e834bcf"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edd8dae51e4247cd" /><Relationship Type="http://schemas.openxmlformats.org/officeDocument/2006/relationships/image" Target="/ppt/media/image15.png" Id="Rb6c2babd9d724db3" /><Relationship Type="http://schemas.openxmlformats.org/officeDocument/2006/relationships/notesSlide" Target="/ppt/notesSlides/notesSlide6.xml" Id="R07d3b510e15641a1"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4b9d0cd49be84413" /><Relationship Type="http://schemas.openxmlformats.org/officeDocument/2006/relationships/image" Target="/ppt/media/image16.png" Id="R7943e6d34b6a40dd" /><Relationship Type="http://schemas.openxmlformats.org/officeDocument/2006/relationships/image" Target="/ppt/media/image17.png" Id="R4c0415de08234a90" /><Relationship Type="http://schemas.openxmlformats.org/officeDocument/2006/relationships/image" Target="/ppt/media/image18.png" Id="Rb7e5b1cb4f024d4f" /><Relationship Type="http://schemas.openxmlformats.org/officeDocument/2006/relationships/image" Target="/ppt/media/image7.svg" Id="R28065897f72e4e6a" /><Relationship Type="http://schemas.openxmlformats.org/officeDocument/2006/relationships/image" Target="/ppt/media/image19.png" Id="R263a8061db844a81" /><Relationship Type="http://schemas.openxmlformats.org/officeDocument/2006/relationships/image" Target="/ppt/media/image8.svg" Id="R888b90943d2e4889" /><Relationship Type="http://schemas.openxmlformats.org/officeDocument/2006/relationships/image" Target="/ppt/media/image20.png" Id="R05cd36fe38784029" /><Relationship Type="http://schemas.openxmlformats.org/officeDocument/2006/relationships/image" Target="/ppt/media/image9.svg" Id="R676c520160a64f72" /><Relationship Type="http://schemas.openxmlformats.org/officeDocument/2006/relationships/image" Target="/ppt/media/image21.png" Id="R2e84c9897a194d8d" /><Relationship Type="http://schemas.openxmlformats.org/officeDocument/2006/relationships/image" Target="/ppt/media/image10.svg" Id="R1df7bacf0e134e56" /><Relationship Type="http://schemas.openxmlformats.org/officeDocument/2006/relationships/image" Target="/ppt/media/image22.png" Id="R62d6e2c969254170" /><Relationship Type="http://schemas.openxmlformats.org/officeDocument/2006/relationships/image" Target="/ppt/media/image11.svg" Id="Re327077552ab4af8" /><Relationship Type="http://schemas.openxmlformats.org/officeDocument/2006/relationships/image" Target="/ppt/media/image23.png" Id="R0b4d978d9d474c5c" /><Relationship Type="http://schemas.openxmlformats.org/officeDocument/2006/relationships/image" Target="/ppt/media/image12.svg" Id="Re1425da1232e4a89" /><Relationship Type="http://schemas.openxmlformats.org/officeDocument/2006/relationships/image" Target="/ppt/media/image24.png" Id="R39a72bd5479540ba" /><Relationship Type="http://schemas.openxmlformats.org/officeDocument/2006/relationships/image" Target="/ppt/media/image13.svg" Id="R0a6911fd0969480b" /><Relationship Type="http://schemas.openxmlformats.org/officeDocument/2006/relationships/notesSlide" Target="/ppt/notesSlides/notesSlide7.xml" Id="R5e4aba6ddf6a4669"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b03a6a98d8114038" /><Relationship Type="http://schemas.openxmlformats.org/officeDocument/2006/relationships/image" Target="/ppt/media/image25.png" Id="R2ece97e538934c75" /><Relationship Type="http://schemas.openxmlformats.org/officeDocument/2006/relationships/notesSlide" Target="/ppt/notesSlides/notesSlide8.xml" Id="R132ba8cac78548e3"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7dd85f351ea341d5" /><Relationship Type="http://schemas.openxmlformats.org/officeDocument/2006/relationships/image" Target="/ppt/media/image26.png" Id="R1ca9447900ba4425" /><Relationship Type="http://schemas.openxmlformats.org/officeDocument/2006/relationships/notesSlide" Target="/ppt/notesSlides/notesSlide9.xml" Id="R1d4c61715ae0435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d3684fbc88434c01" /><Relationship Type="http://schemas.openxmlformats.org/officeDocument/2006/relationships/image" Target="/ppt/media/image27.png" Id="R21d269f596944176" /><Relationship Type="http://schemas.openxmlformats.org/officeDocument/2006/relationships/image" Target="/ppt/media/image28.png" Id="R042f8c981da844a9" /><Relationship Type="http://schemas.openxmlformats.org/officeDocument/2006/relationships/notesSlide" Target="/ppt/notesSlides/notesSlide10.xml" Id="R97f31ab189b34188"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CF1F6AA-D87B-41B9-B2AE-028CA1D0000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505"/>
          </a:solidFill>
          <a:ln xmlns:a="http://schemas.openxmlformats.org/drawingml/2006/main" w="0">
            <a:solidFill>
              <a:srgbClr val="050505"/>
            </a:solidFill>
            <a:prstDash val="solid"/>
          </a:ln>
        </p:spPr>
      </p:sp>
      <p:sp>
        <p:nvSpPr>
          <p:cNvPr id="2" name="">
            <a:extLst xmlns:a="http://schemas.openxmlformats.org/drawingml/2006/main">
              <a:ext uri="{FF2B5EF4-FFF2-40B4-BE49-F238E27FC236}">
                <a16:creationId xmlns:a16="http://schemas.microsoft.com/office/drawing/2014/main" id="{D28D36F8-F68F-4897-A91F-48CA44DC5C5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0907"/>
          </a:solidFill>
          <a:ln xmlns:a="http://schemas.openxmlformats.org/drawingml/2006/main" w="0">
            <a:solidFill>
              <a:srgbClr val="0B0907"/>
            </a:solidFill>
            <a:prstDash val="solid"/>
          </a:ln>
        </p:spPr>
      </p:sp>
      <p:sp>
        <p:nvSpPr>
          <p:cNvPr id="3" name="">
            <a:extLst xmlns:a="http://schemas.openxmlformats.org/drawingml/2006/main">
              <a:ext uri="{FF2B5EF4-FFF2-40B4-BE49-F238E27FC236}">
                <a16:creationId xmlns:a16="http://schemas.microsoft.com/office/drawing/2014/main" id="{18FD783D-B877-4A3A-9DE1-7765DFDDA0C0}"/>
              </a:ext>
            </a:extLst>
          </p:cNvPr>
          <p:cNvSpPr>
            <a:spLocks xmlns:a="http://schemas.openxmlformats.org/drawingml/2006/main" noGrp="1"/>
          </p:cNvSpPr>
          <p:nvPr/>
        </p:nvSpPr>
        <p:spPr>
          <a:xfrm xmlns:a="http://schemas.openxmlformats.org/drawingml/2006/main">
            <a:off x="8858250" y="0"/>
            <a:ext cx="3333750" cy="6858000"/>
          </a:xfrm>
          <a:prstGeom xmlns:a="http://schemas.openxmlformats.org/drawingml/2006/main" prst="rect">
            <a:avLst/>
          </a:prstGeom>
          <a:solidFill xmlns:a="http://schemas.openxmlformats.org/drawingml/2006/main">
            <a:srgbClr val="1D1712"/>
          </a:solidFill>
          <a:ln xmlns:a="http://schemas.openxmlformats.org/drawingml/2006/main" w="0">
            <a:solidFill>
              <a:srgbClr val="1D1712"/>
            </a:solidFill>
            <a:prstDash val="solid"/>
          </a:ln>
        </p:spPr>
      </p:sp>
      <p:sp>
        <p:nvSpPr>
          <p:cNvPr id="4" name="">
            <a:extLst xmlns:a="http://schemas.openxmlformats.org/drawingml/2006/main">
              <a:ext uri="{FF2B5EF4-FFF2-40B4-BE49-F238E27FC236}">
                <a16:creationId xmlns:a16="http://schemas.microsoft.com/office/drawing/2014/main" id="{18D7DED4-77EA-47DA-A0F9-181C279A17D7}"/>
              </a:ext>
            </a:extLst>
          </p:cNvPr>
          <p:cNvSpPr>
            <a:spLocks xmlns:a="http://schemas.openxmlformats.org/drawingml/2006/main" noGrp="1"/>
          </p:cNvSpPr>
          <p:nvPr/>
        </p:nvSpPr>
        <p:spPr>
          <a:xfrm xmlns:a="http://schemas.openxmlformats.org/drawingml/2006/main">
            <a:off x="8858250" y="0"/>
            <a:ext cx="9525" cy="6858000"/>
          </a:xfrm>
          <a:prstGeom xmlns:a="http://schemas.openxmlformats.org/drawingml/2006/main" prst="rect">
            <a:avLst/>
          </a:prstGeom>
          <a:solidFill xmlns:a="http://schemas.openxmlformats.org/drawingml/2006/main">
            <a:srgbClr val="41372E"/>
          </a:solidFill>
          <a:ln xmlns:a="http://schemas.openxmlformats.org/drawingml/2006/main" w="0">
            <a:solidFill>
              <a:srgbClr val="41372E"/>
            </a:solidFill>
            <a:prstDash val="solid"/>
          </a:ln>
        </p:spPr>
      </p:sp>
      <p:sp>
        <p:nvSpPr>
          <p:cNvPr id="5" name="">
            <a:extLst xmlns:a="http://schemas.openxmlformats.org/drawingml/2006/main">
              <a:ext uri="{FF2B5EF4-FFF2-40B4-BE49-F238E27FC236}">
                <a16:creationId xmlns:a16="http://schemas.microsoft.com/office/drawing/2014/main" id="{2D544823-9901-4CBB-ABFA-1F1A9517AD20}"/>
              </a:ext>
            </a:extLst>
          </p:cNvPr>
          <p:cNvSpPr>
            <a:spLocks xmlns:a="http://schemas.openxmlformats.org/drawingml/2006/main" noGrp="1"/>
          </p:cNvSpPr>
          <p:nvPr/>
        </p:nvSpPr>
        <p:spPr>
          <a:xfrm xmlns:a="http://schemas.openxmlformats.org/drawingml/2006/main">
            <a:off x="685800" y="6229350"/>
            <a:ext cx="5143500" cy="9525"/>
          </a:xfrm>
          <a:prstGeom xmlns:a="http://schemas.openxmlformats.org/drawingml/2006/main" prst="rect">
            <a:avLst/>
          </a:prstGeom>
          <a:solidFill xmlns:a="http://schemas.openxmlformats.org/drawingml/2006/main">
            <a:srgbClr val="7B5133"/>
          </a:solidFill>
          <a:ln xmlns:a="http://schemas.openxmlformats.org/drawingml/2006/main" w="0">
            <a:solidFill>
              <a:srgbClr val="7B5133"/>
            </a:solidFill>
            <a:prstDash val="solid"/>
          </a:ln>
        </p:spPr>
      </p:sp>
      <p:sp>
        <p:nvSpPr>
          <p:cNvPr id="6" name="">
            <a:extLst xmlns:a="http://schemas.openxmlformats.org/drawingml/2006/main">
              <a:ext uri="{FF2B5EF4-FFF2-40B4-BE49-F238E27FC236}">
                <a16:creationId xmlns:a16="http://schemas.microsoft.com/office/drawing/2014/main" id="{4D15D4C9-15A9-4BA8-AFD0-1F54D135434B}"/>
              </a:ext>
            </a:extLst>
          </p:cNvPr>
          <p:cNvSpPr>
            <a:spLocks xmlns:a="http://schemas.openxmlformats.org/drawingml/2006/main" noGrp="1"/>
          </p:cNvSpPr>
          <p:nvPr/>
        </p:nvSpPr>
        <p:spPr>
          <a:xfrm xmlns:a="http://schemas.openxmlformats.org/drawingml/2006/main">
            <a:off x="685800" y="6286500"/>
            <a:ext cx="2476500" cy="19050"/>
          </a:xfrm>
          <a:prstGeom xmlns:a="http://schemas.openxmlformats.org/drawingml/2006/main" prst="rect">
            <a:avLst/>
          </a:prstGeom>
          <a:solidFill xmlns:a="http://schemas.openxmlformats.org/drawingml/2006/main">
            <a:srgbClr val="B8652B"/>
          </a:solidFill>
          <a:ln xmlns:a="http://schemas.openxmlformats.org/drawingml/2006/main" w="0">
            <a:solidFill>
              <a:srgbClr val="B8652B"/>
            </a:solidFill>
            <a:prstDash val="solid"/>
          </a:ln>
        </p:spPr>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d8ed65d7349467a"/>
          <a:stretch xmlns:a="http://schemas.openxmlformats.org/drawingml/2006/main"/>
        </p:blipFill>
        <p:spPr>
          <a:xfrm xmlns:a="http://schemas.openxmlformats.org/drawingml/2006/main">
            <a:off x="7083879" y="2381250"/>
            <a:ext cx="3510643" cy="1143000"/>
          </a:xfrm>
          <a:prstGeom xmlns:a="http://schemas.openxmlformats.org/drawingml/2006/main" prst="rect">
            <a:avLst/>
          </a:prstGeom>
        </p:spPr>
      </p:pic>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ca5ea2073e2c4287"/>
          <a:stretch xmlns:a="http://schemas.openxmlformats.org/drawingml/2006/main"/>
        </p:blipFill>
        <p:spPr>
          <a:xfrm xmlns:a="http://schemas.openxmlformats.org/drawingml/2006/main">
            <a:off x="971550" y="666750"/>
            <a:ext cx="819150" cy="1714500"/>
          </a:xfrm>
          <a:prstGeom xmlns:a="http://schemas.openxmlformats.org/drawingml/2006/main" prst="rect">
            <a:avLst/>
          </a:prstGeom>
        </p:spPr>
      </p:pic>
      <p:sp>
        <p:nvSpPr>
          <p:cNvPr id="9" name="kicker-01-marker">
            <a:extLst xmlns:a="http://schemas.openxmlformats.org/drawingml/2006/main">
              <a:ext uri="{FF2B5EF4-FFF2-40B4-BE49-F238E27FC236}">
                <a16:creationId xmlns:a16="http://schemas.microsoft.com/office/drawing/2014/main" id="{672CB5B1-2285-464D-8683-E827453B9DC6}"/>
              </a:ext>
            </a:extLst>
          </p:cNvPr>
          <p:cNvSpPr>
            <a:spLocks xmlns:a="http://schemas.openxmlformats.org/drawingml/2006/main" noGrp="1"/>
          </p:cNvSpPr>
          <p:nvPr/>
        </p:nvSpPr>
        <p:spPr>
          <a:xfrm xmlns:a="http://schemas.openxmlformats.org/drawingml/2006/main">
            <a:off x="685800" y="4257675"/>
            <a:ext cx="323850" cy="19050"/>
          </a:xfrm>
          <a:prstGeom xmlns:a="http://schemas.openxmlformats.org/drawingml/2006/main" prst="rect">
            <a:avLst/>
          </a:prstGeom>
          <a:solidFill xmlns:a="http://schemas.openxmlformats.org/drawingml/2006/main">
            <a:srgbClr val="B8652B"/>
          </a:solidFill>
          <a:ln xmlns:a="http://schemas.openxmlformats.org/drawingml/2006/main" w="0">
            <a:solidFill>
              <a:srgbClr val="B8652B"/>
            </a:solidFill>
            <a:prstDash val="solid"/>
          </a:ln>
        </p:spPr>
      </p:sp>
      <p:sp>
        <p:nvSpPr>
          <p:cNvPr id="10" name="kicker-01-label">
            <a:extLst xmlns:a="http://schemas.openxmlformats.org/drawingml/2006/main">
              <a:ext uri="{FF2B5EF4-FFF2-40B4-BE49-F238E27FC236}">
                <a16:creationId xmlns:a16="http://schemas.microsoft.com/office/drawing/2014/main" id="{C09AF9B4-7D08-443F-9902-A2254BD2FBA6}"/>
              </a:ext>
            </a:extLst>
          </p:cNvPr>
          <p:cNvSpPr>
            <a:spLocks xmlns:a="http://schemas.openxmlformats.org/drawingml/2006/main" noGrp="1"/>
          </p:cNvSpPr>
          <p:nvPr/>
        </p:nvSpPr>
        <p:spPr>
          <a:xfrm xmlns:a="http://schemas.openxmlformats.org/drawingml/2006/main">
            <a:off x="1123950" y="4171950"/>
            <a:ext cx="3429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B7B7B0"/>
                </a:solidFill>
                <a:latin typeface="Aptos Mono"/>
                <a:ea typeface="Aptos Mono"/>
                <a:cs typeface="Aptos Mono"/>
              </a:defRPr>
            </a:pPr>
            <a:r>
              <a:rPr sz="825" b="1">
                <a:solidFill>
                  <a:srgbClr val="B7B7B0"/>
                </a:solidFill>
                <a:latin typeface="Aptos Mono"/>
                <a:ea typeface="Aptos Mono"/>
                <a:cs typeface="Aptos Mono"/>
              </a:rPr>
              <a:t>PROPOSED OPERATING SYSTEM</a:t>
            </a:r>
          </a:p>
        </p:txBody>
      </p:sp>
      <p:sp>
        <p:nvSpPr>
          <p:cNvPr id="11" name="">
            <a:extLst xmlns:a="http://schemas.openxmlformats.org/drawingml/2006/main">
              <a:ext uri="{FF2B5EF4-FFF2-40B4-BE49-F238E27FC236}">
                <a16:creationId xmlns:a16="http://schemas.microsoft.com/office/drawing/2014/main" id="{D8FF8C82-507F-4703-887C-342D707FBD2B}"/>
              </a:ext>
            </a:extLst>
          </p:cNvPr>
          <p:cNvSpPr>
            <a:spLocks xmlns:a="http://schemas.openxmlformats.org/drawingml/2006/main" noGrp="1"/>
          </p:cNvSpPr>
          <p:nvPr/>
        </p:nvSpPr>
        <p:spPr>
          <a:xfrm xmlns:a="http://schemas.openxmlformats.org/drawingml/2006/main">
            <a:off x="685800" y="4495800"/>
            <a:ext cx="6667500" cy="1181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4500" b="0">
                <a:solidFill>
                  <a:srgbClr val="F4F0E8"/>
                </a:solidFill>
                <a:latin typeface="Georgia"/>
                <a:ea typeface="Georgia"/>
                <a:cs typeface="Georgia"/>
              </a:defRPr>
            </a:pPr>
            <a:r>
              <a:rPr sz="4500" b="0">
                <a:solidFill>
                  <a:srgbClr val="F4F0E8"/>
                </a:solidFill>
                <a:latin typeface="Georgia"/>
                <a:ea typeface="Georgia"/>
                <a:cs typeface="Georgia"/>
              </a:rPr>
              <a:t>Mo'orafrika</a:t>
            </a:r>
          </a:p>
          <a:p xmlns:a="http://schemas.openxmlformats.org/drawingml/2006/main">
            <a:pPr algn="l">
              <a:defRPr sz="4500" b="0">
                <a:solidFill>
                  <a:srgbClr val="F4F0E8"/>
                </a:solidFill>
                <a:latin typeface="Georgia"/>
                <a:ea typeface="Georgia"/>
                <a:cs typeface="Georgia"/>
              </a:defRPr>
            </a:pPr>
            <a:r>
              <a:rPr sz="4500" b="0">
                <a:solidFill>
                  <a:srgbClr val="F4F0E8"/>
                </a:solidFill>
                <a:latin typeface="Georgia"/>
                <a:ea typeface="Georgia"/>
                <a:cs typeface="Georgia"/>
              </a:rPr>
              <a:t>Studio OS</a:t>
            </a:r>
          </a:p>
        </p:txBody>
      </p:sp>
      <p:sp>
        <p:nvSpPr>
          <p:cNvPr id="12" name="">
            <a:extLst xmlns:a="http://schemas.openxmlformats.org/drawingml/2006/main">
              <a:ext uri="{FF2B5EF4-FFF2-40B4-BE49-F238E27FC236}">
                <a16:creationId xmlns:a16="http://schemas.microsoft.com/office/drawing/2014/main" id="{AC03E2F7-AA11-46ED-8197-004EAB9D963D}"/>
              </a:ext>
            </a:extLst>
          </p:cNvPr>
          <p:cNvSpPr>
            <a:spLocks xmlns:a="http://schemas.openxmlformats.org/drawingml/2006/main" noGrp="1"/>
          </p:cNvSpPr>
          <p:nvPr/>
        </p:nvSpPr>
        <p:spPr>
          <a:xfrm xmlns:a="http://schemas.openxmlformats.org/drawingml/2006/main">
            <a:off x="723900" y="5829300"/>
            <a:ext cx="61912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B7B7B0"/>
                </a:solidFill>
                <a:latin typeface="Aptos"/>
                <a:ea typeface="Aptos"/>
                <a:cs typeface="Aptos"/>
              </a:defRPr>
            </a:pPr>
            <a:r>
              <a:rPr sz="1575" b="0">
                <a:solidFill>
                  <a:srgbClr val="B7B7B0"/>
                </a:solidFill>
                <a:latin typeface="Aptos"/>
                <a:ea typeface="Aptos"/>
                <a:cs typeface="Aptos"/>
              </a:rPr>
              <a:t>Automating client interaction, inventory, and production flow.</a:t>
            </a:r>
          </a:p>
        </p:txBody>
      </p:sp>
      <p:sp>
        <p:nvSpPr>
          <p:cNvPr id="13" name="">
            <a:extLst xmlns:a="http://schemas.openxmlformats.org/drawingml/2006/main">
              <a:ext uri="{FF2B5EF4-FFF2-40B4-BE49-F238E27FC236}">
                <a16:creationId xmlns:a16="http://schemas.microsoft.com/office/drawing/2014/main" id="{46BD2220-58D7-4703-8381-D76060BC9467}"/>
              </a:ext>
            </a:extLst>
          </p:cNvPr>
          <p:cNvSpPr>
            <a:spLocks xmlns:a="http://schemas.openxmlformats.org/drawingml/2006/main" noGrp="1"/>
          </p:cNvSpPr>
          <p:nvPr/>
        </p:nvSpPr>
        <p:spPr>
          <a:xfrm xmlns:a="http://schemas.openxmlformats.org/drawingml/2006/main">
            <a:off x="8305800" y="5810250"/>
            <a:ext cx="2781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B7B7B0"/>
                </a:solidFill>
                <a:latin typeface="Aptos Mono"/>
                <a:ea typeface="Aptos Mono"/>
                <a:cs typeface="Aptos Mono"/>
              </a:defRPr>
            </a:pPr>
            <a:r>
              <a:rPr sz="825" b="1">
                <a:solidFill>
                  <a:srgbClr val="B7B7B0"/>
                </a:solidFill>
                <a:latin typeface="Aptos Mono"/>
                <a:ea typeface="Aptos Mono"/>
                <a:cs typeface="Aptos Mono"/>
              </a:rPr>
              <a:t>CLIENTS  ORDERS  STOCK  PRODUCTION</a:t>
            </a:r>
          </a:p>
        </p:txBody>
      </p:sp>
    </p:spTree>
    <p:extLst>
      <p:ext uri="{BB962C8B-B14F-4D97-AF65-F5344CB8AC3E}">
        <p14:creationId xmlns:p14="http://schemas.microsoft.com/office/powerpoint/2010/main" val="82226166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2340698-2D6F-45E8-9106-D014656F110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0E8"/>
          </a:solidFill>
          <a:ln xmlns:a="http://schemas.openxmlformats.org/drawingml/2006/main" w="0">
            <a:solidFill>
              <a:srgbClr val="F4F0E8"/>
            </a:solidFill>
            <a:prstDash val="solid"/>
          </a:ln>
        </p:spPr>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8e92d6985a7426f"/>
          <a:stretch xmlns:a="http://schemas.openxmlformats.org/drawingml/2006/main"/>
        </p:blipFill>
        <p:spPr>
          <a:xfrm xmlns:a="http://schemas.openxmlformats.org/drawingml/2006/main">
            <a:off x="9944100" y="515458"/>
            <a:ext cx="1104900" cy="359735"/>
          </a:xfrm>
          <a:prstGeom xmlns:a="http://schemas.openxmlformats.org/drawingml/2006/main" prst="rect">
            <a:avLst/>
          </a:prstGeom>
        </p:spPr>
      </p:pic>
      <p:sp>
        <p:nvSpPr>
          <p:cNvPr id="3" name="kicker-02-marker">
            <a:extLst xmlns:a="http://schemas.openxmlformats.org/drawingml/2006/main">
              <a:ext uri="{FF2B5EF4-FFF2-40B4-BE49-F238E27FC236}">
                <a16:creationId xmlns:a16="http://schemas.microsoft.com/office/drawing/2014/main" id="{7FD8544D-DF8C-45C8-9BC5-B9352B090820}"/>
              </a:ext>
            </a:extLst>
          </p:cNvPr>
          <p:cNvSpPr>
            <a:spLocks xmlns:a="http://schemas.openxmlformats.org/drawingml/2006/main" noGrp="1"/>
          </p:cNvSpPr>
          <p:nvPr/>
        </p:nvSpPr>
        <p:spPr>
          <a:xfrm xmlns:a="http://schemas.openxmlformats.org/drawingml/2006/main">
            <a:off x="685800" y="600075"/>
            <a:ext cx="323850" cy="19050"/>
          </a:xfrm>
          <a:prstGeom xmlns:a="http://schemas.openxmlformats.org/drawingml/2006/main" prst="rect">
            <a:avLst/>
          </a:prstGeom>
          <a:solidFill xmlns:a="http://schemas.openxmlformats.org/drawingml/2006/main">
            <a:srgbClr val="B8652B"/>
          </a:solidFill>
          <a:ln xmlns:a="http://schemas.openxmlformats.org/drawingml/2006/main" w="0">
            <a:solidFill>
              <a:srgbClr val="B8652B"/>
            </a:solidFill>
            <a:prstDash val="solid"/>
          </a:ln>
        </p:spPr>
      </p:sp>
      <p:sp>
        <p:nvSpPr>
          <p:cNvPr id="4" name="kicker-02-label">
            <a:extLst xmlns:a="http://schemas.openxmlformats.org/drawingml/2006/main">
              <a:ext uri="{FF2B5EF4-FFF2-40B4-BE49-F238E27FC236}">
                <a16:creationId xmlns:a16="http://schemas.microsoft.com/office/drawing/2014/main" id="{C5A7D859-BED5-47FE-9F27-CA81711CEF6A}"/>
              </a:ext>
            </a:extLst>
          </p:cNvPr>
          <p:cNvSpPr>
            <a:spLocks xmlns:a="http://schemas.openxmlformats.org/drawingml/2006/main" noGrp="1"/>
          </p:cNvSpPr>
          <p:nvPr/>
        </p:nvSpPr>
        <p:spPr>
          <a:xfrm xmlns:a="http://schemas.openxmlformats.org/drawingml/2006/main">
            <a:off x="1123950" y="514350"/>
            <a:ext cx="3429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7B5133"/>
                </a:solidFill>
                <a:latin typeface="Aptos Mono"/>
                <a:ea typeface="Aptos Mono"/>
                <a:cs typeface="Aptos Mono"/>
              </a:defRPr>
            </a:pPr>
            <a:r>
              <a:rPr sz="825" b="1">
                <a:solidFill>
                  <a:srgbClr val="7B5133"/>
                </a:solidFill>
                <a:latin typeface="Aptos Mono"/>
                <a:ea typeface="Aptos Mono"/>
                <a:cs typeface="Aptos Mono"/>
              </a:rPr>
              <a:t>THE CURRENT CHALLENGE</a:t>
            </a:r>
          </a:p>
        </p:txBody>
      </p:sp>
      <p:sp>
        <p:nvSpPr>
          <p:cNvPr id="5" name="">
            <a:extLst xmlns:a="http://schemas.openxmlformats.org/drawingml/2006/main">
              <a:ext uri="{FF2B5EF4-FFF2-40B4-BE49-F238E27FC236}">
                <a16:creationId xmlns:a16="http://schemas.microsoft.com/office/drawing/2014/main" id="{ED739F84-C82C-408F-8342-777302D765AA}"/>
              </a:ext>
            </a:extLst>
          </p:cNvPr>
          <p:cNvSpPr>
            <a:spLocks xmlns:a="http://schemas.openxmlformats.org/drawingml/2006/main" noGrp="1"/>
          </p:cNvSpPr>
          <p:nvPr/>
        </p:nvSpPr>
        <p:spPr>
          <a:xfrm xmlns:a="http://schemas.openxmlformats.org/drawingml/2006/main">
            <a:off x="685800" y="895350"/>
            <a:ext cx="72390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925" b="0">
                <a:solidFill>
                  <a:srgbClr val="050505"/>
                </a:solidFill>
                <a:latin typeface="Georgia"/>
                <a:ea typeface="Georgia"/>
                <a:cs typeface="Georgia"/>
              </a:defRPr>
            </a:pPr>
            <a:r>
              <a:rPr sz="2925" b="0">
                <a:solidFill>
                  <a:srgbClr val="050505"/>
                </a:solidFill>
                <a:latin typeface="Georgia"/>
                <a:ea typeface="Georgia"/>
                <a:cs typeface="Georgia"/>
              </a:rPr>
              <a:t>Demand is arriving faster than the studio workflow can absorb.</a:t>
            </a:r>
          </a:p>
        </p:txBody>
      </p:sp>
      <p:sp>
        <p:nvSpPr>
          <p:cNvPr id="6" name="">
            <a:extLst xmlns:a="http://schemas.openxmlformats.org/drawingml/2006/main">
              <a:ext uri="{FF2B5EF4-FFF2-40B4-BE49-F238E27FC236}">
                <a16:creationId xmlns:a16="http://schemas.microsoft.com/office/drawing/2014/main" id="{F2B07FD2-1EDE-400F-ABCE-B7ABC206FBC5}"/>
              </a:ext>
            </a:extLst>
          </p:cNvPr>
          <p:cNvSpPr>
            <a:spLocks xmlns:a="http://schemas.openxmlformats.org/drawingml/2006/main" noGrp="1"/>
          </p:cNvSpPr>
          <p:nvPr/>
        </p:nvSpPr>
        <p:spPr>
          <a:xfrm xmlns:a="http://schemas.openxmlformats.org/drawingml/2006/main">
            <a:off x="704850" y="1857375"/>
            <a:ext cx="61912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61615"/>
                </a:solidFill>
                <a:latin typeface="Aptos"/>
                <a:ea typeface="Aptos"/>
                <a:cs typeface="Aptos"/>
              </a:defRPr>
            </a:pPr>
            <a:r>
              <a:rPr sz="1500" b="0">
                <a:solidFill>
                  <a:srgbClr val="161615"/>
                </a:solidFill>
                <a:latin typeface="Aptos"/>
                <a:ea typeface="Aptos"/>
                <a:cs typeface="Aptos"/>
              </a:rPr>
              <a:t>Inquiries, inventory, follow-ups, and order status live across channels. The brand memory is still too manual.</a:t>
            </a:r>
          </a:p>
        </p:txBody>
      </p:sp>
      <p:sp>
        <p:nvSpPr>
          <p:cNvPr id="7" name="">
            <a:extLst xmlns:a="http://schemas.openxmlformats.org/drawingml/2006/main">
              <a:ext uri="{FF2B5EF4-FFF2-40B4-BE49-F238E27FC236}">
                <a16:creationId xmlns:a16="http://schemas.microsoft.com/office/drawing/2014/main" id="{09FE1417-4D0D-4ABA-ABAB-49A7951302B2}"/>
              </a:ext>
            </a:extLst>
          </p:cNvPr>
          <p:cNvSpPr>
            <a:spLocks xmlns:a="http://schemas.openxmlformats.org/drawingml/2006/main" noGrp="1"/>
          </p:cNvSpPr>
          <p:nvPr/>
        </p:nvSpPr>
        <p:spPr>
          <a:xfrm xmlns:a="http://schemas.openxmlformats.org/drawingml/2006/main">
            <a:off x="876300" y="2914650"/>
            <a:ext cx="1809750" cy="723900"/>
          </a:xfrm>
          <a:prstGeom xmlns:a="http://schemas.openxmlformats.org/drawingml/2006/main" prst="rect">
            <a:avLst/>
          </a:prstGeom>
          <a:solidFill xmlns:a="http://schemas.openxmlformats.org/drawingml/2006/main">
            <a:srgbClr val="F4F0E8"/>
          </a:solidFill>
          <a:ln xmlns:a="http://schemas.openxmlformats.org/drawingml/2006/main" w="9525">
            <a:solidFill>
              <a:srgbClr val="D7CFC2"/>
            </a:solidFill>
            <a:prstDash val="solid"/>
          </a:ln>
        </p:spPr>
      </p:sp>
      <p:sp>
        <p:nvSpPr>
          <p:cNvPr id="8" name="">
            <a:extLst xmlns:a="http://schemas.openxmlformats.org/drawingml/2006/main">
              <a:ext uri="{FF2B5EF4-FFF2-40B4-BE49-F238E27FC236}">
                <a16:creationId xmlns:a16="http://schemas.microsoft.com/office/drawing/2014/main" id="{D1AC2EEE-3D22-4668-8732-C4846B6B4F44}"/>
              </a:ext>
            </a:extLst>
          </p:cNvPr>
          <p:cNvSpPr>
            <a:spLocks xmlns:a="http://schemas.openxmlformats.org/drawingml/2006/main" noGrp="1"/>
          </p:cNvSpPr>
          <p:nvPr/>
        </p:nvSpPr>
        <p:spPr>
          <a:xfrm xmlns:a="http://schemas.openxmlformats.org/drawingml/2006/main">
            <a:off x="1028700" y="3038475"/>
            <a:ext cx="15430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50505"/>
                </a:solidFill>
                <a:latin typeface="Aptos"/>
                <a:ea typeface="Aptos"/>
                <a:cs typeface="Aptos"/>
              </a:defRPr>
            </a:pPr>
            <a:r>
              <a:rPr sz="1350" b="1">
                <a:solidFill>
                  <a:srgbClr val="050505"/>
                </a:solidFill>
                <a:latin typeface="Aptos"/>
                <a:ea typeface="Aptos"/>
                <a:cs typeface="Aptos"/>
              </a:rPr>
              <a:t>WhatsApp</a:t>
            </a:r>
          </a:p>
        </p:txBody>
      </p:sp>
      <p:sp>
        <p:nvSpPr>
          <p:cNvPr id="9" name="">
            <a:extLst xmlns:a="http://schemas.openxmlformats.org/drawingml/2006/main">
              <a:ext uri="{FF2B5EF4-FFF2-40B4-BE49-F238E27FC236}">
                <a16:creationId xmlns:a16="http://schemas.microsoft.com/office/drawing/2014/main" id="{49592D92-B7AF-4C8F-B9BE-175D27B6E6DC}"/>
              </a:ext>
            </a:extLst>
          </p:cNvPr>
          <p:cNvSpPr>
            <a:spLocks xmlns:a="http://schemas.openxmlformats.org/drawingml/2006/main" noGrp="1"/>
          </p:cNvSpPr>
          <p:nvPr/>
        </p:nvSpPr>
        <p:spPr>
          <a:xfrm xmlns:a="http://schemas.openxmlformats.org/drawingml/2006/main">
            <a:off x="1028700" y="3305175"/>
            <a:ext cx="15430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7B5133"/>
                </a:solidFill>
                <a:latin typeface="Aptos Mono"/>
                <a:ea typeface="Aptos Mono"/>
                <a:cs typeface="Aptos Mono"/>
              </a:defRPr>
            </a:pPr>
            <a:r>
              <a:rPr sz="900" b="1">
                <a:solidFill>
                  <a:srgbClr val="7B5133"/>
                </a:solidFill>
                <a:latin typeface="Aptos Mono"/>
                <a:ea typeface="Aptos Mono"/>
                <a:cs typeface="Aptos Mono"/>
              </a:rPr>
              <a:t>client questions</a:t>
            </a:r>
          </a:p>
        </p:txBody>
      </p:sp>
      <p:sp>
        <p:nvSpPr>
          <p:cNvPr id="10" name="">
            <a:extLst xmlns:a="http://schemas.openxmlformats.org/drawingml/2006/main">
              <a:ext uri="{FF2B5EF4-FFF2-40B4-BE49-F238E27FC236}">
                <a16:creationId xmlns:a16="http://schemas.microsoft.com/office/drawing/2014/main" id="{B94A68B9-9992-4890-A5C7-73484BB706A3}"/>
              </a:ext>
            </a:extLst>
          </p:cNvPr>
          <p:cNvSpPr>
            <a:spLocks xmlns:a="http://schemas.openxmlformats.org/drawingml/2006/main" noGrp="1"/>
          </p:cNvSpPr>
          <p:nvPr/>
        </p:nvSpPr>
        <p:spPr>
          <a:xfrm xmlns:a="http://schemas.openxmlformats.org/drawingml/2006/main">
            <a:off x="876300" y="4114800"/>
            <a:ext cx="1809750" cy="723900"/>
          </a:xfrm>
          <a:prstGeom xmlns:a="http://schemas.openxmlformats.org/drawingml/2006/main" prst="rect">
            <a:avLst/>
          </a:prstGeom>
          <a:solidFill xmlns:a="http://schemas.openxmlformats.org/drawingml/2006/main">
            <a:srgbClr val="F4F0E8"/>
          </a:solidFill>
          <a:ln xmlns:a="http://schemas.openxmlformats.org/drawingml/2006/main" w="9525">
            <a:solidFill>
              <a:srgbClr val="D7CFC2"/>
            </a:solidFill>
            <a:prstDash val="solid"/>
          </a:ln>
        </p:spPr>
      </p:sp>
      <p:sp>
        <p:nvSpPr>
          <p:cNvPr id="11" name="">
            <a:extLst xmlns:a="http://schemas.openxmlformats.org/drawingml/2006/main">
              <a:ext uri="{FF2B5EF4-FFF2-40B4-BE49-F238E27FC236}">
                <a16:creationId xmlns:a16="http://schemas.microsoft.com/office/drawing/2014/main" id="{7E8D456F-574F-49F5-90B3-443423434F38}"/>
              </a:ext>
            </a:extLst>
          </p:cNvPr>
          <p:cNvSpPr>
            <a:spLocks xmlns:a="http://schemas.openxmlformats.org/drawingml/2006/main" noGrp="1"/>
          </p:cNvSpPr>
          <p:nvPr/>
        </p:nvSpPr>
        <p:spPr>
          <a:xfrm xmlns:a="http://schemas.openxmlformats.org/drawingml/2006/main">
            <a:off x="1028700" y="4238625"/>
            <a:ext cx="15430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50505"/>
                </a:solidFill>
                <a:latin typeface="Aptos"/>
                <a:ea typeface="Aptos"/>
                <a:cs typeface="Aptos"/>
              </a:defRPr>
            </a:pPr>
            <a:r>
              <a:rPr sz="1350" b="1">
                <a:solidFill>
                  <a:srgbClr val="050505"/>
                </a:solidFill>
                <a:latin typeface="Aptos"/>
                <a:ea typeface="Aptos"/>
                <a:cs typeface="Aptos"/>
              </a:rPr>
              <a:t>Instagram</a:t>
            </a:r>
          </a:p>
        </p:txBody>
      </p:sp>
      <p:sp>
        <p:nvSpPr>
          <p:cNvPr id="12" name="">
            <a:extLst xmlns:a="http://schemas.openxmlformats.org/drawingml/2006/main">
              <a:ext uri="{FF2B5EF4-FFF2-40B4-BE49-F238E27FC236}">
                <a16:creationId xmlns:a16="http://schemas.microsoft.com/office/drawing/2014/main" id="{627987BE-532D-4179-8985-72F10519F79B}"/>
              </a:ext>
            </a:extLst>
          </p:cNvPr>
          <p:cNvSpPr>
            <a:spLocks xmlns:a="http://schemas.openxmlformats.org/drawingml/2006/main" noGrp="1"/>
          </p:cNvSpPr>
          <p:nvPr/>
        </p:nvSpPr>
        <p:spPr>
          <a:xfrm xmlns:a="http://schemas.openxmlformats.org/drawingml/2006/main">
            <a:off x="1028700" y="4505325"/>
            <a:ext cx="15430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7B5133"/>
                </a:solidFill>
                <a:latin typeface="Aptos Mono"/>
                <a:ea typeface="Aptos Mono"/>
                <a:cs typeface="Aptos Mono"/>
              </a:defRPr>
            </a:pPr>
            <a:r>
              <a:rPr sz="900" b="1">
                <a:solidFill>
                  <a:srgbClr val="7B5133"/>
                </a:solidFill>
                <a:latin typeface="Aptos Mono"/>
                <a:ea typeface="Aptos Mono"/>
                <a:cs typeface="Aptos Mono"/>
              </a:rPr>
              <a:t>DM inquiries</a:t>
            </a:r>
          </a:p>
        </p:txBody>
      </p:sp>
      <p:sp>
        <p:nvSpPr>
          <p:cNvPr id="13" name="">
            <a:extLst xmlns:a="http://schemas.openxmlformats.org/drawingml/2006/main">
              <a:ext uri="{FF2B5EF4-FFF2-40B4-BE49-F238E27FC236}">
                <a16:creationId xmlns:a16="http://schemas.microsoft.com/office/drawing/2014/main" id="{000C7FDE-C764-4B6F-80EF-F06024807CF4}"/>
              </a:ext>
            </a:extLst>
          </p:cNvPr>
          <p:cNvSpPr>
            <a:spLocks xmlns:a="http://schemas.openxmlformats.org/drawingml/2006/main" noGrp="1"/>
          </p:cNvSpPr>
          <p:nvPr/>
        </p:nvSpPr>
        <p:spPr>
          <a:xfrm xmlns:a="http://schemas.openxmlformats.org/drawingml/2006/main">
            <a:off x="9525000" y="2895600"/>
            <a:ext cx="1809750" cy="723900"/>
          </a:xfrm>
          <a:prstGeom xmlns:a="http://schemas.openxmlformats.org/drawingml/2006/main" prst="rect">
            <a:avLst/>
          </a:prstGeom>
          <a:solidFill xmlns:a="http://schemas.openxmlformats.org/drawingml/2006/main">
            <a:srgbClr val="F4F0E8"/>
          </a:solidFill>
          <a:ln xmlns:a="http://schemas.openxmlformats.org/drawingml/2006/main" w="9525">
            <a:solidFill>
              <a:srgbClr val="D7CFC2"/>
            </a:solidFill>
            <a:prstDash val="solid"/>
          </a:ln>
        </p:spPr>
      </p:sp>
      <p:sp>
        <p:nvSpPr>
          <p:cNvPr id="14" name="">
            <a:extLst xmlns:a="http://schemas.openxmlformats.org/drawingml/2006/main">
              <a:ext uri="{FF2B5EF4-FFF2-40B4-BE49-F238E27FC236}">
                <a16:creationId xmlns:a16="http://schemas.microsoft.com/office/drawing/2014/main" id="{A900A0C4-482A-45C1-A038-55E965727B42}"/>
              </a:ext>
            </a:extLst>
          </p:cNvPr>
          <p:cNvSpPr>
            <a:spLocks xmlns:a="http://schemas.openxmlformats.org/drawingml/2006/main" noGrp="1"/>
          </p:cNvSpPr>
          <p:nvPr/>
        </p:nvSpPr>
        <p:spPr>
          <a:xfrm xmlns:a="http://schemas.openxmlformats.org/drawingml/2006/main">
            <a:off x="9677400" y="3019425"/>
            <a:ext cx="15430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50505"/>
                </a:solidFill>
                <a:latin typeface="Aptos"/>
                <a:ea typeface="Aptos"/>
                <a:cs typeface="Aptos"/>
              </a:defRPr>
            </a:pPr>
            <a:r>
              <a:rPr sz="1350" b="1">
                <a:solidFill>
                  <a:srgbClr val="050505"/>
                </a:solidFill>
                <a:latin typeface="Aptos"/>
                <a:ea typeface="Aptos"/>
                <a:cs typeface="Aptos"/>
              </a:rPr>
              <a:t>Paper stock</a:t>
            </a:r>
          </a:p>
        </p:txBody>
      </p:sp>
      <p:sp>
        <p:nvSpPr>
          <p:cNvPr id="15" name="">
            <a:extLst xmlns:a="http://schemas.openxmlformats.org/drawingml/2006/main">
              <a:ext uri="{FF2B5EF4-FFF2-40B4-BE49-F238E27FC236}">
                <a16:creationId xmlns:a16="http://schemas.microsoft.com/office/drawing/2014/main" id="{B6D2D6C1-1B19-4BD2-8ADB-8EF993C88583}"/>
              </a:ext>
            </a:extLst>
          </p:cNvPr>
          <p:cNvSpPr>
            <a:spLocks xmlns:a="http://schemas.openxmlformats.org/drawingml/2006/main" noGrp="1"/>
          </p:cNvSpPr>
          <p:nvPr/>
        </p:nvSpPr>
        <p:spPr>
          <a:xfrm xmlns:a="http://schemas.openxmlformats.org/drawingml/2006/main">
            <a:off x="9677400" y="3286125"/>
            <a:ext cx="15430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7B5133"/>
                </a:solidFill>
                <a:latin typeface="Aptos Mono"/>
                <a:ea typeface="Aptos Mono"/>
                <a:cs typeface="Aptos Mono"/>
              </a:defRPr>
            </a:pPr>
            <a:r>
              <a:rPr sz="900" b="1">
                <a:solidFill>
                  <a:srgbClr val="7B5133"/>
                </a:solidFill>
                <a:latin typeface="Aptos Mono"/>
                <a:ea typeface="Aptos Mono"/>
                <a:cs typeface="Aptos Mono"/>
              </a:rPr>
              <a:t>manual counts</a:t>
            </a:r>
          </a:p>
        </p:txBody>
      </p:sp>
      <p:sp>
        <p:nvSpPr>
          <p:cNvPr id="16" name="">
            <a:extLst xmlns:a="http://schemas.openxmlformats.org/drawingml/2006/main">
              <a:ext uri="{FF2B5EF4-FFF2-40B4-BE49-F238E27FC236}">
                <a16:creationId xmlns:a16="http://schemas.microsoft.com/office/drawing/2014/main" id="{B4568972-265E-4F00-A9C0-5604258833D6}"/>
              </a:ext>
            </a:extLst>
          </p:cNvPr>
          <p:cNvSpPr>
            <a:spLocks xmlns:a="http://schemas.openxmlformats.org/drawingml/2006/main" noGrp="1"/>
          </p:cNvSpPr>
          <p:nvPr/>
        </p:nvSpPr>
        <p:spPr>
          <a:xfrm xmlns:a="http://schemas.openxmlformats.org/drawingml/2006/main">
            <a:off x="9525000" y="4095750"/>
            <a:ext cx="1809750" cy="723900"/>
          </a:xfrm>
          <a:prstGeom xmlns:a="http://schemas.openxmlformats.org/drawingml/2006/main" prst="rect">
            <a:avLst/>
          </a:prstGeom>
          <a:solidFill xmlns:a="http://schemas.openxmlformats.org/drawingml/2006/main">
            <a:srgbClr val="F4F0E8"/>
          </a:solidFill>
          <a:ln xmlns:a="http://schemas.openxmlformats.org/drawingml/2006/main" w="9525">
            <a:solidFill>
              <a:srgbClr val="D7CFC2"/>
            </a:solidFill>
            <a:prstDash val="solid"/>
          </a:ln>
        </p:spPr>
      </p:sp>
      <p:sp>
        <p:nvSpPr>
          <p:cNvPr id="17" name="">
            <a:extLst xmlns:a="http://schemas.openxmlformats.org/drawingml/2006/main">
              <a:ext uri="{FF2B5EF4-FFF2-40B4-BE49-F238E27FC236}">
                <a16:creationId xmlns:a16="http://schemas.microsoft.com/office/drawing/2014/main" id="{C1D20C33-2FE2-4119-8D0D-35747536441F}"/>
              </a:ext>
            </a:extLst>
          </p:cNvPr>
          <p:cNvSpPr>
            <a:spLocks xmlns:a="http://schemas.openxmlformats.org/drawingml/2006/main" noGrp="1"/>
          </p:cNvSpPr>
          <p:nvPr/>
        </p:nvSpPr>
        <p:spPr>
          <a:xfrm xmlns:a="http://schemas.openxmlformats.org/drawingml/2006/main">
            <a:off x="9677400" y="4219575"/>
            <a:ext cx="15430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50505"/>
                </a:solidFill>
                <a:latin typeface="Aptos"/>
                <a:ea typeface="Aptos"/>
                <a:cs typeface="Aptos"/>
              </a:defRPr>
            </a:pPr>
            <a:r>
              <a:rPr sz="1350" b="1">
                <a:solidFill>
                  <a:srgbClr val="050505"/>
                </a:solidFill>
                <a:latin typeface="Aptos"/>
                <a:ea typeface="Aptos"/>
                <a:cs typeface="Aptos"/>
              </a:rPr>
              <a:t>Excel sheets</a:t>
            </a:r>
          </a:p>
        </p:txBody>
      </p:sp>
      <p:sp>
        <p:nvSpPr>
          <p:cNvPr id="18" name="">
            <a:extLst xmlns:a="http://schemas.openxmlformats.org/drawingml/2006/main">
              <a:ext uri="{FF2B5EF4-FFF2-40B4-BE49-F238E27FC236}">
                <a16:creationId xmlns:a16="http://schemas.microsoft.com/office/drawing/2014/main" id="{26875EC5-E188-4F64-98D7-88C800A4A67A}"/>
              </a:ext>
            </a:extLst>
          </p:cNvPr>
          <p:cNvSpPr>
            <a:spLocks xmlns:a="http://schemas.openxmlformats.org/drawingml/2006/main" noGrp="1"/>
          </p:cNvSpPr>
          <p:nvPr/>
        </p:nvSpPr>
        <p:spPr>
          <a:xfrm xmlns:a="http://schemas.openxmlformats.org/drawingml/2006/main">
            <a:off x="9677400" y="4486275"/>
            <a:ext cx="15430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7B5133"/>
                </a:solidFill>
                <a:latin typeface="Aptos Mono"/>
                <a:ea typeface="Aptos Mono"/>
                <a:cs typeface="Aptos Mono"/>
              </a:defRPr>
            </a:pPr>
            <a:r>
              <a:rPr sz="900" b="1">
                <a:solidFill>
                  <a:srgbClr val="7B5133"/>
                </a:solidFill>
                <a:latin typeface="Aptos Mono"/>
                <a:ea typeface="Aptos Mono"/>
                <a:cs typeface="Aptos Mono"/>
              </a:rPr>
              <a:t>order lists</a:t>
            </a:r>
          </a:p>
        </p:txBody>
      </p:sp>
      <p:sp>
        <p:nvSpPr>
          <p:cNvPr id="19" name="">
            <a:extLst xmlns:a="http://schemas.openxmlformats.org/drawingml/2006/main">
              <a:ext uri="{FF2B5EF4-FFF2-40B4-BE49-F238E27FC236}">
                <a16:creationId xmlns:a16="http://schemas.microsoft.com/office/drawing/2014/main" id="{BDE34AD5-3879-4EC7-B8CC-1FB3FAE8DAE7}"/>
              </a:ext>
            </a:extLst>
          </p:cNvPr>
          <p:cNvSpPr>
            <a:spLocks xmlns:a="http://schemas.openxmlformats.org/drawingml/2006/main" noGrp="1"/>
          </p:cNvSpPr>
          <p:nvPr/>
        </p:nvSpPr>
        <p:spPr>
          <a:xfrm xmlns:a="http://schemas.openxmlformats.org/drawingml/2006/main">
            <a:off x="3257550" y="5219700"/>
            <a:ext cx="2095500" cy="723900"/>
          </a:xfrm>
          <a:prstGeom xmlns:a="http://schemas.openxmlformats.org/drawingml/2006/main" prst="rect">
            <a:avLst/>
          </a:prstGeom>
          <a:solidFill xmlns:a="http://schemas.openxmlformats.org/drawingml/2006/main">
            <a:srgbClr val="F4F0E8"/>
          </a:solidFill>
          <a:ln xmlns:a="http://schemas.openxmlformats.org/drawingml/2006/main" w="9525">
            <a:solidFill>
              <a:srgbClr val="D7CFC2"/>
            </a:solidFill>
            <a:prstDash val="solid"/>
          </a:ln>
        </p:spPr>
      </p:sp>
      <p:sp>
        <p:nvSpPr>
          <p:cNvPr id="20" name="">
            <a:extLst xmlns:a="http://schemas.openxmlformats.org/drawingml/2006/main">
              <a:ext uri="{FF2B5EF4-FFF2-40B4-BE49-F238E27FC236}">
                <a16:creationId xmlns:a16="http://schemas.microsoft.com/office/drawing/2014/main" id="{E7957FC7-5CBA-4B12-A784-EAEFB20FEBBA}"/>
              </a:ext>
            </a:extLst>
          </p:cNvPr>
          <p:cNvSpPr>
            <a:spLocks xmlns:a="http://schemas.openxmlformats.org/drawingml/2006/main" noGrp="1"/>
          </p:cNvSpPr>
          <p:nvPr/>
        </p:nvSpPr>
        <p:spPr>
          <a:xfrm xmlns:a="http://schemas.openxmlformats.org/drawingml/2006/main">
            <a:off x="3409950" y="5343525"/>
            <a:ext cx="1828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50505"/>
                </a:solidFill>
                <a:latin typeface="Aptos"/>
                <a:ea typeface="Aptos"/>
                <a:cs typeface="Aptos"/>
              </a:defRPr>
            </a:pPr>
            <a:r>
              <a:rPr sz="1350" b="1">
                <a:solidFill>
                  <a:srgbClr val="050505"/>
                </a:solidFill>
                <a:latin typeface="Aptos"/>
                <a:ea typeface="Aptos"/>
                <a:cs typeface="Aptos"/>
              </a:rPr>
              <a:t>Manual follow-ups</a:t>
            </a:r>
          </a:p>
        </p:txBody>
      </p:sp>
      <p:sp>
        <p:nvSpPr>
          <p:cNvPr id="21" name="">
            <a:extLst xmlns:a="http://schemas.openxmlformats.org/drawingml/2006/main">
              <a:ext uri="{FF2B5EF4-FFF2-40B4-BE49-F238E27FC236}">
                <a16:creationId xmlns:a16="http://schemas.microsoft.com/office/drawing/2014/main" id="{16C19070-7307-45A4-8972-3585141B1CAB}"/>
              </a:ext>
            </a:extLst>
          </p:cNvPr>
          <p:cNvSpPr>
            <a:spLocks xmlns:a="http://schemas.openxmlformats.org/drawingml/2006/main" noGrp="1"/>
          </p:cNvSpPr>
          <p:nvPr/>
        </p:nvSpPr>
        <p:spPr>
          <a:xfrm xmlns:a="http://schemas.openxmlformats.org/drawingml/2006/main">
            <a:off x="3409950" y="5610225"/>
            <a:ext cx="1828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7B5133"/>
                </a:solidFill>
                <a:latin typeface="Aptos Mono"/>
                <a:ea typeface="Aptos Mono"/>
                <a:cs typeface="Aptos Mono"/>
              </a:defRPr>
            </a:pPr>
            <a:r>
              <a:rPr sz="900" b="1">
                <a:solidFill>
                  <a:srgbClr val="7B5133"/>
                </a:solidFill>
                <a:latin typeface="Aptos Mono"/>
                <a:ea typeface="Aptos Mono"/>
                <a:cs typeface="Aptos Mono"/>
              </a:rPr>
              <a:t>staff memory</a:t>
            </a:r>
          </a:p>
        </p:txBody>
      </p:sp>
      <p:sp>
        <p:nvSpPr>
          <p:cNvPr id="22" name="">
            <a:extLst xmlns:a="http://schemas.openxmlformats.org/drawingml/2006/main">
              <a:ext uri="{FF2B5EF4-FFF2-40B4-BE49-F238E27FC236}">
                <a16:creationId xmlns:a16="http://schemas.microsoft.com/office/drawing/2014/main" id="{A6162365-24A7-4439-9FBE-A8AEBB2489AA}"/>
              </a:ext>
            </a:extLst>
          </p:cNvPr>
          <p:cNvSpPr>
            <a:spLocks xmlns:a="http://schemas.openxmlformats.org/drawingml/2006/main" noGrp="1"/>
          </p:cNvSpPr>
          <p:nvPr/>
        </p:nvSpPr>
        <p:spPr>
          <a:xfrm xmlns:a="http://schemas.openxmlformats.org/drawingml/2006/main">
            <a:off x="6838950" y="5219700"/>
            <a:ext cx="2095500" cy="723900"/>
          </a:xfrm>
          <a:prstGeom xmlns:a="http://schemas.openxmlformats.org/drawingml/2006/main" prst="rect">
            <a:avLst/>
          </a:prstGeom>
          <a:solidFill xmlns:a="http://schemas.openxmlformats.org/drawingml/2006/main">
            <a:srgbClr val="F4F0E8"/>
          </a:solidFill>
          <a:ln xmlns:a="http://schemas.openxmlformats.org/drawingml/2006/main" w="9525">
            <a:solidFill>
              <a:srgbClr val="D7CFC2"/>
            </a:solidFill>
            <a:prstDash val="solid"/>
          </a:ln>
        </p:spPr>
      </p:sp>
      <p:sp>
        <p:nvSpPr>
          <p:cNvPr id="23" name="">
            <a:extLst xmlns:a="http://schemas.openxmlformats.org/drawingml/2006/main">
              <a:ext uri="{FF2B5EF4-FFF2-40B4-BE49-F238E27FC236}">
                <a16:creationId xmlns:a16="http://schemas.microsoft.com/office/drawing/2014/main" id="{A4379689-12F2-44E3-8629-5D614B73CC02}"/>
              </a:ext>
            </a:extLst>
          </p:cNvPr>
          <p:cNvSpPr>
            <a:spLocks xmlns:a="http://schemas.openxmlformats.org/drawingml/2006/main" noGrp="1"/>
          </p:cNvSpPr>
          <p:nvPr/>
        </p:nvSpPr>
        <p:spPr>
          <a:xfrm xmlns:a="http://schemas.openxmlformats.org/drawingml/2006/main">
            <a:off x="6991350" y="5343525"/>
            <a:ext cx="1828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50505"/>
                </a:solidFill>
                <a:latin typeface="Aptos"/>
                <a:ea typeface="Aptos"/>
                <a:cs typeface="Aptos"/>
              </a:defRPr>
            </a:pPr>
            <a:r>
              <a:rPr sz="1350" b="1">
                <a:solidFill>
                  <a:srgbClr val="050505"/>
                </a:solidFill>
                <a:latin typeface="Aptos"/>
                <a:ea typeface="Aptos"/>
                <a:cs typeface="Aptos"/>
              </a:rPr>
              <a:t>Scattered tracking</a:t>
            </a:r>
          </a:p>
        </p:txBody>
      </p:sp>
      <p:sp>
        <p:nvSpPr>
          <p:cNvPr id="24" name="">
            <a:extLst xmlns:a="http://schemas.openxmlformats.org/drawingml/2006/main">
              <a:ext uri="{FF2B5EF4-FFF2-40B4-BE49-F238E27FC236}">
                <a16:creationId xmlns:a16="http://schemas.microsoft.com/office/drawing/2014/main" id="{DDBF6812-1139-418C-A0E8-C4A3AD01851C}"/>
              </a:ext>
            </a:extLst>
          </p:cNvPr>
          <p:cNvSpPr>
            <a:spLocks xmlns:a="http://schemas.openxmlformats.org/drawingml/2006/main" noGrp="1"/>
          </p:cNvSpPr>
          <p:nvPr/>
        </p:nvSpPr>
        <p:spPr>
          <a:xfrm xmlns:a="http://schemas.openxmlformats.org/drawingml/2006/main">
            <a:off x="6991350" y="5610225"/>
            <a:ext cx="1828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7B5133"/>
                </a:solidFill>
                <a:latin typeface="Aptos Mono"/>
                <a:ea typeface="Aptos Mono"/>
                <a:cs typeface="Aptos Mono"/>
              </a:defRPr>
            </a:pPr>
            <a:r>
              <a:rPr sz="900" b="1">
                <a:solidFill>
                  <a:srgbClr val="7B5133"/>
                </a:solidFill>
                <a:latin typeface="Aptos Mono"/>
                <a:ea typeface="Aptos Mono"/>
                <a:cs typeface="Aptos Mono"/>
              </a:rPr>
              <a:t>unclear status</a:t>
            </a:r>
          </a:p>
        </p:txBody>
      </p:sp>
      <p:sp>
        <p:nvSpPr>
          <p:cNvPr id="25" name="">
            <a:extLst xmlns:a="http://schemas.openxmlformats.org/drawingml/2006/main">
              <a:ext uri="{FF2B5EF4-FFF2-40B4-BE49-F238E27FC236}">
                <a16:creationId xmlns:a16="http://schemas.microsoft.com/office/drawing/2014/main" id="{00F18F56-8C4B-4684-A8AD-8E7BD0CC7B2F}"/>
              </a:ext>
            </a:extLst>
          </p:cNvPr>
          <p:cNvSpPr>
            <a:spLocks xmlns:a="http://schemas.openxmlformats.org/drawingml/2006/main" noGrp="1"/>
          </p:cNvSpPr>
          <p:nvPr/>
        </p:nvSpPr>
        <p:spPr>
          <a:xfrm xmlns:a="http://schemas.openxmlformats.org/drawingml/2006/main">
            <a:off x="4362450" y="2971800"/>
            <a:ext cx="3467100" cy="1543050"/>
          </a:xfrm>
          <a:prstGeom xmlns:a="http://schemas.openxmlformats.org/drawingml/2006/main" prst="rect">
            <a:avLst/>
          </a:prstGeom>
          <a:solidFill xmlns:a="http://schemas.openxmlformats.org/drawingml/2006/main">
            <a:srgbClr val="050505"/>
          </a:solidFill>
          <a:ln xmlns:a="http://schemas.openxmlformats.org/drawingml/2006/main" w="9525">
            <a:solidFill>
              <a:srgbClr val="050505"/>
            </a:solidFill>
            <a:prstDash val="solid"/>
          </a:ln>
        </p:spPr>
      </p:sp>
      <p:sp>
        <p:nvSpPr>
          <p:cNvPr id="26" name="">
            <a:extLst xmlns:a="http://schemas.openxmlformats.org/drawingml/2006/main">
              <a:ext uri="{FF2B5EF4-FFF2-40B4-BE49-F238E27FC236}">
                <a16:creationId xmlns:a16="http://schemas.microsoft.com/office/drawing/2014/main" id="{EE72008D-8E71-435C-9033-6564C06CD495}"/>
              </a:ext>
            </a:extLst>
          </p:cNvPr>
          <p:cNvSpPr>
            <a:spLocks xmlns:a="http://schemas.openxmlformats.org/drawingml/2006/main" noGrp="1"/>
          </p:cNvSpPr>
          <p:nvPr/>
        </p:nvSpPr>
        <p:spPr>
          <a:xfrm xmlns:a="http://schemas.openxmlformats.org/drawingml/2006/main">
            <a:off x="4686300" y="3333750"/>
            <a:ext cx="28194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0">
                <a:solidFill>
                  <a:srgbClr val="F4F0E8"/>
                </a:solidFill>
                <a:latin typeface="Georgia"/>
                <a:ea typeface="Georgia"/>
                <a:cs typeface="Georgia"/>
              </a:defRPr>
            </a:pPr>
            <a:r>
              <a:rPr sz="1950" b="0">
                <a:solidFill>
                  <a:srgbClr val="F4F0E8"/>
                </a:solidFill>
                <a:latin typeface="Georgia"/>
                <a:ea typeface="Georgia"/>
                <a:cs typeface="Georgia"/>
              </a:rPr>
              <a:t>Manual studio memory</a:t>
            </a:r>
          </a:p>
        </p:txBody>
      </p:sp>
      <p:sp>
        <p:nvSpPr>
          <p:cNvPr id="27" name="">
            <a:extLst xmlns:a="http://schemas.openxmlformats.org/drawingml/2006/main">
              <a:ext uri="{FF2B5EF4-FFF2-40B4-BE49-F238E27FC236}">
                <a16:creationId xmlns:a16="http://schemas.microsoft.com/office/drawing/2014/main" id="{B2584F24-E31E-4FDD-A09F-C8F1AD66B2C2}"/>
              </a:ext>
            </a:extLst>
          </p:cNvPr>
          <p:cNvSpPr>
            <a:spLocks xmlns:a="http://schemas.openxmlformats.org/drawingml/2006/main" noGrp="1"/>
          </p:cNvSpPr>
          <p:nvPr/>
        </p:nvSpPr>
        <p:spPr>
          <a:xfrm xmlns:a="http://schemas.openxmlformats.org/drawingml/2006/main">
            <a:off x="4800600" y="3771900"/>
            <a:ext cx="25908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B7B7B0"/>
                </a:solidFill>
                <a:latin typeface="Aptos Mono"/>
                <a:ea typeface="Aptos Mono"/>
                <a:cs typeface="Aptos Mono"/>
              </a:defRPr>
            </a:pPr>
            <a:r>
              <a:rPr sz="975" b="1">
                <a:solidFill>
                  <a:srgbClr val="B7B7B0"/>
                </a:solidFill>
                <a:latin typeface="Aptos Mono"/>
                <a:ea typeface="Aptos Mono"/>
                <a:cs typeface="Aptos Mono"/>
              </a:rPr>
              <a:t>orders remembered, not orchestrated</a:t>
            </a:r>
          </a:p>
        </p:txBody>
      </p:sp>
      <p:sp>
        <p:nvSpPr>
          <p:cNvPr id="28" name="">
            <a:extLst xmlns:a="http://schemas.openxmlformats.org/drawingml/2006/main">
              <a:ext uri="{FF2B5EF4-FFF2-40B4-BE49-F238E27FC236}">
                <a16:creationId xmlns:a16="http://schemas.microsoft.com/office/drawing/2014/main" id="{7008B29D-6C65-4000-B65A-14E6C16B64D5}"/>
              </a:ext>
            </a:extLst>
          </p:cNvPr>
          <p:cNvSpPr>
            <a:spLocks xmlns:a="http://schemas.openxmlformats.org/drawingml/2006/main" noGrp="1"/>
          </p:cNvSpPr>
          <p:nvPr/>
        </p:nvSpPr>
        <p:spPr>
          <a:xfrm xmlns:a="http://schemas.openxmlformats.org/drawingml/2006/main">
            <a:off x="4819650" y="4114800"/>
            <a:ext cx="1181100" cy="323850"/>
          </a:xfrm>
          <a:prstGeom xmlns:a="http://schemas.openxmlformats.org/drawingml/2006/main" prst="rect">
            <a:avLst/>
          </a:prstGeom>
          <a:solidFill xmlns:a="http://schemas.openxmlformats.org/drawingml/2006/main">
            <a:srgbClr val="2A211B"/>
          </a:solidFill>
          <a:ln xmlns:a="http://schemas.openxmlformats.org/drawingml/2006/main" w="9525">
            <a:solidFill>
              <a:srgbClr val="463729"/>
            </a:solidFill>
            <a:prstDash val="solid"/>
          </a:ln>
        </p:spPr>
      </p:sp>
      <p:sp>
        <p:nvSpPr>
          <p:cNvPr id="29" name="">
            <a:extLst xmlns:a="http://schemas.openxmlformats.org/drawingml/2006/main">
              <a:ext uri="{FF2B5EF4-FFF2-40B4-BE49-F238E27FC236}">
                <a16:creationId xmlns:a16="http://schemas.microsoft.com/office/drawing/2014/main" id="{E2593C3A-AF09-41EB-91BD-48DE9203C694}"/>
              </a:ext>
            </a:extLst>
          </p:cNvPr>
          <p:cNvSpPr>
            <a:spLocks xmlns:a="http://schemas.openxmlformats.org/drawingml/2006/main" noGrp="1"/>
          </p:cNvSpPr>
          <p:nvPr/>
        </p:nvSpPr>
        <p:spPr>
          <a:xfrm xmlns:a="http://schemas.openxmlformats.org/drawingml/2006/main">
            <a:off x="4953000" y="4171950"/>
            <a:ext cx="9144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F4F0E8"/>
                </a:solidFill>
                <a:latin typeface="Aptos"/>
                <a:ea typeface="Aptos"/>
                <a:cs typeface="Aptos"/>
              </a:defRPr>
            </a:pPr>
            <a:r>
              <a:rPr sz="900" b="0">
                <a:solidFill>
                  <a:srgbClr val="F4F0E8"/>
                </a:solidFill>
                <a:latin typeface="Aptos"/>
                <a:ea typeface="Aptos"/>
                <a:cs typeface="Aptos"/>
              </a:rPr>
              <a:t>Missed context</a:t>
            </a:r>
          </a:p>
        </p:txBody>
      </p:sp>
      <p:sp>
        <p:nvSpPr>
          <p:cNvPr id="30" name="">
            <a:extLst xmlns:a="http://schemas.openxmlformats.org/drawingml/2006/main">
              <a:ext uri="{FF2B5EF4-FFF2-40B4-BE49-F238E27FC236}">
                <a16:creationId xmlns:a16="http://schemas.microsoft.com/office/drawing/2014/main" id="{86CA33C9-42AA-412D-A090-817868A33270}"/>
              </a:ext>
            </a:extLst>
          </p:cNvPr>
          <p:cNvSpPr>
            <a:spLocks xmlns:a="http://schemas.openxmlformats.org/drawingml/2006/main" noGrp="1"/>
          </p:cNvSpPr>
          <p:nvPr/>
        </p:nvSpPr>
        <p:spPr>
          <a:xfrm xmlns:a="http://schemas.openxmlformats.org/drawingml/2006/main">
            <a:off x="6191250" y="4114800"/>
            <a:ext cx="1162050" cy="323850"/>
          </a:xfrm>
          <a:prstGeom xmlns:a="http://schemas.openxmlformats.org/drawingml/2006/main" prst="rect">
            <a:avLst/>
          </a:prstGeom>
          <a:solidFill xmlns:a="http://schemas.openxmlformats.org/drawingml/2006/main">
            <a:srgbClr val="2A211B"/>
          </a:solidFill>
          <a:ln xmlns:a="http://schemas.openxmlformats.org/drawingml/2006/main" w="9525">
            <a:solidFill>
              <a:srgbClr val="463729"/>
            </a:solidFill>
            <a:prstDash val="solid"/>
          </a:ln>
        </p:spPr>
      </p:sp>
      <p:sp>
        <p:nvSpPr>
          <p:cNvPr id="31" name="">
            <a:extLst xmlns:a="http://schemas.openxmlformats.org/drawingml/2006/main">
              <a:ext uri="{FF2B5EF4-FFF2-40B4-BE49-F238E27FC236}">
                <a16:creationId xmlns:a16="http://schemas.microsoft.com/office/drawing/2014/main" id="{C4FE6415-441F-414A-B23F-8770507944E1}"/>
              </a:ext>
            </a:extLst>
          </p:cNvPr>
          <p:cNvSpPr>
            <a:spLocks xmlns:a="http://schemas.openxmlformats.org/drawingml/2006/main" noGrp="1"/>
          </p:cNvSpPr>
          <p:nvPr/>
        </p:nvSpPr>
        <p:spPr>
          <a:xfrm xmlns:a="http://schemas.openxmlformats.org/drawingml/2006/main">
            <a:off x="6324600" y="4171950"/>
            <a:ext cx="8953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F4F0E8"/>
                </a:solidFill>
                <a:latin typeface="Aptos"/>
                <a:ea typeface="Aptos"/>
                <a:cs typeface="Aptos"/>
              </a:defRPr>
            </a:pPr>
            <a:r>
              <a:rPr sz="900" b="0">
                <a:solidFill>
                  <a:srgbClr val="F4F0E8"/>
                </a:solidFill>
                <a:latin typeface="Aptos"/>
                <a:ea typeface="Aptos"/>
                <a:cs typeface="Aptos"/>
              </a:rPr>
              <a:t>Late replies</a:t>
            </a:r>
          </a:p>
        </p:txBody>
      </p:sp>
      <p:sp>
        <p:nvSpPr>
          <p:cNvPr id="32" name="">
            <a:extLst xmlns:a="http://schemas.openxmlformats.org/drawingml/2006/main">
              <a:ext uri="{FF2B5EF4-FFF2-40B4-BE49-F238E27FC236}">
                <a16:creationId xmlns:a16="http://schemas.microsoft.com/office/drawing/2014/main" id="{4A88DB8D-A51E-4459-BFF2-20310A69F316}"/>
              </a:ext>
            </a:extLst>
          </p:cNvPr>
          <p:cNvSpPr>
            <a:spLocks xmlns:a="http://schemas.openxmlformats.org/drawingml/2006/main" noGrp="1"/>
          </p:cNvSpPr>
          <p:nvPr/>
        </p:nvSpPr>
        <p:spPr>
          <a:xfrm xmlns:a="http://schemas.openxmlformats.org/drawingml/2006/main">
            <a:off x="2781300" y="3295650"/>
            <a:ext cx="1162050" cy="19050"/>
          </a:xfrm>
          <a:prstGeom xmlns:a="http://schemas.openxmlformats.org/drawingml/2006/main" prst="rect">
            <a:avLst/>
          </a:prstGeom>
          <a:solidFill xmlns:a="http://schemas.openxmlformats.org/drawingml/2006/main">
            <a:srgbClr val="7B5133"/>
          </a:solidFill>
          <a:ln xmlns:a="http://schemas.openxmlformats.org/drawingml/2006/main" w="0">
            <a:solidFill>
              <a:srgbClr val="7B5133"/>
            </a:solidFill>
            <a:prstDash val="solid"/>
          </a:ln>
        </p:spPr>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f6d144723f1246ce">
            <a:extLst>
              <a:ext uri="{96DAC541-7B7A-43D3-8B79-37D633B846F1}">
                <asvg:svgBlip xmlns:asvg="http://schemas.microsoft.com/office/drawing/2016/SVG/main" r:embed="Rfd9b65f3651a45cf"/>
              </a:ext>
            </a:extLst>
          </a:blip>
          <a:stretch xmlns:a="http://schemas.openxmlformats.org/drawingml/2006/main"/>
        </p:blipFill>
        <p:spPr>
          <a:xfrm xmlns:a="http://schemas.openxmlformats.org/drawingml/2006/main">
            <a:off x="3924300" y="3200400"/>
            <a:ext cx="228600" cy="228600"/>
          </a:xfrm>
          <a:prstGeom xmlns:a="http://schemas.openxmlformats.org/drawingml/2006/main" prst="rect">
            <a:avLst/>
          </a:prstGeom>
        </p:spPr>
      </p:pic>
      <p:sp>
        <p:nvSpPr>
          <p:cNvPr id="34" name="">
            <a:extLst xmlns:a="http://schemas.openxmlformats.org/drawingml/2006/main">
              <a:ext uri="{FF2B5EF4-FFF2-40B4-BE49-F238E27FC236}">
                <a16:creationId xmlns:a16="http://schemas.microsoft.com/office/drawing/2014/main" id="{A96F475F-0E2E-4A76-B1D4-024ED4426168}"/>
              </a:ext>
            </a:extLst>
          </p:cNvPr>
          <p:cNvSpPr>
            <a:spLocks xmlns:a="http://schemas.openxmlformats.org/drawingml/2006/main" noGrp="1"/>
          </p:cNvSpPr>
          <p:nvPr/>
        </p:nvSpPr>
        <p:spPr>
          <a:xfrm xmlns:a="http://schemas.openxmlformats.org/drawingml/2006/main">
            <a:off x="2781300" y="4495800"/>
            <a:ext cx="1162050" cy="19050"/>
          </a:xfrm>
          <a:prstGeom xmlns:a="http://schemas.openxmlformats.org/drawingml/2006/main" prst="rect">
            <a:avLst/>
          </a:prstGeom>
          <a:solidFill xmlns:a="http://schemas.openxmlformats.org/drawingml/2006/main">
            <a:srgbClr val="7B5133"/>
          </a:solidFill>
          <a:ln xmlns:a="http://schemas.openxmlformats.org/drawingml/2006/main" w="0">
            <a:solidFill>
              <a:srgbClr val="7B5133"/>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5f80c5eccb1b47a1">
            <a:extLst>
              <a:ext uri="{96DAC541-7B7A-43D3-8B79-37D633B846F1}">
                <asvg:svgBlip xmlns:asvg="http://schemas.microsoft.com/office/drawing/2016/SVG/main" r:embed="R2ee07d28af264e6d"/>
              </a:ext>
            </a:extLst>
          </a:blip>
          <a:stretch xmlns:a="http://schemas.openxmlformats.org/drawingml/2006/main"/>
        </p:blipFill>
        <p:spPr>
          <a:xfrm xmlns:a="http://schemas.openxmlformats.org/drawingml/2006/main">
            <a:off x="3924300" y="4400550"/>
            <a:ext cx="228600" cy="228600"/>
          </a:xfrm>
          <a:prstGeom xmlns:a="http://schemas.openxmlformats.org/drawingml/2006/main" prst="rect">
            <a:avLst/>
          </a:prstGeom>
        </p:spPr>
      </p:pic>
      <p:sp>
        <p:nvSpPr>
          <p:cNvPr id="36" name="">
            <a:extLst xmlns:a="http://schemas.openxmlformats.org/drawingml/2006/main">
              <a:ext uri="{FF2B5EF4-FFF2-40B4-BE49-F238E27FC236}">
                <a16:creationId xmlns:a16="http://schemas.microsoft.com/office/drawing/2014/main" id="{BEF630B8-228D-4180-B53E-903A12A60FD3}"/>
              </a:ext>
            </a:extLst>
          </p:cNvPr>
          <p:cNvSpPr>
            <a:spLocks xmlns:a="http://schemas.openxmlformats.org/drawingml/2006/main" noGrp="1"/>
          </p:cNvSpPr>
          <p:nvPr/>
        </p:nvSpPr>
        <p:spPr>
          <a:xfrm xmlns:a="http://schemas.openxmlformats.org/drawingml/2006/main">
            <a:off x="7962900" y="3295650"/>
            <a:ext cx="1162050" cy="19050"/>
          </a:xfrm>
          <a:prstGeom xmlns:a="http://schemas.openxmlformats.org/drawingml/2006/main" prst="rect">
            <a:avLst/>
          </a:prstGeom>
          <a:solidFill xmlns:a="http://schemas.openxmlformats.org/drawingml/2006/main">
            <a:srgbClr val="7B5133"/>
          </a:solidFill>
          <a:ln xmlns:a="http://schemas.openxmlformats.org/drawingml/2006/main" w="0">
            <a:solidFill>
              <a:srgbClr val="7B5133"/>
            </a:solidFill>
            <a:prstDash val="solid"/>
          </a:ln>
        </p:spPr>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d62a3a684cea456f">
            <a:extLst>
              <a:ext uri="{96DAC541-7B7A-43D3-8B79-37D633B846F1}">
                <asvg:svgBlip xmlns:asvg="http://schemas.microsoft.com/office/drawing/2016/SVG/main" r:embed="R7723c436147d40ab"/>
              </a:ext>
            </a:extLst>
          </a:blip>
          <a:stretch xmlns:a="http://schemas.openxmlformats.org/drawingml/2006/main"/>
        </p:blipFill>
        <p:spPr>
          <a:xfrm xmlns:a="http://schemas.openxmlformats.org/drawingml/2006/main">
            <a:off x="9105900" y="3200400"/>
            <a:ext cx="228600" cy="228600"/>
          </a:xfrm>
          <a:prstGeom xmlns:a="http://schemas.openxmlformats.org/drawingml/2006/main" prst="rect">
            <a:avLst/>
          </a:prstGeom>
        </p:spPr>
      </p:pic>
      <p:sp>
        <p:nvSpPr>
          <p:cNvPr id="38" name="">
            <a:extLst xmlns:a="http://schemas.openxmlformats.org/drawingml/2006/main">
              <a:ext uri="{FF2B5EF4-FFF2-40B4-BE49-F238E27FC236}">
                <a16:creationId xmlns:a16="http://schemas.microsoft.com/office/drawing/2014/main" id="{722C995D-60C2-4E50-8174-65F5FC80A652}"/>
              </a:ext>
            </a:extLst>
          </p:cNvPr>
          <p:cNvSpPr>
            <a:spLocks xmlns:a="http://schemas.openxmlformats.org/drawingml/2006/main" noGrp="1"/>
          </p:cNvSpPr>
          <p:nvPr/>
        </p:nvSpPr>
        <p:spPr>
          <a:xfrm xmlns:a="http://schemas.openxmlformats.org/drawingml/2006/main">
            <a:off x="7962900" y="4495800"/>
            <a:ext cx="1162050" cy="19050"/>
          </a:xfrm>
          <a:prstGeom xmlns:a="http://schemas.openxmlformats.org/drawingml/2006/main" prst="rect">
            <a:avLst/>
          </a:prstGeom>
          <a:solidFill xmlns:a="http://schemas.openxmlformats.org/drawingml/2006/main">
            <a:srgbClr val="7B5133"/>
          </a:solidFill>
          <a:ln xmlns:a="http://schemas.openxmlformats.org/drawingml/2006/main" w="0">
            <a:solidFill>
              <a:srgbClr val="7B5133"/>
            </a:solidFill>
            <a:prstDash val="solid"/>
          </a:ln>
        </p:spPr>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ee78d9b278094e48">
            <a:extLst>
              <a:ext uri="{96DAC541-7B7A-43D3-8B79-37D633B846F1}">
                <asvg:svgBlip xmlns:asvg="http://schemas.microsoft.com/office/drawing/2016/SVG/main" r:embed="Rb04bc989ea614000"/>
              </a:ext>
            </a:extLst>
          </a:blip>
          <a:stretch xmlns:a="http://schemas.openxmlformats.org/drawingml/2006/main"/>
        </p:blipFill>
        <p:spPr>
          <a:xfrm xmlns:a="http://schemas.openxmlformats.org/drawingml/2006/main">
            <a:off x="9105900" y="4400550"/>
            <a:ext cx="228600" cy="228600"/>
          </a:xfrm>
          <a:prstGeom xmlns:a="http://schemas.openxmlformats.org/drawingml/2006/main" prst="rect">
            <a:avLst/>
          </a:prstGeom>
        </p:spPr>
      </p:pic>
      <p:sp>
        <p:nvSpPr>
          <p:cNvPr id="40" name="">
            <a:extLst xmlns:a="http://schemas.openxmlformats.org/drawingml/2006/main">
              <a:ext uri="{FF2B5EF4-FFF2-40B4-BE49-F238E27FC236}">
                <a16:creationId xmlns:a16="http://schemas.microsoft.com/office/drawing/2014/main" id="{9737DB12-D385-4724-9468-4CCC7F48310B}"/>
              </a:ext>
            </a:extLst>
          </p:cNvPr>
          <p:cNvSpPr>
            <a:spLocks xmlns:a="http://schemas.openxmlformats.org/drawingml/2006/main" noGrp="1"/>
          </p:cNvSpPr>
          <p:nvPr/>
        </p:nvSpPr>
        <p:spPr>
          <a:xfrm xmlns:a="http://schemas.openxmlformats.org/drawingml/2006/main">
            <a:off x="4267200" y="5143500"/>
            <a:ext cx="9525" cy="381000"/>
          </a:xfrm>
          <a:prstGeom xmlns:a="http://schemas.openxmlformats.org/drawingml/2006/main" prst="rect">
            <a:avLst/>
          </a:prstGeom>
          <a:solidFill xmlns:a="http://schemas.openxmlformats.org/drawingml/2006/main">
            <a:srgbClr val="7B5133"/>
          </a:solidFill>
          <a:ln xmlns:a="http://schemas.openxmlformats.org/drawingml/2006/main" w="0">
            <a:solidFill>
              <a:srgbClr val="7B5133"/>
            </a:solidFill>
            <a:prstDash val="solid"/>
          </a:ln>
        </p:spPr>
      </p:sp>
      <p:sp>
        <p:nvSpPr>
          <p:cNvPr id="41" name="">
            <a:extLst xmlns:a="http://schemas.openxmlformats.org/drawingml/2006/main">
              <a:ext uri="{FF2B5EF4-FFF2-40B4-BE49-F238E27FC236}">
                <a16:creationId xmlns:a16="http://schemas.microsoft.com/office/drawing/2014/main" id="{0A7494FF-54CE-4401-B700-CB4902558780}"/>
              </a:ext>
            </a:extLst>
          </p:cNvPr>
          <p:cNvSpPr>
            <a:spLocks xmlns:a="http://schemas.openxmlformats.org/drawingml/2006/main" noGrp="1"/>
          </p:cNvSpPr>
          <p:nvPr/>
        </p:nvSpPr>
        <p:spPr>
          <a:xfrm xmlns:a="http://schemas.openxmlformats.org/drawingml/2006/main">
            <a:off x="7924800" y="5143500"/>
            <a:ext cx="9525" cy="381000"/>
          </a:xfrm>
          <a:prstGeom xmlns:a="http://schemas.openxmlformats.org/drawingml/2006/main" prst="rect">
            <a:avLst/>
          </a:prstGeom>
          <a:solidFill xmlns:a="http://schemas.openxmlformats.org/drawingml/2006/main">
            <a:srgbClr val="7B5133"/>
          </a:solidFill>
          <a:ln xmlns:a="http://schemas.openxmlformats.org/drawingml/2006/main" w="0">
            <a:solidFill>
              <a:srgbClr val="7B5133"/>
            </a:solidFill>
            <a:prstDash val="solid"/>
          </a:ln>
        </p:spPr>
      </p:sp>
      <p:sp>
        <p:nvSpPr>
          <p:cNvPr id="42" name="">
            <a:extLst xmlns:a="http://schemas.openxmlformats.org/drawingml/2006/main">
              <a:ext uri="{FF2B5EF4-FFF2-40B4-BE49-F238E27FC236}">
                <a16:creationId xmlns:a16="http://schemas.microsoft.com/office/drawing/2014/main" id="{8EAF7916-43FE-40E5-B71F-CD5AE37FF127}"/>
              </a:ext>
            </a:extLst>
          </p:cNvPr>
          <p:cNvSpPr>
            <a:spLocks xmlns:a="http://schemas.openxmlformats.org/drawingml/2006/main" noGrp="1"/>
          </p:cNvSpPr>
          <p:nvPr/>
        </p:nvSpPr>
        <p:spPr>
          <a:xfrm xmlns:a="http://schemas.openxmlformats.org/drawingml/2006/main">
            <a:off x="4286250" y="5524500"/>
            <a:ext cx="1047750" cy="19050"/>
          </a:xfrm>
          <a:prstGeom xmlns:a="http://schemas.openxmlformats.org/drawingml/2006/main" prst="rect">
            <a:avLst/>
          </a:prstGeom>
          <a:solidFill xmlns:a="http://schemas.openxmlformats.org/drawingml/2006/main">
            <a:srgbClr val="7B5133"/>
          </a:solidFill>
          <a:ln xmlns:a="http://schemas.openxmlformats.org/drawingml/2006/main" w="0">
            <a:solidFill>
              <a:srgbClr val="7B5133"/>
            </a:solidFill>
            <a:prstDash val="solid"/>
          </a:ln>
        </p:spPr>
      </p:sp>
      <p:sp>
        <p:nvSpPr>
          <p:cNvPr id="43" name="">
            <a:extLst xmlns:a="http://schemas.openxmlformats.org/drawingml/2006/main">
              <a:ext uri="{FF2B5EF4-FFF2-40B4-BE49-F238E27FC236}">
                <a16:creationId xmlns:a16="http://schemas.microsoft.com/office/drawing/2014/main" id="{5DC655C9-4787-46CD-9C78-EE15AB0FC5AD}"/>
              </a:ext>
            </a:extLst>
          </p:cNvPr>
          <p:cNvSpPr>
            <a:spLocks xmlns:a="http://schemas.openxmlformats.org/drawingml/2006/main" noGrp="1"/>
          </p:cNvSpPr>
          <p:nvPr/>
        </p:nvSpPr>
        <p:spPr>
          <a:xfrm xmlns:a="http://schemas.openxmlformats.org/drawingml/2006/main">
            <a:off x="6858000" y="5524500"/>
            <a:ext cx="1066800" cy="19050"/>
          </a:xfrm>
          <a:prstGeom xmlns:a="http://schemas.openxmlformats.org/drawingml/2006/main" prst="rect">
            <a:avLst/>
          </a:prstGeom>
          <a:solidFill xmlns:a="http://schemas.openxmlformats.org/drawingml/2006/main">
            <a:srgbClr val="7B5133"/>
          </a:solidFill>
          <a:ln xmlns:a="http://schemas.openxmlformats.org/drawingml/2006/main" w="0">
            <a:solidFill>
              <a:srgbClr val="7B5133"/>
            </a:solidFill>
            <a:prstDash val="solid"/>
          </a:ln>
        </p:spPr>
      </p:sp>
      <p:sp>
        <p:nvSpPr>
          <p:cNvPr id="44" name="">
            <a:extLst xmlns:a="http://schemas.openxmlformats.org/drawingml/2006/main">
              <a:ext uri="{FF2B5EF4-FFF2-40B4-BE49-F238E27FC236}">
                <a16:creationId xmlns:a16="http://schemas.microsoft.com/office/drawing/2014/main" id="{A583670A-1F41-4587-8648-66DB3895ECCA}"/>
              </a:ext>
            </a:extLst>
          </p:cNvPr>
          <p:cNvSpPr>
            <a:spLocks xmlns:a="http://schemas.openxmlformats.org/drawingml/2006/main" noGrp="1"/>
          </p:cNvSpPr>
          <p:nvPr/>
        </p:nvSpPr>
        <p:spPr>
          <a:xfrm xmlns:a="http://schemas.openxmlformats.org/drawingml/2006/main">
            <a:off x="11353800" y="61912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7B5133"/>
                </a:solidFill>
                <a:latin typeface="Aptos Mono"/>
                <a:ea typeface="Aptos Mono"/>
                <a:cs typeface="Aptos Mono"/>
              </a:defRPr>
            </a:pPr>
            <a:r>
              <a:rPr sz="900" b="0">
                <a:solidFill>
                  <a:srgbClr val="7B5133"/>
                </a:solidFill>
                <a:latin typeface="Aptos Mono"/>
                <a:ea typeface="Aptos Mono"/>
                <a:cs typeface="Aptos Mono"/>
              </a:rPr>
              <a:t>02</a:t>
            </a:r>
          </a:p>
        </p:txBody>
      </p:sp>
    </p:spTree>
    <p:extLst>
      <p:ext uri="{BB962C8B-B14F-4D97-AF65-F5344CB8AC3E}">
        <p14:creationId xmlns:p14="http://schemas.microsoft.com/office/powerpoint/2010/main" val="119776806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F5F0283-DDAE-46EB-8E57-835F194DF44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61615"/>
          </a:solidFill>
          <a:ln xmlns:a="http://schemas.openxmlformats.org/drawingml/2006/main" w="0">
            <a:solidFill>
              <a:srgbClr val="161615"/>
            </a:solidFill>
            <a:prstDash val="solid"/>
          </a:ln>
        </p:spPr>
      </p:sp>
      <p:sp>
        <p:nvSpPr>
          <p:cNvPr id="2" name="">
            <a:extLst xmlns:a="http://schemas.openxmlformats.org/drawingml/2006/main">
              <a:ext uri="{FF2B5EF4-FFF2-40B4-BE49-F238E27FC236}">
                <a16:creationId xmlns:a16="http://schemas.microsoft.com/office/drawing/2014/main" id="{8B0D7C1E-41E3-40C4-89F1-BF5C1F3C0D7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2110F"/>
          </a:solidFill>
          <a:ln xmlns:a="http://schemas.openxmlformats.org/drawingml/2006/main" w="0">
            <a:solidFill>
              <a:srgbClr val="12110F"/>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f0bcba508deb4efb"/>
          <a:stretch xmlns:a="http://schemas.openxmlformats.org/drawingml/2006/main"/>
        </p:blipFill>
        <p:spPr>
          <a:xfrm xmlns:a="http://schemas.openxmlformats.org/drawingml/2006/main">
            <a:off x="819150" y="3947780"/>
            <a:ext cx="723900" cy="1515140"/>
          </a:xfrm>
          <a:prstGeom xmlns:a="http://schemas.openxmlformats.org/drawingml/2006/main" prst="rect">
            <a:avLst/>
          </a:prstGeom>
        </p:spPr>
      </p:pic>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1cdf085dc0ca461f"/>
          <a:stretch xmlns:a="http://schemas.openxmlformats.org/drawingml/2006/main"/>
        </p:blipFill>
        <p:spPr>
          <a:xfrm xmlns:a="http://schemas.openxmlformats.org/drawingml/2006/main">
            <a:off x="9944100" y="515458"/>
            <a:ext cx="1104900" cy="359735"/>
          </a:xfrm>
          <a:prstGeom xmlns:a="http://schemas.openxmlformats.org/drawingml/2006/main" prst="rect">
            <a:avLst/>
          </a:prstGeom>
        </p:spPr>
      </p:pic>
      <p:sp>
        <p:nvSpPr>
          <p:cNvPr id="5" name="kicker-03-marker">
            <a:extLst xmlns:a="http://schemas.openxmlformats.org/drawingml/2006/main">
              <a:ext uri="{FF2B5EF4-FFF2-40B4-BE49-F238E27FC236}">
                <a16:creationId xmlns:a16="http://schemas.microsoft.com/office/drawing/2014/main" id="{344C00FF-6639-41AE-A394-A40AAFCAAB8D}"/>
              </a:ext>
            </a:extLst>
          </p:cNvPr>
          <p:cNvSpPr>
            <a:spLocks xmlns:a="http://schemas.openxmlformats.org/drawingml/2006/main" noGrp="1"/>
          </p:cNvSpPr>
          <p:nvPr/>
        </p:nvSpPr>
        <p:spPr>
          <a:xfrm xmlns:a="http://schemas.openxmlformats.org/drawingml/2006/main">
            <a:off x="685800" y="600075"/>
            <a:ext cx="323850" cy="19050"/>
          </a:xfrm>
          <a:prstGeom xmlns:a="http://schemas.openxmlformats.org/drawingml/2006/main" prst="rect">
            <a:avLst/>
          </a:prstGeom>
          <a:solidFill xmlns:a="http://schemas.openxmlformats.org/drawingml/2006/main">
            <a:srgbClr val="B8652B"/>
          </a:solidFill>
          <a:ln xmlns:a="http://schemas.openxmlformats.org/drawingml/2006/main" w="0">
            <a:solidFill>
              <a:srgbClr val="B8652B"/>
            </a:solidFill>
            <a:prstDash val="solid"/>
          </a:ln>
        </p:spPr>
      </p:sp>
      <p:sp>
        <p:nvSpPr>
          <p:cNvPr id="6" name="kicker-03-label">
            <a:extLst xmlns:a="http://schemas.openxmlformats.org/drawingml/2006/main">
              <a:ext uri="{FF2B5EF4-FFF2-40B4-BE49-F238E27FC236}">
                <a16:creationId xmlns:a16="http://schemas.microsoft.com/office/drawing/2014/main" id="{DC3CF663-1CE2-4A18-ACF3-A33C5F3A42EE}"/>
              </a:ext>
            </a:extLst>
          </p:cNvPr>
          <p:cNvSpPr>
            <a:spLocks xmlns:a="http://schemas.openxmlformats.org/drawingml/2006/main" noGrp="1"/>
          </p:cNvSpPr>
          <p:nvPr/>
        </p:nvSpPr>
        <p:spPr>
          <a:xfrm xmlns:a="http://schemas.openxmlformats.org/drawingml/2006/main">
            <a:off x="1123950" y="514350"/>
            <a:ext cx="3429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B7B7B0"/>
                </a:solidFill>
                <a:latin typeface="Aptos Mono"/>
                <a:ea typeface="Aptos Mono"/>
                <a:cs typeface="Aptos Mono"/>
              </a:defRPr>
            </a:pPr>
            <a:r>
              <a:rPr sz="825" b="1">
                <a:solidFill>
                  <a:srgbClr val="B7B7B0"/>
                </a:solidFill>
                <a:latin typeface="Aptos Mono"/>
                <a:ea typeface="Aptos Mono"/>
                <a:cs typeface="Aptos Mono"/>
              </a:rPr>
              <a:t>THE OPPORTUNITY</a:t>
            </a:r>
          </a:p>
        </p:txBody>
      </p:sp>
      <p:sp>
        <p:nvSpPr>
          <p:cNvPr id="7" name="">
            <a:extLst xmlns:a="http://schemas.openxmlformats.org/drawingml/2006/main">
              <a:ext uri="{FF2B5EF4-FFF2-40B4-BE49-F238E27FC236}">
                <a16:creationId xmlns:a16="http://schemas.microsoft.com/office/drawing/2014/main" id="{65046E3A-33B1-4091-8846-83737FE4BEF6}"/>
              </a:ext>
            </a:extLst>
          </p:cNvPr>
          <p:cNvSpPr>
            <a:spLocks xmlns:a="http://schemas.openxmlformats.org/drawingml/2006/main" noGrp="1"/>
          </p:cNvSpPr>
          <p:nvPr/>
        </p:nvSpPr>
        <p:spPr>
          <a:xfrm xmlns:a="http://schemas.openxmlformats.org/drawingml/2006/main">
            <a:off x="685800" y="990600"/>
            <a:ext cx="5810250" cy="1447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0">
                <a:solidFill>
                  <a:srgbClr val="F4F0E8"/>
                </a:solidFill>
                <a:latin typeface="Georgia"/>
                <a:ea typeface="Georgia"/>
                <a:cs typeface="Georgia"/>
              </a:defRPr>
            </a:pPr>
            <a:r>
              <a:rPr sz="3000" b="0">
                <a:solidFill>
                  <a:srgbClr val="F4F0E8"/>
                </a:solidFill>
                <a:latin typeface="Georgia"/>
                <a:ea typeface="Georgia"/>
                <a:cs typeface="Georgia"/>
              </a:rPr>
              <a:t>Turn Mo'orafrika into an organized cultural-commerce engine.</a:t>
            </a:r>
          </a:p>
        </p:txBody>
      </p:sp>
      <p:sp>
        <p:nvSpPr>
          <p:cNvPr id="8" name="">
            <a:extLst xmlns:a="http://schemas.openxmlformats.org/drawingml/2006/main">
              <a:ext uri="{FF2B5EF4-FFF2-40B4-BE49-F238E27FC236}">
                <a16:creationId xmlns:a16="http://schemas.microsoft.com/office/drawing/2014/main" id="{A9C9AABD-9F2B-45A3-9407-62452970FDC2}"/>
              </a:ext>
            </a:extLst>
          </p:cNvPr>
          <p:cNvSpPr>
            <a:spLocks xmlns:a="http://schemas.openxmlformats.org/drawingml/2006/main" noGrp="1"/>
          </p:cNvSpPr>
          <p:nvPr/>
        </p:nvSpPr>
        <p:spPr>
          <a:xfrm xmlns:a="http://schemas.openxmlformats.org/drawingml/2006/main">
            <a:off x="723900" y="2781300"/>
            <a:ext cx="504825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B7B7B0"/>
                </a:solidFill>
                <a:latin typeface="Aptos"/>
                <a:ea typeface="Aptos"/>
                <a:cs typeface="Aptos"/>
              </a:defRPr>
            </a:pPr>
            <a:r>
              <a:rPr sz="1500" b="0">
                <a:solidFill>
                  <a:srgbClr val="B7B7B0"/>
                </a:solidFill>
                <a:latin typeface="Aptos"/>
                <a:ea typeface="Aptos"/>
                <a:cs typeface="Aptos"/>
              </a:rPr>
              <a:t>The brand already has culture, audience energy, and product intent. Studio OS adds operational control beneath the story.</a:t>
            </a:r>
          </a:p>
        </p:txBody>
      </p:sp>
      <p:sp>
        <p:nvSpPr>
          <p:cNvPr id="9" name="">
            <a:extLst xmlns:a="http://schemas.openxmlformats.org/drawingml/2006/main">
              <a:ext uri="{FF2B5EF4-FFF2-40B4-BE49-F238E27FC236}">
                <a16:creationId xmlns:a16="http://schemas.microsoft.com/office/drawing/2014/main" id="{02B36F1D-5A05-490C-AEA0-9A2891400385}"/>
              </a:ext>
            </a:extLst>
          </p:cNvPr>
          <p:cNvSpPr>
            <a:spLocks xmlns:a="http://schemas.openxmlformats.org/drawingml/2006/main" noGrp="1"/>
          </p:cNvSpPr>
          <p:nvPr/>
        </p:nvSpPr>
        <p:spPr>
          <a:xfrm xmlns:a="http://schemas.openxmlformats.org/drawingml/2006/main">
            <a:off x="6781800" y="1123950"/>
            <a:ext cx="3905250" cy="1123950"/>
          </a:xfrm>
          <a:prstGeom xmlns:a="http://schemas.openxmlformats.org/drawingml/2006/main" prst="rect">
            <a:avLst/>
          </a:prstGeom>
          <a:solidFill xmlns:a="http://schemas.openxmlformats.org/drawingml/2006/main">
            <a:srgbClr val="1D1A16"/>
          </a:solidFill>
          <a:ln xmlns:a="http://schemas.openxmlformats.org/drawingml/2006/main" w="9525">
            <a:solidFill>
              <a:srgbClr val="3B362E"/>
            </a:solidFill>
            <a:prstDash val="solid"/>
          </a:ln>
        </p:spPr>
      </p:sp>
      <p:sp>
        <p:nvSpPr>
          <p:cNvPr id="10" name="">
            <a:extLst xmlns:a="http://schemas.openxmlformats.org/drawingml/2006/main">
              <a:ext uri="{FF2B5EF4-FFF2-40B4-BE49-F238E27FC236}">
                <a16:creationId xmlns:a16="http://schemas.microsoft.com/office/drawing/2014/main" id="{EC6056CF-A783-444A-BA44-548DDFE02874}"/>
              </a:ext>
            </a:extLst>
          </p:cNvPr>
          <p:cNvSpPr>
            <a:spLocks xmlns:a="http://schemas.openxmlformats.org/drawingml/2006/main" noGrp="1"/>
          </p:cNvSpPr>
          <p:nvPr/>
        </p:nvSpPr>
        <p:spPr>
          <a:xfrm xmlns:a="http://schemas.openxmlformats.org/drawingml/2006/main">
            <a:off x="6781800" y="1123950"/>
            <a:ext cx="57150" cy="1123950"/>
          </a:xfrm>
          <a:prstGeom xmlns:a="http://schemas.openxmlformats.org/drawingml/2006/main" prst="rect">
            <a:avLst/>
          </a:prstGeom>
          <a:solidFill xmlns:a="http://schemas.openxmlformats.org/drawingml/2006/main">
            <a:srgbClr val="7B5133"/>
          </a:solidFill>
          <a:ln xmlns:a="http://schemas.openxmlformats.org/drawingml/2006/main" w="0">
            <a:solidFill>
              <a:srgbClr val="7B5133"/>
            </a:solidFill>
            <a:prstDash val="solid"/>
          </a:ln>
        </p:spPr>
      </p:sp>
      <p:sp>
        <p:nvSpPr>
          <p:cNvPr id="11" name="">
            <a:extLst xmlns:a="http://schemas.openxmlformats.org/drawingml/2006/main">
              <a:ext uri="{FF2B5EF4-FFF2-40B4-BE49-F238E27FC236}">
                <a16:creationId xmlns:a16="http://schemas.microsoft.com/office/drawing/2014/main" id="{19007B10-3F9C-40B8-80B5-1E9E4035920F}"/>
              </a:ext>
            </a:extLst>
          </p:cNvPr>
          <p:cNvSpPr>
            <a:spLocks xmlns:a="http://schemas.openxmlformats.org/drawingml/2006/main" noGrp="1"/>
          </p:cNvSpPr>
          <p:nvPr/>
        </p:nvSpPr>
        <p:spPr>
          <a:xfrm xmlns:a="http://schemas.openxmlformats.org/drawingml/2006/main">
            <a:off x="7105650" y="1352550"/>
            <a:ext cx="304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7B5133"/>
                </a:solidFill>
                <a:latin typeface="Aptos Mono"/>
                <a:ea typeface="Aptos Mono"/>
                <a:cs typeface="Aptos Mono"/>
              </a:defRPr>
            </a:pPr>
            <a:r>
              <a:rPr sz="975" b="1">
                <a:solidFill>
                  <a:srgbClr val="7B5133"/>
                </a:solidFill>
                <a:latin typeface="Aptos Mono"/>
                <a:ea typeface="Aptos Mono"/>
                <a:cs typeface="Aptos Mono"/>
              </a:rPr>
              <a:t>CULTURE</a:t>
            </a:r>
          </a:p>
        </p:txBody>
      </p:sp>
      <p:sp>
        <p:nvSpPr>
          <p:cNvPr id="12" name="">
            <a:extLst xmlns:a="http://schemas.openxmlformats.org/drawingml/2006/main">
              <a:ext uri="{FF2B5EF4-FFF2-40B4-BE49-F238E27FC236}">
                <a16:creationId xmlns:a16="http://schemas.microsoft.com/office/drawing/2014/main" id="{4219598E-01B3-4653-8694-6B1E51827BF0}"/>
              </a:ext>
            </a:extLst>
          </p:cNvPr>
          <p:cNvSpPr>
            <a:spLocks xmlns:a="http://schemas.openxmlformats.org/drawingml/2006/main" noGrp="1"/>
          </p:cNvSpPr>
          <p:nvPr/>
        </p:nvSpPr>
        <p:spPr>
          <a:xfrm xmlns:a="http://schemas.openxmlformats.org/drawingml/2006/main">
            <a:off x="7105650" y="1676400"/>
            <a:ext cx="3048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F4F0E8"/>
                </a:solidFill>
                <a:latin typeface="Aptos"/>
                <a:ea typeface="Aptos"/>
                <a:cs typeface="Aptos"/>
              </a:defRPr>
            </a:pPr>
            <a:r>
              <a:rPr sz="1575" b="0">
                <a:solidFill>
                  <a:srgbClr val="F4F0E8"/>
                </a:solidFill>
                <a:latin typeface="Aptos"/>
                <a:ea typeface="Aptos"/>
                <a:cs typeface="Aptos"/>
              </a:rPr>
              <a:t>identity, Nigerian energy, storytelling</a:t>
            </a:r>
          </a:p>
        </p:txBody>
      </p:sp>
      <p:sp>
        <p:nvSpPr>
          <p:cNvPr id="13" name="">
            <a:extLst xmlns:a="http://schemas.openxmlformats.org/drawingml/2006/main">
              <a:ext uri="{FF2B5EF4-FFF2-40B4-BE49-F238E27FC236}">
                <a16:creationId xmlns:a16="http://schemas.microsoft.com/office/drawing/2014/main" id="{3E4ECE7D-88A7-4AC7-80BF-854DED593722}"/>
              </a:ext>
            </a:extLst>
          </p:cNvPr>
          <p:cNvSpPr>
            <a:spLocks xmlns:a="http://schemas.openxmlformats.org/drawingml/2006/main" noGrp="1"/>
          </p:cNvSpPr>
          <p:nvPr/>
        </p:nvSpPr>
        <p:spPr>
          <a:xfrm xmlns:a="http://schemas.openxmlformats.org/drawingml/2006/main">
            <a:off x="6781800" y="2457450"/>
            <a:ext cx="3905250" cy="1123950"/>
          </a:xfrm>
          <a:prstGeom xmlns:a="http://schemas.openxmlformats.org/drawingml/2006/main" prst="rect">
            <a:avLst/>
          </a:prstGeom>
          <a:solidFill xmlns:a="http://schemas.openxmlformats.org/drawingml/2006/main">
            <a:srgbClr val="1D1A16"/>
          </a:solidFill>
          <a:ln xmlns:a="http://schemas.openxmlformats.org/drawingml/2006/main" w="9525">
            <a:solidFill>
              <a:srgbClr val="3B362E"/>
            </a:solidFill>
            <a:prstDash val="solid"/>
          </a:ln>
        </p:spPr>
      </p:sp>
      <p:sp>
        <p:nvSpPr>
          <p:cNvPr id="14" name="">
            <a:extLst xmlns:a="http://schemas.openxmlformats.org/drawingml/2006/main">
              <a:ext uri="{FF2B5EF4-FFF2-40B4-BE49-F238E27FC236}">
                <a16:creationId xmlns:a16="http://schemas.microsoft.com/office/drawing/2014/main" id="{62E33C10-9D55-42C9-A61A-D14C4C5299B5}"/>
              </a:ext>
            </a:extLst>
          </p:cNvPr>
          <p:cNvSpPr>
            <a:spLocks xmlns:a="http://schemas.openxmlformats.org/drawingml/2006/main" noGrp="1"/>
          </p:cNvSpPr>
          <p:nvPr/>
        </p:nvSpPr>
        <p:spPr>
          <a:xfrm xmlns:a="http://schemas.openxmlformats.org/drawingml/2006/main">
            <a:off x="6781800" y="2457450"/>
            <a:ext cx="57150" cy="1123950"/>
          </a:xfrm>
          <a:prstGeom xmlns:a="http://schemas.openxmlformats.org/drawingml/2006/main" prst="rect">
            <a:avLst/>
          </a:prstGeom>
          <a:solidFill xmlns:a="http://schemas.openxmlformats.org/drawingml/2006/main">
            <a:srgbClr val="3F4A35"/>
          </a:solidFill>
          <a:ln xmlns:a="http://schemas.openxmlformats.org/drawingml/2006/main" w="0">
            <a:solidFill>
              <a:srgbClr val="3F4A35"/>
            </a:solidFill>
            <a:prstDash val="solid"/>
          </a:ln>
        </p:spPr>
      </p:sp>
      <p:sp>
        <p:nvSpPr>
          <p:cNvPr id="15" name="">
            <a:extLst xmlns:a="http://schemas.openxmlformats.org/drawingml/2006/main">
              <a:ext uri="{FF2B5EF4-FFF2-40B4-BE49-F238E27FC236}">
                <a16:creationId xmlns:a16="http://schemas.microsoft.com/office/drawing/2014/main" id="{AADEEC50-BBFA-4C7B-AF6D-C4A5D4791658}"/>
              </a:ext>
            </a:extLst>
          </p:cNvPr>
          <p:cNvSpPr>
            <a:spLocks xmlns:a="http://schemas.openxmlformats.org/drawingml/2006/main" noGrp="1"/>
          </p:cNvSpPr>
          <p:nvPr/>
        </p:nvSpPr>
        <p:spPr>
          <a:xfrm xmlns:a="http://schemas.openxmlformats.org/drawingml/2006/main">
            <a:off x="7105650" y="2686050"/>
            <a:ext cx="304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3F4A35"/>
                </a:solidFill>
                <a:latin typeface="Aptos Mono"/>
                <a:ea typeface="Aptos Mono"/>
                <a:cs typeface="Aptos Mono"/>
              </a:defRPr>
            </a:pPr>
            <a:r>
              <a:rPr sz="975" b="1">
                <a:solidFill>
                  <a:srgbClr val="3F4A35"/>
                </a:solidFill>
                <a:latin typeface="Aptos Mono"/>
                <a:ea typeface="Aptos Mono"/>
                <a:cs typeface="Aptos Mono"/>
              </a:rPr>
              <a:t>COMMERCE</a:t>
            </a:r>
          </a:p>
        </p:txBody>
      </p:sp>
      <p:sp>
        <p:nvSpPr>
          <p:cNvPr id="16" name="">
            <a:extLst xmlns:a="http://schemas.openxmlformats.org/drawingml/2006/main">
              <a:ext uri="{FF2B5EF4-FFF2-40B4-BE49-F238E27FC236}">
                <a16:creationId xmlns:a16="http://schemas.microsoft.com/office/drawing/2014/main" id="{CBFD5762-1E9F-4C08-A019-5FD09A25F0DB}"/>
              </a:ext>
            </a:extLst>
          </p:cNvPr>
          <p:cNvSpPr>
            <a:spLocks xmlns:a="http://schemas.openxmlformats.org/drawingml/2006/main" noGrp="1"/>
          </p:cNvSpPr>
          <p:nvPr/>
        </p:nvSpPr>
        <p:spPr>
          <a:xfrm xmlns:a="http://schemas.openxmlformats.org/drawingml/2006/main">
            <a:off x="7105650" y="3009900"/>
            <a:ext cx="3048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F4F0E8"/>
                </a:solidFill>
                <a:latin typeface="Aptos"/>
                <a:ea typeface="Aptos"/>
                <a:cs typeface="Aptos"/>
              </a:defRPr>
            </a:pPr>
            <a:r>
              <a:rPr sz="1575" b="0">
                <a:solidFill>
                  <a:srgbClr val="F4F0E8"/>
                </a:solidFill>
                <a:latin typeface="Aptos"/>
                <a:ea typeface="Aptos"/>
                <a:cs typeface="Aptos"/>
              </a:rPr>
              <a:t>client inquiry, catalog, order conversion</a:t>
            </a:r>
          </a:p>
        </p:txBody>
      </p:sp>
      <p:sp>
        <p:nvSpPr>
          <p:cNvPr id="17" name="">
            <a:extLst xmlns:a="http://schemas.openxmlformats.org/drawingml/2006/main">
              <a:ext uri="{FF2B5EF4-FFF2-40B4-BE49-F238E27FC236}">
                <a16:creationId xmlns:a16="http://schemas.microsoft.com/office/drawing/2014/main" id="{08B7657E-23D3-4A1D-B613-5DEE9B541414}"/>
              </a:ext>
            </a:extLst>
          </p:cNvPr>
          <p:cNvSpPr>
            <a:spLocks xmlns:a="http://schemas.openxmlformats.org/drawingml/2006/main" noGrp="1"/>
          </p:cNvSpPr>
          <p:nvPr/>
        </p:nvSpPr>
        <p:spPr>
          <a:xfrm xmlns:a="http://schemas.openxmlformats.org/drawingml/2006/main">
            <a:off x="6781800" y="3790950"/>
            <a:ext cx="3905250" cy="1123950"/>
          </a:xfrm>
          <a:prstGeom xmlns:a="http://schemas.openxmlformats.org/drawingml/2006/main" prst="rect">
            <a:avLst/>
          </a:prstGeom>
          <a:solidFill xmlns:a="http://schemas.openxmlformats.org/drawingml/2006/main">
            <a:srgbClr val="1D1A16"/>
          </a:solidFill>
          <a:ln xmlns:a="http://schemas.openxmlformats.org/drawingml/2006/main" w="9525">
            <a:solidFill>
              <a:srgbClr val="3B362E"/>
            </a:solidFill>
            <a:prstDash val="solid"/>
          </a:ln>
        </p:spPr>
      </p:sp>
      <p:sp>
        <p:nvSpPr>
          <p:cNvPr id="18" name="">
            <a:extLst xmlns:a="http://schemas.openxmlformats.org/drawingml/2006/main">
              <a:ext uri="{FF2B5EF4-FFF2-40B4-BE49-F238E27FC236}">
                <a16:creationId xmlns:a16="http://schemas.microsoft.com/office/drawing/2014/main" id="{E790BE95-4FAE-4850-A5BA-D747035C3350}"/>
              </a:ext>
            </a:extLst>
          </p:cNvPr>
          <p:cNvSpPr>
            <a:spLocks xmlns:a="http://schemas.openxmlformats.org/drawingml/2006/main" noGrp="1"/>
          </p:cNvSpPr>
          <p:nvPr/>
        </p:nvSpPr>
        <p:spPr>
          <a:xfrm xmlns:a="http://schemas.openxmlformats.org/drawingml/2006/main">
            <a:off x="6781800" y="3790950"/>
            <a:ext cx="57150" cy="1123950"/>
          </a:xfrm>
          <a:prstGeom xmlns:a="http://schemas.openxmlformats.org/drawingml/2006/main" prst="rect">
            <a:avLst/>
          </a:prstGeom>
          <a:solidFill xmlns:a="http://schemas.openxmlformats.org/drawingml/2006/main">
            <a:srgbClr val="B8652B"/>
          </a:solidFill>
          <a:ln xmlns:a="http://schemas.openxmlformats.org/drawingml/2006/main" w="0">
            <a:solidFill>
              <a:srgbClr val="B8652B"/>
            </a:solidFill>
            <a:prstDash val="solid"/>
          </a:ln>
        </p:spPr>
      </p:sp>
      <p:sp>
        <p:nvSpPr>
          <p:cNvPr id="19" name="">
            <a:extLst xmlns:a="http://schemas.openxmlformats.org/drawingml/2006/main">
              <a:ext uri="{FF2B5EF4-FFF2-40B4-BE49-F238E27FC236}">
                <a16:creationId xmlns:a16="http://schemas.microsoft.com/office/drawing/2014/main" id="{CE6715C0-83CB-4707-BFBA-6C2279E3A709}"/>
              </a:ext>
            </a:extLst>
          </p:cNvPr>
          <p:cNvSpPr>
            <a:spLocks xmlns:a="http://schemas.openxmlformats.org/drawingml/2006/main" noGrp="1"/>
          </p:cNvSpPr>
          <p:nvPr/>
        </p:nvSpPr>
        <p:spPr>
          <a:xfrm xmlns:a="http://schemas.openxmlformats.org/drawingml/2006/main">
            <a:off x="7105650" y="4019550"/>
            <a:ext cx="304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B8652B"/>
                </a:solidFill>
                <a:latin typeface="Aptos Mono"/>
                <a:ea typeface="Aptos Mono"/>
                <a:cs typeface="Aptos Mono"/>
              </a:defRPr>
            </a:pPr>
            <a:r>
              <a:rPr sz="975" b="1">
                <a:solidFill>
                  <a:srgbClr val="B8652B"/>
                </a:solidFill>
                <a:latin typeface="Aptos Mono"/>
                <a:ea typeface="Aptos Mono"/>
                <a:cs typeface="Aptos Mono"/>
              </a:rPr>
              <a:t>OPERATIONS</a:t>
            </a:r>
          </a:p>
        </p:txBody>
      </p:sp>
      <p:sp>
        <p:nvSpPr>
          <p:cNvPr id="20" name="">
            <a:extLst xmlns:a="http://schemas.openxmlformats.org/drawingml/2006/main">
              <a:ext uri="{FF2B5EF4-FFF2-40B4-BE49-F238E27FC236}">
                <a16:creationId xmlns:a16="http://schemas.microsoft.com/office/drawing/2014/main" id="{C7331511-FA6C-4DA0-BC38-DBB0724308C5}"/>
              </a:ext>
            </a:extLst>
          </p:cNvPr>
          <p:cNvSpPr>
            <a:spLocks xmlns:a="http://schemas.openxmlformats.org/drawingml/2006/main" noGrp="1"/>
          </p:cNvSpPr>
          <p:nvPr/>
        </p:nvSpPr>
        <p:spPr>
          <a:xfrm xmlns:a="http://schemas.openxmlformats.org/drawingml/2006/main">
            <a:off x="7105650" y="4343400"/>
            <a:ext cx="3048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F4F0E8"/>
                </a:solidFill>
                <a:latin typeface="Aptos"/>
                <a:ea typeface="Aptos"/>
                <a:cs typeface="Aptos"/>
              </a:defRPr>
            </a:pPr>
            <a:r>
              <a:rPr sz="1575" b="0">
                <a:solidFill>
                  <a:srgbClr val="F4F0E8"/>
                </a:solidFill>
                <a:latin typeface="Aptos"/>
                <a:ea typeface="Aptos"/>
                <a:cs typeface="Aptos"/>
              </a:rPr>
              <a:t>inventory, production, quality, dispatch</a:t>
            </a:r>
          </a:p>
        </p:txBody>
      </p:sp>
      <p:sp>
        <p:nvSpPr>
          <p:cNvPr id="21" name="">
            <a:extLst xmlns:a="http://schemas.openxmlformats.org/drawingml/2006/main">
              <a:ext uri="{FF2B5EF4-FFF2-40B4-BE49-F238E27FC236}">
                <a16:creationId xmlns:a16="http://schemas.microsoft.com/office/drawing/2014/main" id="{F184A396-6065-4B73-89F4-4C8252CEF06F}"/>
              </a:ext>
            </a:extLst>
          </p:cNvPr>
          <p:cNvSpPr>
            <a:spLocks xmlns:a="http://schemas.openxmlformats.org/drawingml/2006/main" noGrp="1"/>
          </p:cNvSpPr>
          <p:nvPr/>
        </p:nvSpPr>
        <p:spPr>
          <a:xfrm xmlns:a="http://schemas.openxmlformats.org/drawingml/2006/main">
            <a:off x="6724650" y="5219700"/>
            <a:ext cx="4095750" cy="9525"/>
          </a:xfrm>
          <a:prstGeom xmlns:a="http://schemas.openxmlformats.org/drawingml/2006/main" prst="rect">
            <a:avLst/>
          </a:prstGeom>
          <a:solidFill xmlns:a="http://schemas.openxmlformats.org/drawingml/2006/main">
            <a:srgbClr val="3B3832"/>
          </a:solidFill>
          <a:ln xmlns:a="http://schemas.openxmlformats.org/drawingml/2006/main" w="0">
            <a:solidFill>
              <a:srgbClr val="3B3832"/>
            </a:solidFill>
            <a:prstDash val="solid"/>
          </a:ln>
        </p:spPr>
      </p:sp>
      <p:sp>
        <p:nvSpPr>
          <p:cNvPr id="22" name="">
            <a:extLst xmlns:a="http://schemas.openxmlformats.org/drawingml/2006/main">
              <a:ext uri="{FF2B5EF4-FFF2-40B4-BE49-F238E27FC236}">
                <a16:creationId xmlns:a16="http://schemas.microsoft.com/office/drawing/2014/main" id="{80BF5947-4A24-4623-98E5-5814B58CC21E}"/>
              </a:ext>
            </a:extLst>
          </p:cNvPr>
          <p:cNvSpPr>
            <a:spLocks xmlns:a="http://schemas.openxmlformats.org/drawingml/2006/main" noGrp="1"/>
          </p:cNvSpPr>
          <p:nvPr/>
        </p:nvSpPr>
        <p:spPr>
          <a:xfrm xmlns:a="http://schemas.openxmlformats.org/drawingml/2006/main">
            <a:off x="6800850" y="5467350"/>
            <a:ext cx="38862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0">
                <a:solidFill>
                  <a:srgbClr val="F4F0E8"/>
                </a:solidFill>
                <a:latin typeface="Georgia"/>
                <a:ea typeface="Georgia"/>
                <a:cs typeface="Georgia"/>
              </a:defRPr>
            </a:pPr>
            <a:r>
              <a:rPr sz="1875" b="0">
                <a:solidFill>
                  <a:srgbClr val="F4F0E8"/>
                </a:solidFill>
                <a:latin typeface="Georgia"/>
                <a:ea typeface="Georgia"/>
                <a:cs typeface="Georgia"/>
              </a:rPr>
              <a:t>From fashion label to cultural house with a controlled operating backbone.</a:t>
            </a:r>
          </a:p>
        </p:txBody>
      </p:sp>
      <p:sp>
        <p:nvSpPr>
          <p:cNvPr id="23" name="">
            <a:extLst xmlns:a="http://schemas.openxmlformats.org/drawingml/2006/main">
              <a:ext uri="{FF2B5EF4-FFF2-40B4-BE49-F238E27FC236}">
                <a16:creationId xmlns:a16="http://schemas.microsoft.com/office/drawing/2014/main" id="{0B62FB55-BF05-48EA-B23E-AAADA4C1081D}"/>
              </a:ext>
            </a:extLst>
          </p:cNvPr>
          <p:cNvSpPr>
            <a:spLocks xmlns:a="http://schemas.openxmlformats.org/drawingml/2006/main" noGrp="1"/>
          </p:cNvSpPr>
          <p:nvPr/>
        </p:nvSpPr>
        <p:spPr>
          <a:xfrm xmlns:a="http://schemas.openxmlformats.org/drawingml/2006/main">
            <a:off x="11353800" y="61912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B7B7B0"/>
                </a:solidFill>
                <a:latin typeface="Aptos Mono"/>
                <a:ea typeface="Aptos Mono"/>
                <a:cs typeface="Aptos Mono"/>
              </a:defRPr>
            </a:pPr>
            <a:r>
              <a:rPr sz="900" b="0">
                <a:solidFill>
                  <a:srgbClr val="B7B7B0"/>
                </a:solidFill>
                <a:latin typeface="Aptos Mono"/>
                <a:ea typeface="Aptos Mono"/>
                <a:cs typeface="Aptos Mono"/>
              </a:rPr>
              <a:t>03</a:t>
            </a:r>
          </a:p>
        </p:txBody>
      </p:sp>
    </p:spTree>
    <p:extLst>
      <p:ext uri="{BB962C8B-B14F-4D97-AF65-F5344CB8AC3E}">
        <p14:creationId xmlns:p14="http://schemas.microsoft.com/office/powerpoint/2010/main" val="138996077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7788B3B-3CAD-4B37-A708-FBCF97B3ED6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0E8"/>
          </a:solidFill>
          <a:ln xmlns:a="http://schemas.openxmlformats.org/drawingml/2006/main" w="0">
            <a:solidFill>
              <a:srgbClr val="F4F0E8"/>
            </a:solidFill>
            <a:prstDash val="solid"/>
          </a:ln>
        </p:spPr>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cc28af3109347b5"/>
          <a:stretch xmlns:a="http://schemas.openxmlformats.org/drawingml/2006/main"/>
        </p:blipFill>
        <p:spPr>
          <a:xfrm xmlns:a="http://schemas.openxmlformats.org/drawingml/2006/main">
            <a:off x="9944100" y="515458"/>
            <a:ext cx="1104900" cy="359735"/>
          </a:xfrm>
          <a:prstGeom xmlns:a="http://schemas.openxmlformats.org/drawingml/2006/main" prst="rect">
            <a:avLst/>
          </a:prstGeom>
        </p:spPr>
      </p:pic>
      <p:sp>
        <p:nvSpPr>
          <p:cNvPr id="3" name="kicker-04-marker">
            <a:extLst xmlns:a="http://schemas.openxmlformats.org/drawingml/2006/main">
              <a:ext uri="{FF2B5EF4-FFF2-40B4-BE49-F238E27FC236}">
                <a16:creationId xmlns:a16="http://schemas.microsoft.com/office/drawing/2014/main" id="{44BE5100-0A0F-44C9-AED6-19F461B6652F}"/>
              </a:ext>
            </a:extLst>
          </p:cNvPr>
          <p:cNvSpPr>
            <a:spLocks xmlns:a="http://schemas.openxmlformats.org/drawingml/2006/main" noGrp="1"/>
          </p:cNvSpPr>
          <p:nvPr/>
        </p:nvSpPr>
        <p:spPr>
          <a:xfrm xmlns:a="http://schemas.openxmlformats.org/drawingml/2006/main">
            <a:off x="685800" y="600075"/>
            <a:ext cx="323850" cy="19050"/>
          </a:xfrm>
          <a:prstGeom xmlns:a="http://schemas.openxmlformats.org/drawingml/2006/main" prst="rect">
            <a:avLst/>
          </a:prstGeom>
          <a:solidFill xmlns:a="http://schemas.openxmlformats.org/drawingml/2006/main">
            <a:srgbClr val="B8652B"/>
          </a:solidFill>
          <a:ln xmlns:a="http://schemas.openxmlformats.org/drawingml/2006/main" w="0">
            <a:solidFill>
              <a:srgbClr val="B8652B"/>
            </a:solidFill>
            <a:prstDash val="solid"/>
          </a:ln>
        </p:spPr>
      </p:sp>
      <p:sp>
        <p:nvSpPr>
          <p:cNvPr id="4" name="kicker-04-label">
            <a:extLst xmlns:a="http://schemas.openxmlformats.org/drawingml/2006/main">
              <a:ext uri="{FF2B5EF4-FFF2-40B4-BE49-F238E27FC236}">
                <a16:creationId xmlns:a16="http://schemas.microsoft.com/office/drawing/2014/main" id="{B69C05E2-D182-4D5E-9BB3-F1D6D1B68046}"/>
              </a:ext>
            </a:extLst>
          </p:cNvPr>
          <p:cNvSpPr>
            <a:spLocks xmlns:a="http://schemas.openxmlformats.org/drawingml/2006/main" noGrp="1"/>
          </p:cNvSpPr>
          <p:nvPr/>
        </p:nvSpPr>
        <p:spPr>
          <a:xfrm xmlns:a="http://schemas.openxmlformats.org/drawingml/2006/main">
            <a:off x="1123950" y="514350"/>
            <a:ext cx="3429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7B5133"/>
                </a:solidFill>
                <a:latin typeface="Aptos Mono"/>
                <a:ea typeface="Aptos Mono"/>
                <a:cs typeface="Aptos Mono"/>
              </a:defRPr>
            </a:pPr>
            <a:r>
              <a:rPr sz="825" b="1">
                <a:solidFill>
                  <a:srgbClr val="7B5133"/>
                </a:solidFill>
                <a:latin typeface="Aptos Mono"/>
                <a:ea typeface="Aptos Mono"/>
                <a:cs typeface="Aptos Mono"/>
              </a:rPr>
              <a:t>PROPOSED SOLUTION</a:t>
            </a:r>
          </a:p>
        </p:txBody>
      </p:sp>
      <p:sp>
        <p:nvSpPr>
          <p:cNvPr id="5" name="">
            <a:extLst xmlns:a="http://schemas.openxmlformats.org/drawingml/2006/main">
              <a:ext uri="{FF2B5EF4-FFF2-40B4-BE49-F238E27FC236}">
                <a16:creationId xmlns:a16="http://schemas.microsoft.com/office/drawing/2014/main" id="{B57ABE27-6875-4EE5-8D4E-594658EAD3C3}"/>
              </a:ext>
            </a:extLst>
          </p:cNvPr>
          <p:cNvSpPr>
            <a:spLocks xmlns:a="http://schemas.openxmlformats.org/drawingml/2006/main" noGrp="1"/>
          </p:cNvSpPr>
          <p:nvPr/>
        </p:nvSpPr>
        <p:spPr>
          <a:xfrm xmlns:a="http://schemas.openxmlformats.org/drawingml/2006/main">
            <a:off x="685800" y="876300"/>
            <a:ext cx="7848600" cy="895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925" b="0">
                <a:solidFill>
                  <a:srgbClr val="050505"/>
                </a:solidFill>
                <a:latin typeface="Georgia"/>
                <a:ea typeface="Georgia"/>
                <a:cs typeface="Georgia"/>
              </a:defRPr>
            </a:pPr>
            <a:r>
              <a:rPr sz="2925" b="0">
                <a:solidFill>
                  <a:srgbClr val="050505"/>
                </a:solidFill>
                <a:latin typeface="Georgia"/>
                <a:ea typeface="Georgia"/>
                <a:cs typeface="Georgia"/>
              </a:rPr>
              <a:t>One dashboard connects the client conversation to production reality.</a:t>
            </a:r>
          </a:p>
        </p:txBody>
      </p:sp>
      <p:sp>
        <p:nvSpPr>
          <p:cNvPr id="6" name="">
            <a:extLst xmlns:a="http://schemas.openxmlformats.org/drawingml/2006/main">
              <a:ext uri="{FF2B5EF4-FFF2-40B4-BE49-F238E27FC236}">
                <a16:creationId xmlns:a16="http://schemas.microsoft.com/office/drawing/2014/main" id="{8EF728F4-38C5-4886-8D5B-594CF62DB010}"/>
              </a:ext>
            </a:extLst>
          </p:cNvPr>
          <p:cNvSpPr>
            <a:spLocks xmlns:a="http://schemas.openxmlformats.org/drawingml/2006/main" noGrp="1"/>
          </p:cNvSpPr>
          <p:nvPr/>
        </p:nvSpPr>
        <p:spPr>
          <a:xfrm xmlns:a="http://schemas.openxmlformats.org/drawingml/2006/main">
            <a:off x="704850" y="1809750"/>
            <a:ext cx="72390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161615"/>
                </a:solidFill>
                <a:latin typeface="Aptos"/>
                <a:ea typeface="Aptos"/>
                <a:cs typeface="Aptos"/>
              </a:defRPr>
            </a:pPr>
            <a:r>
              <a:rPr sz="1425" b="0">
                <a:solidFill>
                  <a:srgbClr val="161615"/>
                </a:solidFill>
                <a:latin typeface="Aptos"/>
                <a:ea typeface="Aptos"/>
                <a:cs typeface="Aptos"/>
              </a:rPr>
              <a:t>Studio OS becomes the control room for inquiries, orders, inventory, production, and follow-ups.</a:t>
            </a:r>
          </a:p>
        </p:txBody>
      </p:sp>
      <p:sp>
        <p:nvSpPr>
          <p:cNvPr id="7" name="">
            <a:extLst xmlns:a="http://schemas.openxmlformats.org/drawingml/2006/main">
              <a:ext uri="{FF2B5EF4-FFF2-40B4-BE49-F238E27FC236}">
                <a16:creationId xmlns:a16="http://schemas.microsoft.com/office/drawing/2014/main" id="{83E05E96-FB83-44E8-8D86-954B187E29D5}"/>
              </a:ext>
            </a:extLst>
          </p:cNvPr>
          <p:cNvSpPr>
            <a:spLocks xmlns:a="http://schemas.openxmlformats.org/drawingml/2006/main" noGrp="1"/>
          </p:cNvSpPr>
          <p:nvPr/>
        </p:nvSpPr>
        <p:spPr>
          <a:xfrm xmlns:a="http://schemas.openxmlformats.org/drawingml/2006/main">
            <a:off x="666750" y="2457450"/>
            <a:ext cx="10858500" cy="3581400"/>
          </a:xfrm>
          <a:prstGeom xmlns:a="http://schemas.openxmlformats.org/drawingml/2006/main" prst="rect">
            <a:avLst/>
          </a:prstGeom>
          <a:solidFill xmlns:a="http://schemas.openxmlformats.org/drawingml/2006/main">
            <a:srgbClr val="0E0D0B"/>
          </a:solidFill>
          <a:ln xmlns:a="http://schemas.openxmlformats.org/drawingml/2006/main" w="9525">
            <a:solidFill>
              <a:srgbClr val="302A22"/>
            </a:solidFill>
            <a:prstDash val="solid"/>
          </a:ln>
        </p:spPr>
      </p:sp>
      <p:sp>
        <p:nvSpPr>
          <p:cNvPr id="8" name="">
            <a:extLst xmlns:a="http://schemas.openxmlformats.org/drawingml/2006/main">
              <a:ext uri="{FF2B5EF4-FFF2-40B4-BE49-F238E27FC236}">
                <a16:creationId xmlns:a16="http://schemas.microsoft.com/office/drawing/2014/main" id="{4A112D50-59A3-4F09-BDC8-8A1A64858FB6}"/>
              </a:ext>
            </a:extLst>
          </p:cNvPr>
          <p:cNvSpPr>
            <a:spLocks xmlns:a="http://schemas.openxmlformats.org/drawingml/2006/main" noGrp="1"/>
          </p:cNvSpPr>
          <p:nvPr/>
        </p:nvSpPr>
        <p:spPr>
          <a:xfrm xmlns:a="http://schemas.openxmlformats.org/drawingml/2006/main">
            <a:off x="876300" y="2686050"/>
            <a:ext cx="1638300" cy="3124200"/>
          </a:xfrm>
          <a:prstGeom xmlns:a="http://schemas.openxmlformats.org/drawingml/2006/main" prst="rect">
            <a:avLst/>
          </a:prstGeom>
          <a:solidFill xmlns:a="http://schemas.openxmlformats.org/drawingml/2006/main">
            <a:srgbClr val="171511"/>
          </a:solidFill>
          <a:ln xmlns:a="http://schemas.openxmlformats.org/drawingml/2006/main" w="9525">
            <a:solidFill>
              <a:srgbClr val="2E2922"/>
            </a:solidFill>
            <a:prstDash val="solid"/>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fb809f42f4ad47b6"/>
          <a:stretch xmlns:a="http://schemas.openxmlformats.org/drawingml/2006/main"/>
        </p:blipFill>
        <p:spPr>
          <a:xfrm xmlns:a="http://schemas.openxmlformats.org/drawingml/2006/main">
            <a:off x="1066800" y="2918194"/>
            <a:ext cx="914400" cy="297712"/>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BBDCD1D8-E1BD-4473-A02E-1BB71A7623E5}"/>
              </a:ext>
            </a:extLst>
          </p:cNvPr>
          <p:cNvSpPr>
            <a:spLocks xmlns:a="http://schemas.openxmlformats.org/drawingml/2006/main" noGrp="1"/>
          </p:cNvSpPr>
          <p:nvPr/>
        </p:nvSpPr>
        <p:spPr>
          <a:xfrm xmlns:a="http://schemas.openxmlformats.org/drawingml/2006/main">
            <a:off x="1066800" y="3486150"/>
            <a:ext cx="1162050" cy="266700"/>
          </a:xfrm>
          <a:prstGeom xmlns:a="http://schemas.openxmlformats.org/drawingml/2006/main" prst="rect">
            <a:avLst/>
          </a:prstGeom>
          <a:solidFill xmlns:a="http://schemas.openxmlformats.org/drawingml/2006/main">
            <a:srgbClr val="2D241C"/>
          </a:solidFill>
          <a:ln xmlns:a="http://schemas.openxmlformats.org/drawingml/2006/main" w="0">
            <a:solidFill>
              <a:srgbClr val="171511"/>
            </a:solidFill>
            <a:prstDash val="solid"/>
          </a:ln>
        </p:spPr>
      </p:sp>
      <p:sp>
        <p:nvSpPr>
          <p:cNvPr id="11" name="">
            <a:extLst xmlns:a="http://schemas.openxmlformats.org/drawingml/2006/main">
              <a:ext uri="{FF2B5EF4-FFF2-40B4-BE49-F238E27FC236}">
                <a16:creationId xmlns:a16="http://schemas.microsoft.com/office/drawing/2014/main" id="{B8948375-BB2C-4B92-8F4C-6839753850FD}"/>
              </a:ext>
            </a:extLst>
          </p:cNvPr>
          <p:cNvSpPr>
            <a:spLocks xmlns:a="http://schemas.openxmlformats.org/drawingml/2006/main" noGrp="1"/>
          </p:cNvSpPr>
          <p:nvPr/>
        </p:nvSpPr>
        <p:spPr>
          <a:xfrm xmlns:a="http://schemas.openxmlformats.org/drawingml/2006/main">
            <a:off x="1181100" y="3543300"/>
            <a:ext cx="933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F4F0E8"/>
                </a:solidFill>
                <a:latin typeface="Aptos"/>
                <a:ea typeface="Aptos"/>
                <a:cs typeface="Aptos"/>
              </a:defRPr>
            </a:pPr>
            <a:r>
              <a:rPr sz="825" b="1">
                <a:solidFill>
                  <a:srgbClr val="F4F0E8"/>
                </a:solidFill>
                <a:latin typeface="Aptos"/>
                <a:ea typeface="Aptos"/>
                <a:cs typeface="Aptos"/>
              </a:rPr>
              <a:t>CRM Inbox</a:t>
            </a:r>
          </a:p>
        </p:txBody>
      </p:sp>
      <p:sp>
        <p:nvSpPr>
          <p:cNvPr id="12" name="">
            <a:extLst xmlns:a="http://schemas.openxmlformats.org/drawingml/2006/main">
              <a:ext uri="{FF2B5EF4-FFF2-40B4-BE49-F238E27FC236}">
                <a16:creationId xmlns:a16="http://schemas.microsoft.com/office/drawing/2014/main" id="{182939D6-2795-4B1F-9090-71DF0B9BCFE0}"/>
              </a:ext>
            </a:extLst>
          </p:cNvPr>
          <p:cNvSpPr>
            <a:spLocks xmlns:a="http://schemas.openxmlformats.org/drawingml/2006/main" noGrp="1"/>
          </p:cNvSpPr>
          <p:nvPr/>
        </p:nvSpPr>
        <p:spPr>
          <a:xfrm xmlns:a="http://schemas.openxmlformats.org/drawingml/2006/main">
            <a:off x="1066800" y="3848100"/>
            <a:ext cx="1162050" cy="266700"/>
          </a:xfrm>
          <a:prstGeom xmlns:a="http://schemas.openxmlformats.org/drawingml/2006/main" prst="rect">
            <a:avLst/>
          </a:prstGeom>
          <a:solidFill xmlns:a="http://schemas.openxmlformats.org/drawingml/2006/main">
            <a:srgbClr val="171511"/>
          </a:solidFill>
          <a:ln xmlns:a="http://schemas.openxmlformats.org/drawingml/2006/main" w="0">
            <a:solidFill>
              <a:srgbClr val="171511"/>
            </a:solidFill>
            <a:prstDash val="solid"/>
          </a:ln>
        </p:spPr>
      </p:sp>
      <p:sp>
        <p:nvSpPr>
          <p:cNvPr id="13" name="">
            <a:extLst xmlns:a="http://schemas.openxmlformats.org/drawingml/2006/main">
              <a:ext uri="{FF2B5EF4-FFF2-40B4-BE49-F238E27FC236}">
                <a16:creationId xmlns:a16="http://schemas.microsoft.com/office/drawing/2014/main" id="{BE470A62-25E4-4C32-8F03-B23594EE69CA}"/>
              </a:ext>
            </a:extLst>
          </p:cNvPr>
          <p:cNvSpPr>
            <a:spLocks xmlns:a="http://schemas.openxmlformats.org/drawingml/2006/main" noGrp="1"/>
          </p:cNvSpPr>
          <p:nvPr/>
        </p:nvSpPr>
        <p:spPr>
          <a:xfrm xmlns:a="http://schemas.openxmlformats.org/drawingml/2006/main">
            <a:off x="1181100" y="3905250"/>
            <a:ext cx="933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B7B7B0"/>
                </a:solidFill>
                <a:latin typeface="Aptos"/>
                <a:ea typeface="Aptos"/>
                <a:cs typeface="Aptos"/>
              </a:defRPr>
            </a:pPr>
            <a:r>
              <a:rPr sz="825" b="0">
                <a:solidFill>
                  <a:srgbClr val="B7B7B0"/>
                </a:solidFill>
                <a:latin typeface="Aptos"/>
                <a:ea typeface="Aptos"/>
                <a:cs typeface="Aptos"/>
              </a:rPr>
              <a:t>Orders</a:t>
            </a:r>
          </a:p>
        </p:txBody>
      </p:sp>
      <p:sp>
        <p:nvSpPr>
          <p:cNvPr id="14" name="">
            <a:extLst xmlns:a="http://schemas.openxmlformats.org/drawingml/2006/main">
              <a:ext uri="{FF2B5EF4-FFF2-40B4-BE49-F238E27FC236}">
                <a16:creationId xmlns:a16="http://schemas.microsoft.com/office/drawing/2014/main" id="{82D1427C-150F-4732-9B1C-261811767FC7}"/>
              </a:ext>
            </a:extLst>
          </p:cNvPr>
          <p:cNvSpPr>
            <a:spLocks xmlns:a="http://schemas.openxmlformats.org/drawingml/2006/main" noGrp="1"/>
          </p:cNvSpPr>
          <p:nvPr/>
        </p:nvSpPr>
        <p:spPr>
          <a:xfrm xmlns:a="http://schemas.openxmlformats.org/drawingml/2006/main">
            <a:off x="1066800" y="4210050"/>
            <a:ext cx="1162050" cy="266700"/>
          </a:xfrm>
          <a:prstGeom xmlns:a="http://schemas.openxmlformats.org/drawingml/2006/main" prst="rect">
            <a:avLst/>
          </a:prstGeom>
          <a:solidFill xmlns:a="http://schemas.openxmlformats.org/drawingml/2006/main">
            <a:srgbClr val="171511"/>
          </a:solidFill>
          <a:ln xmlns:a="http://schemas.openxmlformats.org/drawingml/2006/main" w="0">
            <a:solidFill>
              <a:srgbClr val="171511"/>
            </a:solidFill>
            <a:prstDash val="solid"/>
          </a:ln>
        </p:spPr>
      </p:sp>
      <p:sp>
        <p:nvSpPr>
          <p:cNvPr id="15" name="">
            <a:extLst xmlns:a="http://schemas.openxmlformats.org/drawingml/2006/main">
              <a:ext uri="{FF2B5EF4-FFF2-40B4-BE49-F238E27FC236}">
                <a16:creationId xmlns:a16="http://schemas.microsoft.com/office/drawing/2014/main" id="{D9927155-C55C-4D2F-BE1C-B156244E9A90}"/>
              </a:ext>
            </a:extLst>
          </p:cNvPr>
          <p:cNvSpPr>
            <a:spLocks xmlns:a="http://schemas.openxmlformats.org/drawingml/2006/main" noGrp="1"/>
          </p:cNvSpPr>
          <p:nvPr/>
        </p:nvSpPr>
        <p:spPr>
          <a:xfrm xmlns:a="http://schemas.openxmlformats.org/drawingml/2006/main">
            <a:off x="1181100" y="4267200"/>
            <a:ext cx="933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B7B7B0"/>
                </a:solidFill>
                <a:latin typeface="Aptos"/>
                <a:ea typeface="Aptos"/>
                <a:cs typeface="Aptos"/>
              </a:defRPr>
            </a:pPr>
            <a:r>
              <a:rPr sz="825" b="0">
                <a:solidFill>
                  <a:srgbClr val="B7B7B0"/>
                </a:solidFill>
                <a:latin typeface="Aptos"/>
                <a:ea typeface="Aptos"/>
                <a:cs typeface="Aptos"/>
              </a:rPr>
              <a:t>Inventory</a:t>
            </a:r>
          </a:p>
        </p:txBody>
      </p:sp>
      <p:sp>
        <p:nvSpPr>
          <p:cNvPr id="16" name="">
            <a:extLst xmlns:a="http://schemas.openxmlformats.org/drawingml/2006/main">
              <a:ext uri="{FF2B5EF4-FFF2-40B4-BE49-F238E27FC236}">
                <a16:creationId xmlns:a16="http://schemas.microsoft.com/office/drawing/2014/main" id="{9F93D1E8-38E6-4893-B294-EE9CF6DC61D4}"/>
              </a:ext>
            </a:extLst>
          </p:cNvPr>
          <p:cNvSpPr>
            <a:spLocks xmlns:a="http://schemas.openxmlformats.org/drawingml/2006/main" noGrp="1"/>
          </p:cNvSpPr>
          <p:nvPr/>
        </p:nvSpPr>
        <p:spPr>
          <a:xfrm xmlns:a="http://schemas.openxmlformats.org/drawingml/2006/main">
            <a:off x="1066800" y="4572000"/>
            <a:ext cx="1162050" cy="266700"/>
          </a:xfrm>
          <a:prstGeom xmlns:a="http://schemas.openxmlformats.org/drawingml/2006/main" prst="rect">
            <a:avLst/>
          </a:prstGeom>
          <a:solidFill xmlns:a="http://schemas.openxmlformats.org/drawingml/2006/main">
            <a:srgbClr val="171511"/>
          </a:solidFill>
          <a:ln xmlns:a="http://schemas.openxmlformats.org/drawingml/2006/main" w="0">
            <a:solidFill>
              <a:srgbClr val="171511"/>
            </a:solidFill>
            <a:prstDash val="solid"/>
          </a:ln>
        </p:spPr>
      </p:sp>
      <p:sp>
        <p:nvSpPr>
          <p:cNvPr id="17" name="">
            <a:extLst xmlns:a="http://schemas.openxmlformats.org/drawingml/2006/main">
              <a:ext uri="{FF2B5EF4-FFF2-40B4-BE49-F238E27FC236}">
                <a16:creationId xmlns:a16="http://schemas.microsoft.com/office/drawing/2014/main" id="{23E2211F-3899-408E-BE30-25C59BD4AAFD}"/>
              </a:ext>
            </a:extLst>
          </p:cNvPr>
          <p:cNvSpPr>
            <a:spLocks xmlns:a="http://schemas.openxmlformats.org/drawingml/2006/main" noGrp="1"/>
          </p:cNvSpPr>
          <p:nvPr/>
        </p:nvSpPr>
        <p:spPr>
          <a:xfrm xmlns:a="http://schemas.openxmlformats.org/drawingml/2006/main">
            <a:off x="1181100" y="4629150"/>
            <a:ext cx="933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B7B7B0"/>
                </a:solidFill>
                <a:latin typeface="Aptos"/>
                <a:ea typeface="Aptos"/>
                <a:cs typeface="Aptos"/>
              </a:defRPr>
            </a:pPr>
            <a:r>
              <a:rPr sz="825" b="0">
                <a:solidFill>
                  <a:srgbClr val="B7B7B0"/>
                </a:solidFill>
                <a:latin typeface="Aptos"/>
                <a:ea typeface="Aptos"/>
                <a:cs typeface="Aptos"/>
              </a:rPr>
              <a:t>Production</a:t>
            </a:r>
          </a:p>
        </p:txBody>
      </p:sp>
      <p:sp>
        <p:nvSpPr>
          <p:cNvPr id="18" name="">
            <a:extLst xmlns:a="http://schemas.openxmlformats.org/drawingml/2006/main">
              <a:ext uri="{FF2B5EF4-FFF2-40B4-BE49-F238E27FC236}">
                <a16:creationId xmlns:a16="http://schemas.microsoft.com/office/drawing/2014/main" id="{40396725-CC72-4AE0-A25C-3DB286A9828E}"/>
              </a:ext>
            </a:extLst>
          </p:cNvPr>
          <p:cNvSpPr>
            <a:spLocks xmlns:a="http://schemas.openxmlformats.org/drawingml/2006/main" noGrp="1"/>
          </p:cNvSpPr>
          <p:nvPr/>
        </p:nvSpPr>
        <p:spPr>
          <a:xfrm xmlns:a="http://schemas.openxmlformats.org/drawingml/2006/main">
            <a:off x="1066800" y="4933950"/>
            <a:ext cx="1162050" cy="266700"/>
          </a:xfrm>
          <a:prstGeom xmlns:a="http://schemas.openxmlformats.org/drawingml/2006/main" prst="rect">
            <a:avLst/>
          </a:prstGeom>
          <a:solidFill xmlns:a="http://schemas.openxmlformats.org/drawingml/2006/main">
            <a:srgbClr val="171511"/>
          </a:solidFill>
          <a:ln xmlns:a="http://schemas.openxmlformats.org/drawingml/2006/main" w="0">
            <a:solidFill>
              <a:srgbClr val="171511"/>
            </a:solidFill>
            <a:prstDash val="solid"/>
          </a:ln>
        </p:spPr>
      </p:sp>
      <p:sp>
        <p:nvSpPr>
          <p:cNvPr id="19" name="">
            <a:extLst xmlns:a="http://schemas.openxmlformats.org/drawingml/2006/main">
              <a:ext uri="{FF2B5EF4-FFF2-40B4-BE49-F238E27FC236}">
                <a16:creationId xmlns:a16="http://schemas.microsoft.com/office/drawing/2014/main" id="{5EEA74AF-F75C-40DE-8A5F-ECC774EB1DC9}"/>
              </a:ext>
            </a:extLst>
          </p:cNvPr>
          <p:cNvSpPr>
            <a:spLocks xmlns:a="http://schemas.openxmlformats.org/drawingml/2006/main" noGrp="1"/>
          </p:cNvSpPr>
          <p:nvPr/>
        </p:nvSpPr>
        <p:spPr>
          <a:xfrm xmlns:a="http://schemas.openxmlformats.org/drawingml/2006/main">
            <a:off x="1181100" y="4991100"/>
            <a:ext cx="933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B7B7B0"/>
                </a:solidFill>
                <a:latin typeface="Aptos"/>
                <a:ea typeface="Aptos"/>
                <a:cs typeface="Aptos"/>
              </a:defRPr>
            </a:pPr>
            <a:r>
              <a:rPr sz="825" b="0">
                <a:solidFill>
                  <a:srgbClr val="B7B7B0"/>
                </a:solidFill>
                <a:latin typeface="Aptos"/>
                <a:ea typeface="Aptos"/>
                <a:cs typeface="Aptos"/>
              </a:rPr>
              <a:t>Catalog</a:t>
            </a:r>
          </a:p>
        </p:txBody>
      </p:sp>
      <p:sp>
        <p:nvSpPr>
          <p:cNvPr id="20" name="">
            <a:extLst xmlns:a="http://schemas.openxmlformats.org/drawingml/2006/main">
              <a:ext uri="{FF2B5EF4-FFF2-40B4-BE49-F238E27FC236}">
                <a16:creationId xmlns:a16="http://schemas.microsoft.com/office/drawing/2014/main" id="{CDCEC823-AD35-4F52-85B3-F615A9CAD818}"/>
              </a:ext>
            </a:extLst>
          </p:cNvPr>
          <p:cNvSpPr>
            <a:spLocks xmlns:a="http://schemas.openxmlformats.org/drawingml/2006/main" noGrp="1"/>
          </p:cNvSpPr>
          <p:nvPr/>
        </p:nvSpPr>
        <p:spPr>
          <a:xfrm xmlns:a="http://schemas.openxmlformats.org/drawingml/2006/main">
            <a:off x="1066800" y="5295900"/>
            <a:ext cx="1162050" cy="266700"/>
          </a:xfrm>
          <a:prstGeom xmlns:a="http://schemas.openxmlformats.org/drawingml/2006/main" prst="rect">
            <a:avLst/>
          </a:prstGeom>
          <a:solidFill xmlns:a="http://schemas.openxmlformats.org/drawingml/2006/main">
            <a:srgbClr val="171511"/>
          </a:solidFill>
          <a:ln xmlns:a="http://schemas.openxmlformats.org/drawingml/2006/main" w="0">
            <a:solidFill>
              <a:srgbClr val="171511"/>
            </a:solidFill>
            <a:prstDash val="solid"/>
          </a:ln>
        </p:spPr>
      </p:sp>
      <p:sp>
        <p:nvSpPr>
          <p:cNvPr id="21" name="">
            <a:extLst xmlns:a="http://schemas.openxmlformats.org/drawingml/2006/main">
              <a:ext uri="{FF2B5EF4-FFF2-40B4-BE49-F238E27FC236}">
                <a16:creationId xmlns:a16="http://schemas.microsoft.com/office/drawing/2014/main" id="{C9E9FB71-35D6-4696-8C54-0B275A747EA8}"/>
              </a:ext>
            </a:extLst>
          </p:cNvPr>
          <p:cNvSpPr>
            <a:spLocks xmlns:a="http://schemas.openxmlformats.org/drawingml/2006/main" noGrp="1"/>
          </p:cNvSpPr>
          <p:nvPr/>
        </p:nvSpPr>
        <p:spPr>
          <a:xfrm xmlns:a="http://schemas.openxmlformats.org/drawingml/2006/main">
            <a:off x="1181100" y="5353050"/>
            <a:ext cx="933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B7B7B0"/>
                </a:solidFill>
                <a:latin typeface="Aptos"/>
                <a:ea typeface="Aptos"/>
                <a:cs typeface="Aptos"/>
              </a:defRPr>
            </a:pPr>
            <a:r>
              <a:rPr sz="825" b="0">
                <a:solidFill>
                  <a:srgbClr val="B7B7B0"/>
                </a:solidFill>
                <a:latin typeface="Aptos"/>
                <a:ea typeface="Aptos"/>
                <a:cs typeface="Aptos"/>
              </a:rPr>
              <a:t>Reports</a:t>
            </a:r>
          </a:p>
        </p:txBody>
      </p:sp>
      <p:sp>
        <p:nvSpPr>
          <p:cNvPr id="22" name="">
            <a:extLst xmlns:a="http://schemas.openxmlformats.org/drawingml/2006/main">
              <a:ext uri="{FF2B5EF4-FFF2-40B4-BE49-F238E27FC236}">
                <a16:creationId xmlns:a16="http://schemas.microsoft.com/office/drawing/2014/main" id="{F83612D7-F84C-4D2A-9498-EEEFA91F26BA}"/>
              </a:ext>
            </a:extLst>
          </p:cNvPr>
          <p:cNvSpPr>
            <a:spLocks xmlns:a="http://schemas.openxmlformats.org/drawingml/2006/main" noGrp="1"/>
          </p:cNvSpPr>
          <p:nvPr/>
        </p:nvSpPr>
        <p:spPr>
          <a:xfrm xmlns:a="http://schemas.openxmlformats.org/drawingml/2006/main">
            <a:off x="2800350" y="2819400"/>
            <a:ext cx="1143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0">
                <a:solidFill>
                  <a:srgbClr val="F4F0E8"/>
                </a:solidFill>
                <a:latin typeface="Georgia"/>
                <a:ea typeface="Georgia"/>
                <a:cs typeface="Georgia"/>
              </a:defRPr>
            </a:pPr>
            <a:r>
              <a:rPr sz="1875" b="0">
                <a:solidFill>
                  <a:srgbClr val="F4F0E8"/>
                </a:solidFill>
                <a:latin typeface="Georgia"/>
                <a:ea typeface="Georgia"/>
                <a:cs typeface="Georgia"/>
              </a:rPr>
              <a:t>Today</a:t>
            </a:r>
          </a:p>
        </p:txBody>
      </p:sp>
      <p:sp>
        <p:nvSpPr>
          <p:cNvPr id="23" name="">
            <a:extLst xmlns:a="http://schemas.openxmlformats.org/drawingml/2006/main">
              <a:ext uri="{FF2B5EF4-FFF2-40B4-BE49-F238E27FC236}">
                <a16:creationId xmlns:a16="http://schemas.microsoft.com/office/drawing/2014/main" id="{31ED7B85-7FE2-490E-A3BE-A4634E01F5C6}"/>
              </a:ext>
            </a:extLst>
          </p:cNvPr>
          <p:cNvSpPr>
            <a:spLocks xmlns:a="http://schemas.openxmlformats.org/drawingml/2006/main" noGrp="1"/>
          </p:cNvSpPr>
          <p:nvPr/>
        </p:nvSpPr>
        <p:spPr>
          <a:xfrm xmlns:a="http://schemas.openxmlformats.org/drawingml/2006/main">
            <a:off x="2800350" y="3238500"/>
            <a:ext cx="11239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0">
                <a:solidFill>
                  <a:srgbClr val="F4F0E8"/>
                </a:solidFill>
                <a:latin typeface="Georgia"/>
                <a:ea typeface="Georgia"/>
                <a:cs typeface="Georgia"/>
              </a:defRPr>
            </a:pPr>
            <a:r>
              <a:rPr sz="2100" b="0">
                <a:solidFill>
                  <a:srgbClr val="F4F0E8"/>
                </a:solidFill>
                <a:latin typeface="Georgia"/>
                <a:ea typeface="Georgia"/>
                <a:cs typeface="Georgia"/>
              </a:rPr>
              <a:t>18</a:t>
            </a:r>
          </a:p>
        </p:txBody>
      </p:sp>
      <p:sp>
        <p:nvSpPr>
          <p:cNvPr id="24" name="">
            <a:extLst xmlns:a="http://schemas.openxmlformats.org/drawingml/2006/main">
              <a:ext uri="{FF2B5EF4-FFF2-40B4-BE49-F238E27FC236}">
                <a16:creationId xmlns:a16="http://schemas.microsoft.com/office/drawing/2014/main" id="{805D22C7-EDBC-4419-9251-1B88444FCD4C}"/>
              </a:ext>
            </a:extLst>
          </p:cNvPr>
          <p:cNvSpPr>
            <a:spLocks xmlns:a="http://schemas.openxmlformats.org/drawingml/2006/main" noGrp="1"/>
          </p:cNvSpPr>
          <p:nvPr/>
        </p:nvSpPr>
        <p:spPr>
          <a:xfrm xmlns:a="http://schemas.openxmlformats.org/drawingml/2006/main">
            <a:off x="2800350" y="3581400"/>
            <a:ext cx="11239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B7B7B0"/>
                </a:solidFill>
                <a:latin typeface="Aptos Mono"/>
                <a:ea typeface="Aptos Mono"/>
                <a:cs typeface="Aptos Mono"/>
              </a:defRPr>
            </a:pPr>
            <a:r>
              <a:rPr sz="900" b="1">
                <a:solidFill>
                  <a:srgbClr val="B7B7B0"/>
                </a:solidFill>
                <a:latin typeface="Aptos Mono"/>
                <a:ea typeface="Aptos Mono"/>
                <a:cs typeface="Aptos Mono"/>
              </a:rPr>
              <a:t>open inquiries</a:t>
            </a:r>
          </a:p>
        </p:txBody>
      </p:sp>
      <p:sp>
        <p:nvSpPr>
          <p:cNvPr id="25" name="">
            <a:extLst xmlns:a="http://schemas.openxmlformats.org/drawingml/2006/main">
              <a:ext uri="{FF2B5EF4-FFF2-40B4-BE49-F238E27FC236}">
                <a16:creationId xmlns:a16="http://schemas.microsoft.com/office/drawing/2014/main" id="{7F4E5F3C-5E9F-4352-A2A0-9E94F00A2724}"/>
              </a:ext>
            </a:extLst>
          </p:cNvPr>
          <p:cNvSpPr>
            <a:spLocks xmlns:a="http://schemas.openxmlformats.org/drawingml/2006/main" noGrp="1"/>
          </p:cNvSpPr>
          <p:nvPr/>
        </p:nvSpPr>
        <p:spPr>
          <a:xfrm xmlns:a="http://schemas.openxmlformats.org/drawingml/2006/main">
            <a:off x="4095750" y="3238500"/>
            <a:ext cx="11239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0">
                <a:solidFill>
                  <a:srgbClr val="F4F0E8"/>
                </a:solidFill>
                <a:latin typeface="Georgia"/>
                <a:ea typeface="Georgia"/>
                <a:cs typeface="Georgia"/>
              </a:defRPr>
            </a:pPr>
            <a:r>
              <a:rPr sz="2100" b="0">
                <a:solidFill>
                  <a:srgbClr val="F4F0E8"/>
                </a:solidFill>
                <a:latin typeface="Georgia"/>
                <a:ea typeface="Georgia"/>
                <a:cs typeface="Georgia"/>
              </a:rPr>
              <a:t>7</a:t>
            </a:r>
          </a:p>
        </p:txBody>
      </p:sp>
      <p:sp>
        <p:nvSpPr>
          <p:cNvPr id="26" name="">
            <a:extLst xmlns:a="http://schemas.openxmlformats.org/drawingml/2006/main">
              <a:ext uri="{FF2B5EF4-FFF2-40B4-BE49-F238E27FC236}">
                <a16:creationId xmlns:a16="http://schemas.microsoft.com/office/drawing/2014/main" id="{67D14EF0-FE7A-4714-940E-C6E30045D688}"/>
              </a:ext>
            </a:extLst>
          </p:cNvPr>
          <p:cNvSpPr>
            <a:spLocks xmlns:a="http://schemas.openxmlformats.org/drawingml/2006/main" noGrp="1"/>
          </p:cNvSpPr>
          <p:nvPr/>
        </p:nvSpPr>
        <p:spPr>
          <a:xfrm xmlns:a="http://schemas.openxmlformats.org/drawingml/2006/main">
            <a:off x="4095750" y="3581400"/>
            <a:ext cx="11239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B7B7B0"/>
                </a:solidFill>
                <a:latin typeface="Aptos Mono"/>
                <a:ea typeface="Aptos Mono"/>
                <a:cs typeface="Aptos Mono"/>
              </a:defRPr>
            </a:pPr>
            <a:r>
              <a:rPr sz="900" b="1">
                <a:solidFill>
                  <a:srgbClr val="B7B7B0"/>
                </a:solidFill>
                <a:latin typeface="Aptos Mono"/>
                <a:ea typeface="Aptos Mono"/>
                <a:cs typeface="Aptos Mono"/>
              </a:rPr>
              <a:t>active orders</a:t>
            </a:r>
          </a:p>
        </p:txBody>
      </p:sp>
      <p:sp>
        <p:nvSpPr>
          <p:cNvPr id="27" name="">
            <a:extLst xmlns:a="http://schemas.openxmlformats.org/drawingml/2006/main">
              <a:ext uri="{FF2B5EF4-FFF2-40B4-BE49-F238E27FC236}">
                <a16:creationId xmlns:a16="http://schemas.microsoft.com/office/drawing/2014/main" id="{229DAA83-BB3B-4104-9AB1-12A4B9F9C359}"/>
              </a:ext>
            </a:extLst>
          </p:cNvPr>
          <p:cNvSpPr>
            <a:spLocks xmlns:a="http://schemas.openxmlformats.org/drawingml/2006/main" noGrp="1"/>
          </p:cNvSpPr>
          <p:nvPr/>
        </p:nvSpPr>
        <p:spPr>
          <a:xfrm xmlns:a="http://schemas.openxmlformats.org/drawingml/2006/main">
            <a:off x="5391150" y="3238500"/>
            <a:ext cx="1257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0">
                <a:solidFill>
                  <a:srgbClr val="F4F0E8"/>
                </a:solidFill>
                <a:latin typeface="Georgia"/>
                <a:ea typeface="Georgia"/>
                <a:cs typeface="Georgia"/>
              </a:defRPr>
            </a:pPr>
            <a:r>
              <a:rPr sz="2100" b="0">
                <a:solidFill>
                  <a:srgbClr val="F4F0E8"/>
                </a:solidFill>
                <a:latin typeface="Georgia"/>
                <a:ea typeface="Georgia"/>
                <a:cs typeface="Georgia"/>
              </a:rPr>
              <a:t>3</a:t>
            </a:r>
          </a:p>
        </p:txBody>
      </p:sp>
      <p:sp>
        <p:nvSpPr>
          <p:cNvPr id="28" name="">
            <a:extLst xmlns:a="http://schemas.openxmlformats.org/drawingml/2006/main">
              <a:ext uri="{FF2B5EF4-FFF2-40B4-BE49-F238E27FC236}">
                <a16:creationId xmlns:a16="http://schemas.microsoft.com/office/drawing/2014/main" id="{8D61A23D-3BCC-426A-B66F-578682687EFD}"/>
              </a:ext>
            </a:extLst>
          </p:cNvPr>
          <p:cNvSpPr>
            <a:spLocks xmlns:a="http://schemas.openxmlformats.org/drawingml/2006/main" noGrp="1"/>
          </p:cNvSpPr>
          <p:nvPr/>
        </p:nvSpPr>
        <p:spPr>
          <a:xfrm xmlns:a="http://schemas.openxmlformats.org/drawingml/2006/main">
            <a:off x="5391150" y="3581400"/>
            <a:ext cx="1257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B7B7B0"/>
                </a:solidFill>
                <a:latin typeface="Aptos Mono"/>
                <a:ea typeface="Aptos Mono"/>
                <a:cs typeface="Aptos Mono"/>
              </a:defRPr>
            </a:pPr>
            <a:r>
              <a:rPr sz="900" b="1">
                <a:solidFill>
                  <a:srgbClr val="B7B7B0"/>
                </a:solidFill>
                <a:latin typeface="Aptos Mono"/>
                <a:ea typeface="Aptos Mono"/>
                <a:cs typeface="Aptos Mono"/>
              </a:rPr>
              <a:t>low-stock SKUs</a:t>
            </a:r>
          </a:p>
        </p:txBody>
      </p:sp>
      <p:sp>
        <p:nvSpPr>
          <p:cNvPr id="29" name="">
            <a:extLst xmlns:a="http://schemas.openxmlformats.org/drawingml/2006/main">
              <a:ext uri="{FF2B5EF4-FFF2-40B4-BE49-F238E27FC236}">
                <a16:creationId xmlns:a16="http://schemas.microsoft.com/office/drawing/2014/main" id="{8B536108-2CA2-4837-B583-F533B31C1E59}"/>
              </a:ext>
            </a:extLst>
          </p:cNvPr>
          <p:cNvSpPr>
            <a:spLocks xmlns:a="http://schemas.openxmlformats.org/drawingml/2006/main" noGrp="1"/>
          </p:cNvSpPr>
          <p:nvPr/>
        </p:nvSpPr>
        <p:spPr>
          <a:xfrm xmlns:a="http://schemas.openxmlformats.org/drawingml/2006/main">
            <a:off x="6819900" y="3238500"/>
            <a:ext cx="13525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0">
                <a:solidFill>
                  <a:srgbClr val="F4F0E8"/>
                </a:solidFill>
                <a:latin typeface="Georgia"/>
                <a:ea typeface="Georgia"/>
                <a:cs typeface="Georgia"/>
              </a:defRPr>
            </a:pPr>
            <a:r>
              <a:rPr sz="2100" b="0">
                <a:solidFill>
                  <a:srgbClr val="F4F0E8"/>
                </a:solidFill>
                <a:latin typeface="Georgia"/>
                <a:ea typeface="Georgia"/>
                <a:cs typeface="Georgia"/>
              </a:rPr>
              <a:t>5</a:t>
            </a:r>
          </a:p>
        </p:txBody>
      </p:sp>
      <p:sp>
        <p:nvSpPr>
          <p:cNvPr id="30" name="">
            <a:extLst xmlns:a="http://schemas.openxmlformats.org/drawingml/2006/main">
              <a:ext uri="{FF2B5EF4-FFF2-40B4-BE49-F238E27FC236}">
                <a16:creationId xmlns:a16="http://schemas.microsoft.com/office/drawing/2014/main" id="{C213DCC6-F102-443B-AA86-E045BEA6F548}"/>
              </a:ext>
            </a:extLst>
          </p:cNvPr>
          <p:cNvSpPr>
            <a:spLocks xmlns:a="http://schemas.openxmlformats.org/drawingml/2006/main" noGrp="1"/>
          </p:cNvSpPr>
          <p:nvPr/>
        </p:nvSpPr>
        <p:spPr>
          <a:xfrm xmlns:a="http://schemas.openxmlformats.org/drawingml/2006/main">
            <a:off x="6819900" y="3581400"/>
            <a:ext cx="13525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B7B7B0"/>
                </a:solidFill>
                <a:latin typeface="Aptos Mono"/>
                <a:ea typeface="Aptos Mono"/>
                <a:cs typeface="Aptos Mono"/>
              </a:defRPr>
            </a:pPr>
            <a:r>
              <a:rPr sz="900" b="1">
                <a:solidFill>
                  <a:srgbClr val="B7B7B0"/>
                </a:solidFill>
                <a:latin typeface="Aptos Mono"/>
                <a:ea typeface="Aptos Mono"/>
                <a:cs typeface="Aptos Mono"/>
              </a:rPr>
              <a:t>production tasks</a:t>
            </a:r>
          </a:p>
        </p:txBody>
      </p:sp>
      <p:sp>
        <p:nvSpPr>
          <p:cNvPr id="31" name="">
            <a:extLst xmlns:a="http://schemas.openxmlformats.org/drawingml/2006/main">
              <a:ext uri="{FF2B5EF4-FFF2-40B4-BE49-F238E27FC236}">
                <a16:creationId xmlns:a16="http://schemas.microsoft.com/office/drawing/2014/main" id="{65954EFC-6781-4615-9809-7DA9F8747EC2}"/>
              </a:ext>
            </a:extLst>
          </p:cNvPr>
          <p:cNvSpPr>
            <a:spLocks xmlns:a="http://schemas.openxmlformats.org/drawingml/2006/main" noGrp="1"/>
          </p:cNvSpPr>
          <p:nvPr/>
        </p:nvSpPr>
        <p:spPr>
          <a:xfrm xmlns:a="http://schemas.openxmlformats.org/drawingml/2006/main">
            <a:off x="2800350" y="4095750"/>
            <a:ext cx="4933950" cy="1581150"/>
          </a:xfrm>
          <a:prstGeom xmlns:a="http://schemas.openxmlformats.org/drawingml/2006/main" prst="rect">
            <a:avLst/>
          </a:prstGeom>
          <a:solidFill xmlns:a="http://schemas.openxmlformats.org/drawingml/2006/main">
            <a:srgbClr val="15130F"/>
          </a:solidFill>
          <a:ln xmlns:a="http://schemas.openxmlformats.org/drawingml/2006/main" w="9525">
            <a:solidFill>
              <a:srgbClr val="302A22"/>
            </a:solidFill>
            <a:prstDash val="solid"/>
          </a:ln>
        </p:spPr>
      </p:sp>
      <p:sp>
        <p:nvSpPr>
          <p:cNvPr id="32" name="">
            <a:extLst xmlns:a="http://schemas.openxmlformats.org/drawingml/2006/main">
              <a:ext uri="{FF2B5EF4-FFF2-40B4-BE49-F238E27FC236}">
                <a16:creationId xmlns:a16="http://schemas.microsoft.com/office/drawing/2014/main" id="{79895BBC-CBD3-49B3-89BB-32AB93E38427}"/>
              </a:ext>
            </a:extLst>
          </p:cNvPr>
          <p:cNvSpPr>
            <a:spLocks xmlns:a="http://schemas.openxmlformats.org/drawingml/2006/main" noGrp="1"/>
          </p:cNvSpPr>
          <p:nvPr/>
        </p:nvSpPr>
        <p:spPr>
          <a:xfrm xmlns:a="http://schemas.openxmlformats.org/drawingml/2006/main">
            <a:off x="3028950" y="4305300"/>
            <a:ext cx="1714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B7B7B0"/>
                </a:solidFill>
                <a:latin typeface="Aptos Mono"/>
                <a:ea typeface="Aptos Mono"/>
                <a:cs typeface="Aptos Mono"/>
              </a:defRPr>
            </a:pPr>
            <a:r>
              <a:rPr sz="825" b="1">
                <a:solidFill>
                  <a:srgbClr val="B7B7B0"/>
                </a:solidFill>
                <a:latin typeface="Aptos Mono"/>
                <a:ea typeface="Aptos Mono"/>
                <a:cs typeface="Aptos Mono"/>
              </a:rPr>
              <a:t>ORDER QUEUE</a:t>
            </a:r>
          </a:p>
        </p:txBody>
      </p:sp>
      <p:sp>
        <p:nvSpPr>
          <p:cNvPr id="33" name="">
            <a:extLst xmlns:a="http://schemas.openxmlformats.org/drawingml/2006/main">
              <a:ext uri="{FF2B5EF4-FFF2-40B4-BE49-F238E27FC236}">
                <a16:creationId xmlns:a16="http://schemas.microsoft.com/office/drawing/2014/main" id="{07FF6EC5-4500-48E9-8C02-7B8BA4826879}"/>
              </a:ext>
            </a:extLst>
          </p:cNvPr>
          <p:cNvSpPr>
            <a:spLocks xmlns:a="http://schemas.openxmlformats.org/drawingml/2006/main" noGrp="1"/>
          </p:cNvSpPr>
          <p:nvPr/>
        </p:nvSpPr>
        <p:spPr>
          <a:xfrm xmlns:a="http://schemas.openxmlformats.org/drawingml/2006/main">
            <a:off x="3028950" y="4972050"/>
            <a:ext cx="4476750" cy="9525"/>
          </a:xfrm>
          <a:prstGeom xmlns:a="http://schemas.openxmlformats.org/drawingml/2006/main" prst="rect">
            <a:avLst/>
          </a:prstGeom>
          <a:solidFill xmlns:a="http://schemas.openxmlformats.org/drawingml/2006/main">
            <a:srgbClr val="28251F"/>
          </a:solidFill>
          <a:ln xmlns:a="http://schemas.openxmlformats.org/drawingml/2006/main" w="0">
            <a:solidFill>
              <a:srgbClr val="28251F"/>
            </a:solidFill>
            <a:prstDash val="solid"/>
          </a:ln>
        </p:spPr>
      </p:sp>
      <p:sp>
        <p:nvSpPr>
          <p:cNvPr id="34" name="">
            <a:extLst xmlns:a="http://schemas.openxmlformats.org/drawingml/2006/main">
              <a:ext uri="{FF2B5EF4-FFF2-40B4-BE49-F238E27FC236}">
                <a16:creationId xmlns:a16="http://schemas.microsoft.com/office/drawing/2014/main" id="{FC3DBCB0-B8E0-431E-AB4F-65E1D1F91887}"/>
              </a:ext>
            </a:extLst>
          </p:cNvPr>
          <p:cNvSpPr>
            <a:spLocks xmlns:a="http://schemas.openxmlformats.org/drawingml/2006/main" noGrp="1"/>
          </p:cNvSpPr>
          <p:nvPr/>
        </p:nvSpPr>
        <p:spPr>
          <a:xfrm xmlns:a="http://schemas.openxmlformats.org/drawingml/2006/main">
            <a:off x="3028950" y="4657725"/>
            <a:ext cx="6858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B7B7B0"/>
                </a:solidFill>
                <a:latin typeface="Aptos Mono"/>
                <a:ea typeface="Aptos Mono"/>
                <a:cs typeface="Aptos Mono"/>
              </a:defRPr>
            </a:pPr>
            <a:r>
              <a:rPr sz="900" b="1">
                <a:solidFill>
                  <a:srgbClr val="B7B7B0"/>
                </a:solidFill>
                <a:latin typeface="Aptos Mono"/>
                <a:ea typeface="Aptos Mono"/>
                <a:cs typeface="Aptos Mono"/>
              </a:rPr>
              <a:t>#1042</a:t>
            </a:r>
          </a:p>
        </p:txBody>
      </p:sp>
      <p:sp>
        <p:nvSpPr>
          <p:cNvPr id="35" name="">
            <a:extLst xmlns:a="http://schemas.openxmlformats.org/drawingml/2006/main">
              <a:ext uri="{FF2B5EF4-FFF2-40B4-BE49-F238E27FC236}">
                <a16:creationId xmlns:a16="http://schemas.microsoft.com/office/drawing/2014/main" id="{62365708-B7DB-4F42-86A9-D9A000F3A7AC}"/>
              </a:ext>
            </a:extLst>
          </p:cNvPr>
          <p:cNvSpPr>
            <a:spLocks xmlns:a="http://schemas.openxmlformats.org/drawingml/2006/main" noGrp="1"/>
          </p:cNvSpPr>
          <p:nvPr/>
        </p:nvSpPr>
        <p:spPr>
          <a:xfrm xmlns:a="http://schemas.openxmlformats.org/drawingml/2006/main">
            <a:off x="3810000" y="4648200"/>
            <a:ext cx="1428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F4F0E8"/>
                </a:solidFill>
                <a:latin typeface="Aptos"/>
                <a:ea typeface="Aptos"/>
                <a:cs typeface="Aptos"/>
              </a:defRPr>
            </a:pPr>
            <a:r>
              <a:rPr sz="1125" b="0">
                <a:solidFill>
                  <a:srgbClr val="F4F0E8"/>
                </a:solidFill>
                <a:latin typeface="Aptos"/>
                <a:ea typeface="Aptos"/>
                <a:cs typeface="Aptos"/>
              </a:rPr>
              <a:t>Adaeze N.</a:t>
            </a:r>
          </a:p>
        </p:txBody>
      </p:sp>
      <p:sp>
        <p:nvSpPr>
          <p:cNvPr id="36" name="">
            <a:extLst xmlns:a="http://schemas.openxmlformats.org/drawingml/2006/main">
              <a:ext uri="{FF2B5EF4-FFF2-40B4-BE49-F238E27FC236}">
                <a16:creationId xmlns:a16="http://schemas.microsoft.com/office/drawing/2014/main" id="{7BAAC013-FE5B-425D-AB33-798D01EB96CD}"/>
              </a:ext>
            </a:extLst>
          </p:cNvPr>
          <p:cNvSpPr>
            <a:spLocks xmlns:a="http://schemas.openxmlformats.org/drawingml/2006/main" noGrp="1"/>
          </p:cNvSpPr>
          <p:nvPr/>
        </p:nvSpPr>
        <p:spPr>
          <a:xfrm xmlns:a="http://schemas.openxmlformats.org/drawingml/2006/main">
            <a:off x="5238750" y="4657725"/>
            <a:ext cx="1143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B7B7B0"/>
                </a:solidFill>
                <a:latin typeface="Aptos Mono"/>
                <a:ea typeface="Aptos Mono"/>
                <a:cs typeface="Aptos Mono"/>
              </a:defRPr>
            </a:pPr>
            <a:r>
              <a:rPr sz="900" b="1">
                <a:solidFill>
                  <a:srgbClr val="B7B7B0"/>
                </a:solidFill>
                <a:latin typeface="Aptos Mono"/>
                <a:ea typeface="Aptos Mono"/>
                <a:cs typeface="Aptos Mono"/>
              </a:rPr>
              <a:t>Kaftan / M</a:t>
            </a:r>
          </a:p>
        </p:txBody>
      </p:sp>
      <p:sp>
        <p:nvSpPr>
          <p:cNvPr id="37" name="">
            <a:extLst xmlns:a="http://schemas.openxmlformats.org/drawingml/2006/main">
              <a:ext uri="{FF2B5EF4-FFF2-40B4-BE49-F238E27FC236}">
                <a16:creationId xmlns:a16="http://schemas.microsoft.com/office/drawing/2014/main" id="{EF8F45B8-22B8-41FF-87A7-04C481976BAA}"/>
              </a:ext>
            </a:extLst>
          </p:cNvPr>
          <p:cNvSpPr>
            <a:spLocks xmlns:a="http://schemas.openxmlformats.org/drawingml/2006/main" noGrp="1"/>
          </p:cNvSpPr>
          <p:nvPr/>
        </p:nvSpPr>
        <p:spPr>
          <a:xfrm xmlns:a="http://schemas.openxmlformats.org/drawingml/2006/main">
            <a:off x="6419850" y="4629150"/>
            <a:ext cx="1009650" cy="266700"/>
          </a:xfrm>
          <a:prstGeom xmlns:a="http://schemas.openxmlformats.org/drawingml/2006/main" prst="rect">
            <a:avLst/>
          </a:prstGeom>
          <a:solidFill xmlns:a="http://schemas.openxmlformats.org/drawingml/2006/main">
            <a:srgbClr val="7B5133"/>
          </a:solidFill>
          <a:ln xmlns:a="http://schemas.openxmlformats.org/drawingml/2006/main" w="9525">
            <a:solidFill>
              <a:srgbClr val="7B5133"/>
            </a:solidFill>
            <a:prstDash val="solid"/>
          </a:ln>
        </p:spPr>
      </p:sp>
      <p:sp>
        <p:nvSpPr>
          <p:cNvPr id="38" name="">
            <a:extLst xmlns:a="http://schemas.openxmlformats.org/drawingml/2006/main">
              <a:ext uri="{FF2B5EF4-FFF2-40B4-BE49-F238E27FC236}">
                <a16:creationId xmlns:a16="http://schemas.microsoft.com/office/drawing/2014/main" id="{378BC54A-E256-43B4-9563-8F1EBAA565B6}"/>
              </a:ext>
            </a:extLst>
          </p:cNvPr>
          <p:cNvSpPr>
            <a:spLocks xmlns:a="http://schemas.openxmlformats.org/drawingml/2006/main" noGrp="1"/>
          </p:cNvSpPr>
          <p:nvPr/>
        </p:nvSpPr>
        <p:spPr>
          <a:xfrm xmlns:a="http://schemas.openxmlformats.org/drawingml/2006/main">
            <a:off x="6515100" y="4676775"/>
            <a:ext cx="8191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F4F0E8"/>
                </a:solidFill>
                <a:latin typeface="Aptos Mono"/>
                <a:ea typeface="Aptos Mono"/>
                <a:cs typeface="Aptos Mono"/>
              </a:defRPr>
            </a:pPr>
            <a:r>
              <a:rPr sz="750" b="1">
                <a:solidFill>
                  <a:srgbClr val="F4F0E8"/>
                </a:solidFill>
                <a:latin typeface="Aptos Mono"/>
                <a:ea typeface="Aptos Mono"/>
                <a:cs typeface="Aptos Mono"/>
              </a:rPr>
              <a:t>deposit</a:t>
            </a:r>
          </a:p>
        </p:txBody>
      </p:sp>
      <p:sp>
        <p:nvSpPr>
          <p:cNvPr id="39" name="">
            <a:extLst xmlns:a="http://schemas.openxmlformats.org/drawingml/2006/main">
              <a:ext uri="{FF2B5EF4-FFF2-40B4-BE49-F238E27FC236}">
                <a16:creationId xmlns:a16="http://schemas.microsoft.com/office/drawing/2014/main" id="{112038F8-AAA6-45E7-9161-D5555689CA99}"/>
              </a:ext>
            </a:extLst>
          </p:cNvPr>
          <p:cNvSpPr>
            <a:spLocks xmlns:a="http://schemas.openxmlformats.org/drawingml/2006/main" noGrp="1"/>
          </p:cNvSpPr>
          <p:nvPr/>
        </p:nvSpPr>
        <p:spPr>
          <a:xfrm xmlns:a="http://schemas.openxmlformats.org/drawingml/2006/main">
            <a:off x="3028950" y="5410200"/>
            <a:ext cx="4476750" cy="9525"/>
          </a:xfrm>
          <a:prstGeom xmlns:a="http://schemas.openxmlformats.org/drawingml/2006/main" prst="rect">
            <a:avLst/>
          </a:prstGeom>
          <a:solidFill xmlns:a="http://schemas.openxmlformats.org/drawingml/2006/main">
            <a:srgbClr val="28251F"/>
          </a:solidFill>
          <a:ln xmlns:a="http://schemas.openxmlformats.org/drawingml/2006/main" w="0">
            <a:solidFill>
              <a:srgbClr val="28251F"/>
            </a:solidFill>
            <a:prstDash val="solid"/>
          </a:ln>
        </p:spPr>
      </p:sp>
      <p:sp>
        <p:nvSpPr>
          <p:cNvPr id="40" name="">
            <a:extLst xmlns:a="http://schemas.openxmlformats.org/drawingml/2006/main">
              <a:ext uri="{FF2B5EF4-FFF2-40B4-BE49-F238E27FC236}">
                <a16:creationId xmlns:a16="http://schemas.microsoft.com/office/drawing/2014/main" id="{67887BE5-F61D-4FEF-A019-A7D9F3050868}"/>
              </a:ext>
            </a:extLst>
          </p:cNvPr>
          <p:cNvSpPr>
            <a:spLocks xmlns:a="http://schemas.openxmlformats.org/drawingml/2006/main" noGrp="1"/>
          </p:cNvSpPr>
          <p:nvPr/>
        </p:nvSpPr>
        <p:spPr>
          <a:xfrm xmlns:a="http://schemas.openxmlformats.org/drawingml/2006/main">
            <a:off x="3028950" y="5095875"/>
            <a:ext cx="6858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B7B7B0"/>
                </a:solidFill>
                <a:latin typeface="Aptos Mono"/>
                <a:ea typeface="Aptos Mono"/>
                <a:cs typeface="Aptos Mono"/>
              </a:defRPr>
            </a:pPr>
            <a:r>
              <a:rPr sz="900" b="1">
                <a:solidFill>
                  <a:srgbClr val="B7B7B0"/>
                </a:solidFill>
                <a:latin typeface="Aptos Mono"/>
                <a:ea typeface="Aptos Mono"/>
                <a:cs typeface="Aptos Mono"/>
              </a:rPr>
              <a:t>#1043</a:t>
            </a:r>
          </a:p>
        </p:txBody>
      </p:sp>
      <p:sp>
        <p:nvSpPr>
          <p:cNvPr id="41" name="">
            <a:extLst xmlns:a="http://schemas.openxmlformats.org/drawingml/2006/main">
              <a:ext uri="{FF2B5EF4-FFF2-40B4-BE49-F238E27FC236}">
                <a16:creationId xmlns:a16="http://schemas.microsoft.com/office/drawing/2014/main" id="{C6582473-7C4F-49FC-9456-4EDB276BA4EC}"/>
              </a:ext>
            </a:extLst>
          </p:cNvPr>
          <p:cNvSpPr>
            <a:spLocks xmlns:a="http://schemas.openxmlformats.org/drawingml/2006/main" noGrp="1"/>
          </p:cNvSpPr>
          <p:nvPr/>
        </p:nvSpPr>
        <p:spPr>
          <a:xfrm xmlns:a="http://schemas.openxmlformats.org/drawingml/2006/main">
            <a:off x="3810000" y="5086350"/>
            <a:ext cx="1428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F4F0E8"/>
                </a:solidFill>
                <a:latin typeface="Aptos"/>
                <a:ea typeface="Aptos"/>
                <a:cs typeface="Aptos"/>
              </a:defRPr>
            </a:pPr>
            <a:r>
              <a:rPr sz="1125" b="0">
                <a:solidFill>
                  <a:srgbClr val="F4F0E8"/>
                </a:solidFill>
                <a:latin typeface="Aptos"/>
                <a:ea typeface="Aptos"/>
                <a:cs typeface="Aptos"/>
              </a:rPr>
              <a:t>Tola Studio</a:t>
            </a:r>
          </a:p>
        </p:txBody>
      </p:sp>
      <p:sp>
        <p:nvSpPr>
          <p:cNvPr id="42" name="">
            <a:extLst xmlns:a="http://schemas.openxmlformats.org/drawingml/2006/main">
              <a:ext uri="{FF2B5EF4-FFF2-40B4-BE49-F238E27FC236}">
                <a16:creationId xmlns:a16="http://schemas.microsoft.com/office/drawing/2014/main" id="{CAE188A9-4780-4771-8C39-D820BEFA437F}"/>
              </a:ext>
            </a:extLst>
          </p:cNvPr>
          <p:cNvSpPr>
            <a:spLocks xmlns:a="http://schemas.openxmlformats.org/drawingml/2006/main" noGrp="1"/>
          </p:cNvSpPr>
          <p:nvPr/>
        </p:nvSpPr>
        <p:spPr>
          <a:xfrm xmlns:a="http://schemas.openxmlformats.org/drawingml/2006/main">
            <a:off x="5238750" y="5095875"/>
            <a:ext cx="1143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B7B7B0"/>
                </a:solidFill>
                <a:latin typeface="Aptos Mono"/>
                <a:ea typeface="Aptos Mono"/>
                <a:cs typeface="Aptos Mono"/>
              </a:defRPr>
            </a:pPr>
            <a:r>
              <a:rPr sz="900" b="1">
                <a:solidFill>
                  <a:srgbClr val="B7B7B0"/>
                </a:solidFill>
                <a:latin typeface="Aptos Mono"/>
                <a:ea typeface="Aptos Mono"/>
                <a:cs typeface="Aptos Mono"/>
              </a:rPr>
              <a:t>Bulk x24</a:t>
            </a:r>
          </a:p>
        </p:txBody>
      </p:sp>
      <p:sp>
        <p:nvSpPr>
          <p:cNvPr id="43" name="">
            <a:extLst xmlns:a="http://schemas.openxmlformats.org/drawingml/2006/main">
              <a:ext uri="{FF2B5EF4-FFF2-40B4-BE49-F238E27FC236}">
                <a16:creationId xmlns:a16="http://schemas.microsoft.com/office/drawing/2014/main" id="{1E334F94-ABA0-4FAB-8BBE-AA8726EAD1C0}"/>
              </a:ext>
            </a:extLst>
          </p:cNvPr>
          <p:cNvSpPr>
            <a:spLocks xmlns:a="http://schemas.openxmlformats.org/drawingml/2006/main" noGrp="1"/>
          </p:cNvSpPr>
          <p:nvPr/>
        </p:nvSpPr>
        <p:spPr>
          <a:xfrm xmlns:a="http://schemas.openxmlformats.org/drawingml/2006/main">
            <a:off x="6419850" y="5067300"/>
            <a:ext cx="1009650" cy="266700"/>
          </a:xfrm>
          <a:prstGeom xmlns:a="http://schemas.openxmlformats.org/drawingml/2006/main" prst="rect">
            <a:avLst/>
          </a:prstGeom>
          <a:solidFill xmlns:a="http://schemas.openxmlformats.org/drawingml/2006/main">
            <a:srgbClr val="3F4A35"/>
          </a:solidFill>
          <a:ln xmlns:a="http://schemas.openxmlformats.org/drawingml/2006/main" w="9525">
            <a:solidFill>
              <a:srgbClr val="3F4A35"/>
            </a:solidFill>
            <a:prstDash val="solid"/>
          </a:ln>
        </p:spPr>
      </p:sp>
      <p:sp>
        <p:nvSpPr>
          <p:cNvPr id="44" name="">
            <a:extLst xmlns:a="http://schemas.openxmlformats.org/drawingml/2006/main">
              <a:ext uri="{FF2B5EF4-FFF2-40B4-BE49-F238E27FC236}">
                <a16:creationId xmlns:a16="http://schemas.microsoft.com/office/drawing/2014/main" id="{B6A9E5BD-FC46-40C5-B566-039B14A683E1}"/>
              </a:ext>
            </a:extLst>
          </p:cNvPr>
          <p:cNvSpPr>
            <a:spLocks xmlns:a="http://schemas.openxmlformats.org/drawingml/2006/main" noGrp="1"/>
          </p:cNvSpPr>
          <p:nvPr/>
        </p:nvSpPr>
        <p:spPr>
          <a:xfrm xmlns:a="http://schemas.openxmlformats.org/drawingml/2006/main">
            <a:off x="6515100" y="5114925"/>
            <a:ext cx="8191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F4F0E8"/>
                </a:solidFill>
                <a:latin typeface="Aptos Mono"/>
                <a:ea typeface="Aptos Mono"/>
                <a:cs typeface="Aptos Mono"/>
              </a:defRPr>
            </a:pPr>
            <a:r>
              <a:rPr sz="750" b="1">
                <a:solidFill>
                  <a:srgbClr val="F4F0E8"/>
                </a:solidFill>
                <a:latin typeface="Aptos Mono"/>
                <a:ea typeface="Aptos Mono"/>
                <a:cs typeface="Aptos Mono"/>
              </a:rPr>
              <a:t>reserved</a:t>
            </a:r>
          </a:p>
        </p:txBody>
      </p:sp>
      <p:sp>
        <p:nvSpPr>
          <p:cNvPr id="45" name="">
            <a:extLst xmlns:a="http://schemas.openxmlformats.org/drawingml/2006/main">
              <a:ext uri="{FF2B5EF4-FFF2-40B4-BE49-F238E27FC236}">
                <a16:creationId xmlns:a16="http://schemas.microsoft.com/office/drawing/2014/main" id="{F0720E0D-0BA8-4D7F-A070-77F8757B8611}"/>
              </a:ext>
            </a:extLst>
          </p:cNvPr>
          <p:cNvSpPr>
            <a:spLocks xmlns:a="http://schemas.openxmlformats.org/drawingml/2006/main" noGrp="1"/>
          </p:cNvSpPr>
          <p:nvPr/>
        </p:nvSpPr>
        <p:spPr>
          <a:xfrm xmlns:a="http://schemas.openxmlformats.org/drawingml/2006/main">
            <a:off x="8001000" y="2819400"/>
            <a:ext cx="3086100" cy="2857500"/>
          </a:xfrm>
          <a:prstGeom xmlns:a="http://schemas.openxmlformats.org/drawingml/2006/main" prst="rect">
            <a:avLst/>
          </a:prstGeom>
          <a:solidFill xmlns:a="http://schemas.openxmlformats.org/drawingml/2006/main">
            <a:srgbClr val="15130F"/>
          </a:solidFill>
          <a:ln xmlns:a="http://schemas.openxmlformats.org/drawingml/2006/main" w="9525">
            <a:solidFill>
              <a:srgbClr val="302A22"/>
            </a:solidFill>
            <a:prstDash val="solid"/>
          </a:ln>
        </p:spPr>
      </p:sp>
      <p:sp>
        <p:nvSpPr>
          <p:cNvPr id="46" name="">
            <a:extLst xmlns:a="http://schemas.openxmlformats.org/drawingml/2006/main">
              <a:ext uri="{FF2B5EF4-FFF2-40B4-BE49-F238E27FC236}">
                <a16:creationId xmlns:a16="http://schemas.microsoft.com/office/drawing/2014/main" id="{73F15579-646D-4A64-9FB3-BA72BECB43D3}"/>
              </a:ext>
            </a:extLst>
          </p:cNvPr>
          <p:cNvSpPr>
            <a:spLocks xmlns:a="http://schemas.openxmlformats.org/drawingml/2006/main" noGrp="1"/>
          </p:cNvSpPr>
          <p:nvPr/>
        </p:nvSpPr>
        <p:spPr>
          <a:xfrm xmlns:a="http://schemas.openxmlformats.org/drawingml/2006/main">
            <a:off x="8229600" y="3048000"/>
            <a:ext cx="1714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B7B7B0"/>
                </a:solidFill>
                <a:latin typeface="Aptos Mono"/>
                <a:ea typeface="Aptos Mono"/>
                <a:cs typeface="Aptos Mono"/>
              </a:defRPr>
            </a:pPr>
            <a:r>
              <a:rPr sz="825" b="1">
                <a:solidFill>
                  <a:srgbClr val="B7B7B0"/>
                </a:solidFill>
                <a:latin typeface="Aptos Mono"/>
                <a:ea typeface="Aptos Mono"/>
                <a:cs typeface="Aptos Mono"/>
              </a:rPr>
              <a:t>CLIENT THREAD</a:t>
            </a:r>
          </a:p>
        </p:txBody>
      </p:sp>
      <p:sp>
        <p:nvSpPr>
          <p:cNvPr id="47" name="">
            <a:extLst xmlns:a="http://schemas.openxmlformats.org/drawingml/2006/main">
              <a:ext uri="{FF2B5EF4-FFF2-40B4-BE49-F238E27FC236}">
                <a16:creationId xmlns:a16="http://schemas.microsoft.com/office/drawing/2014/main" id="{100CB56E-11BF-4B8B-B79B-1A5F3A41637A}"/>
              </a:ext>
            </a:extLst>
          </p:cNvPr>
          <p:cNvSpPr>
            <a:spLocks xmlns:a="http://schemas.openxmlformats.org/drawingml/2006/main" noGrp="1"/>
          </p:cNvSpPr>
          <p:nvPr/>
        </p:nvSpPr>
        <p:spPr>
          <a:xfrm xmlns:a="http://schemas.openxmlformats.org/drawingml/2006/main">
            <a:off x="8229600" y="3371850"/>
            <a:ext cx="2171700" cy="457200"/>
          </a:xfrm>
          <a:prstGeom xmlns:a="http://schemas.openxmlformats.org/drawingml/2006/main" prst="rect">
            <a:avLst/>
          </a:prstGeom>
          <a:solidFill xmlns:a="http://schemas.openxmlformats.org/drawingml/2006/main">
            <a:srgbClr val="242019"/>
          </a:solidFill>
          <a:ln xmlns:a="http://schemas.openxmlformats.org/drawingml/2006/main" w="0">
            <a:solidFill>
              <a:srgbClr val="242019"/>
            </a:solidFill>
            <a:prstDash val="solid"/>
          </a:ln>
        </p:spPr>
      </p:sp>
      <p:sp>
        <p:nvSpPr>
          <p:cNvPr id="48" name="">
            <a:extLst xmlns:a="http://schemas.openxmlformats.org/drawingml/2006/main">
              <a:ext uri="{FF2B5EF4-FFF2-40B4-BE49-F238E27FC236}">
                <a16:creationId xmlns:a16="http://schemas.microsoft.com/office/drawing/2014/main" id="{6B1EF691-BBC2-4B94-9060-B278EDA2DF85}"/>
              </a:ext>
            </a:extLst>
          </p:cNvPr>
          <p:cNvSpPr>
            <a:spLocks xmlns:a="http://schemas.openxmlformats.org/drawingml/2006/main" noGrp="1"/>
          </p:cNvSpPr>
          <p:nvPr/>
        </p:nvSpPr>
        <p:spPr>
          <a:xfrm xmlns:a="http://schemas.openxmlformats.org/drawingml/2006/main">
            <a:off x="8362950" y="3467100"/>
            <a:ext cx="1885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F4F0E8"/>
                </a:solidFill>
                <a:latin typeface="Aptos"/>
                <a:ea typeface="Aptos"/>
                <a:cs typeface="Aptos"/>
              </a:defRPr>
            </a:pPr>
            <a:r>
              <a:rPr sz="975" b="0">
                <a:solidFill>
                  <a:srgbClr val="F4F0E8"/>
                </a:solidFill>
                <a:latin typeface="Aptos"/>
                <a:ea typeface="Aptos"/>
                <a:cs typeface="Aptos"/>
              </a:rPr>
              <a:t>Welcome. Are you shopping ready-to-wear or placing a custom order?</a:t>
            </a:r>
          </a:p>
        </p:txBody>
      </p:sp>
      <p:sp>
        <p:nvSpPr>
          <p:cNvPr id="49" name="">
            <a:extLst xmlns:a="http://schemas.openxmlformats.org/drawingml/2006/main">
              <a:ext uri="{FF2B5EF4-FFF2-40B4-BE49-F238E27FC236}">
                <a16:creationId xmlns:a16="http://schemas.microsoft.com/office/drawing/2014/main" id="{054B9B8D-60A8-4CEA-903A-B87B508C5C95}"/>
              </a:ext>
            </a:extLst>
          </p:cNvPr>
          <p:cNvSpPr>
            <a:spLocks xmlns:a="http://schemas.openxmlformats.org/drawingml/2006/main" noGrp="1"/>
          </p:cNvSpPr>
          <p:nvPr/>
        </p:nvSpPr>
        <p:spPr>
          <a:xfrm xmlns:a="http://schemas.openxmlformats.org/drawingml/2006/main">
            <a:off x="8667750" y="4038600"/>
            <a:ext cx="1962150" cy="361950"/>
          </a:xfrm>
          <a:prstGeom xmlns:a="http://schemas.openxmlformats.org/drawingml/2006/main" prst="rect">
            <a:avLst/>
          </a:prstGeom>
          <a:solidFill xmlns:a="http://schemas.openxmlformats.org/drawingml/2006/main">
            <a:srgbClr val="3F4A35"/>
          </a:solidFill>
          <a:ln xmlns:a="http://schemas.openxmlformats.org/drawingml/2006/main" w="0">
            <a:solidFill>
              <a:srgbClr val="3F4A35"/>
            </a:solidFill>
            <a:prstDash val="solid"/>
          </a:ln>
        </p:spPr>
      </p:sp>
      <p:sp>
        <p:nvSpPr>
          <p:cNvPr id="50" name="">
            <a:extLst xmlns:a="http://schemas.openxmlformats.org/drawingml/2006/main">
              <a:ext uri="{FF2B5EF4-FFF2-40B4-BE49-F238E27FC236}">
                <a16:creationId xmlns:a16="http://schemas.microsoft.com/office/drawing/2014/main" id="{87D60981-CB39-420E-BBDE-81193B389344}"/>
              </a:ext>
            </a:extLst>
          </p:cNvPr>
          <p:cNvSpPr>
            <a:spLocks xmlns:a="http://schemas.openxmlformats.org/drawingml/2006/main" noGrp="1"/>
          </p:cNvSpPr>
          <p:nvPr/>
        </p:nvSpPr>
        <p:spPr>
          <a:xfrm xmlns:a="http://schemas.openxmlformats.org/drawingml/2006/main">
            <a:off x="8839200" y="4124325"/>
            <a:ext cx="1581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F4F0E8"/>
                </a:solidFill>
                <a:latin typeface="Aptos"/>
                <a:ea typeface="Aptos"/>
                <a:cs typeface="Aptos"/>
              </a:defRPr>
            </a:pPr>
            <a:r>
              <a:rPr sz="975" b="0">
                <a:solidFill>
                  <a:srgbClr val="F4F0E8"/>
                </a:solidFill>
                <a:latin typeface="Aptos"/>
                <a:ea typeface="Aptos"/>
                <a:cs typeface="Aptos"/>
              </a:rPr>
              <a:t>Ready-to-wear</a:t>
            </a:r>
          </a:p>
        </p:txBody>
      </p:sp>
      <p:sp>
        <p:nvSpPr>
          <p:cNvPr id="51" name="">
            <a:extLst xmlns:a="http://schemas.openxmlformats.org/drawingml/2006/main">
              <a:ext uri="{FF2B5EF4-FFF2-40B4-BE49-F238E27FC236}">
                <a16:creationId xmlns:a16="http://schemas.microsoft.com/office/drawing/2014/main" id="{FE46C229-F26B-40FF-B969-8A4FBD33DF31}"/>
              </a:ext>
            </a:extLst>
          </p:cNvPr>
          <p:cNvSpPr>
            <a:spLocks xmlns:a="http://schemas.openxmlformats.org/drawingml/2006/main" noGrp="1"/>
          </p:cNvSpPr>
          <p:nvPr/>
        </p:nvSpPr>
        <p:spPr>
          <a:xfrm xmlns:a="http://schemas.openxmlformats.org/drawingml/2006/main">
            <a:off x="8229600" y="4686300"/>
            <a:ext cx="2324100" cy="457200"/>
          </a:xfrm>
          <a:prstGeom xmlns:a="http://schemas.openxmlformats.org/drawingml/2006/main" prst="rect">
            <a:avLst/>
          </a:prstGeom>
          <a:solidFill xmlns:a="http://schemas.openxmlformats.org/drawingml/2006/main">
            <a:srgbClr val="242019"/>
          </a:solidFill>
          <a:ln xmlns:a="http://schemas.openxmlformats.org/drawingml/2006/main" w="0">
            <a:solidFill>
              <a:srgbClr val="242019"/>
            </a:solidFill>
            <a:prstDash val="solid"/>
          </a:ln>
        </p:spPr>
      </p:sp>
      <p:sp>
        <p:nvSpPr>
          <p:cNvPr id="52" name="">
            <a:extLst xmlns:a="http://schemas.openxmlformats.org/drawingml/2006/main">
              <a:ext uri="{FF2B5EF4-FFF2-40B4-BE49-F238E27FC236}">
                <a16:creationId xmlns:a16="http://schemas.microsoft.com/office/drawing/2014/main" id="{681335A1-43FA-4C02-942C-3231C8ADEABB}"/>
              </a:ext>
            </a:extLst>
          </p:cNvPr>
          <p:cNvSpPr>
            <a:spLocks xmlns:a="http://schemas.openxmlformats.org/drawingml/2006/main" noGrp="1"/>
          </p:cNvSpPr>
          <p:nvPr/>
        </p:nvSpPr>
        <p:spPr>
          <a:xfrm xmlns:a="http://schemas.openxmlformats.org/drawingml/2006/main">
            <a:off x="8362950" y="4781550"/>
            <a:ext cx="20383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F4F0E8"/>
                </a:solidFill>
                <a:latin typeface="Aptos"/>
                <a:ea typeface="Aptos"/>
                <a:cs typeface="Aptos"/>
              </a:defRPr>
            </a:pPr>
            <a:r>
              <a:rPr sz="975" b="0">
                <a:solidFill>
                  <a:srgbClr val="F4F0E8"/>
                </a:solidFill>
                <a:latin typeface="Aptos"/>
                <a:ea typeface="Aptos"/>
                <a:cs typeface="Aptos"/>
              </a:rPr>
              <a:t>Order draft created. Stock check and invoice can follow.</a:t>
            </a:r>
          </a:p>
        </p:txBody>
      </p:sp>
      <p:sp>
        <p:nvSpPr>
          <p:cNvPr id="53" name="">
            <a:extLst xmlns:a="http://schemas.openxmlformats.org/drawingml/2006/main">
              <a:ext uri="{FF2B5EF4-FFF2-40B4-BE49-F238E27FC236}">
                <a16:creationId xmlns:a16="http://schemas.microsoft.com/office/drawing/2014/main" id="{8957FAE7-86F6-48B1-AE61-17C6569F7AFB}"/>
              </a:ext>
            </a:extLst>
          </p:cNvPr>
          <p:cNvSpPr>
            <a:spLocks xmlns:a="http://schemas.openxmlformats.org/drawingml/2006/main" noGrp="1"/>
          </p:cNvSpPr>
          <p:nvPr/>
        </p:nvSpPr>
        <p:spPr>
          <a:xfrm xmlns:a="http://schemas.openxmlformats.org/drawingml/2006/main">
            <a:off x="11353800" y="61912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7B5133"/>
                </a:solidFill>
                <a:latin typeface="Aptos Mono"/>
                <a:ea typeface="Aptos Mono"/>
                <a:cs typeface="Aptos Mono"/>
              </a:defRPr>
            </a:pPr>
            <a:r>
              <a:rPr sz="900" b="0">
                <a:solidFill>
                  <a:srgbClr val="7B5133"/>
                </a:solidFill>
                <a:latin typeface="Aptos Mono"/>
                <a:ea typeface="Aptos Mono"/>
                <a:cs typeface="Aptos Mono"/>
              </a:rPr>
              <a:t>04</a:t>
            </a:r>
          </a:p>
        </p:txBody>
      </p:sp>
    </p:spTree>
    <p:extLst>
      <p:ext uri="{BB962C8B-B14F-4D97-AF65-F5344CB8AC3E}">
        <p14:creationId xmlns:p14="http://schemas.microsoft.com/office/powerpoint/2010/main" val="8442396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13292B9-B387-425B-BD9C-B815620DCEF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ECE4D6"/>
          </a:solidFill>
          <a:ln xmlns:a="http://schemas.openxmlformats.org/drawingml/2006/main" w="0">
            <a:solidFill>
              <a:srgbClr val="ECE4D6"/>
            </a:solidFill>
            <a:prstDash val="solid"/>
          </a:ln>
        </p:spPr>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1b20774f8054963"/>
          <a:stretch xmlns:a="http://schemas.openxmlformats.org/drawingml/2006/main"/>
        </p:blipFill>
        <p:spPr>
          <a:xfrm xmlns:a="http://schemas.openxmlformats.org/drawingml/2006/main">
            <a:off x="9944100" y="515458"/>
            <a:ext cx="1104900" cy="359735"/>
          </a:xfrm>
          <a:prstGeom xmlns:a="http://schemas.openxmlformats.org/drawingml/2006/main" prst="rect">
            <a:avLst/>
          </a:prstGeom>
        </p:spPr>
      </p:pic>
      <p:sp>
        <p:nvSpPr>
          <p:cNvPr id="3" name="kicker-05-marker">
            <a:extLst xmlns:a="http://schemas.openxmlformats.org/drawingml/2006/main">
              <a:ext uri="{FF2B5EF4-FFF2-40B4-BE49-F238E27FC236}">
                <a16:creationId xmlns:a16="http://schemas.microsoft.com/office/drawing/2014/main" id="{A88DA259-77BF-44BC-BBF4-954623BEAD8C}"/>
              </a:ext>
            </a:extLst>
          </p:cNvPr>
          <p:cNvSpPr>
            <a:spLocks xmlns:a="http://schemas.openxmlformats.org/drawingml/2006/main" noGrp="1"/>
          </p:cNvSpPr>
          <p:nvPr/>
        </p:nvSpPr>
        <p:spPr>
          <a:xfrm xmlns:a="http://schemas.openxmlformats.org/drawingml/2006/main">
            <a:off x="685800" y="600075"/>
            <a:ext cx="323850" cy="19050"/>
          </a:xfrm>
          <a:prstGeom xmlns:a="http://schemas.openxmlformats.org/drawingml/2006/main" prst="rect">
            <a:avLst/>
          </a:prstGeom>
          <a:solidFill xmlns:a="http://schemas.openxmlformats.org/drawingml/2006/main">
            <a:srgbClr val="B8652B"/>
          </a:solidFill>
          <a:ln xmlns:a="http://schemas.openxmlformats.org/drawingml/2006/main" w="0">
            <a:solidFill>
              <a:srgbClr val="B8652B"/>
            </a:solidFill>
            <a:prstDash val="solid"/>
          </a:ln>
        </p:spPr>
      </p:sp>
      <p:sp>
        <p:nvSpPr>
          <p:cNvPr id="4" name="kicker-05-label">
            <a:extLst xmlns:a="http://schemas.openxmlformats.org/drawingml/2006/main">
              <a:ext uri="{FF2B5EF4-FFF2-40B4-BE49-F238E27FC236}">
                <a16:creationId xmlns:a16="http://schemas.microsoft.com/office/drawing/2014/main" id="{2DC40373-85A9-4379-9375-F92F04FE33F1}"/>
              </a:ext>
            </a:extLst>
          </p:cNvPr>
          <p:cNvSpPr>
            <a:spLocks xmlns:a="http://schemas.openxmlformats.org/drawingml/2006/main" noGrp="1"/>
          </p:cNvSpPr>
          <p:nvPr/>
        </p:nvSpPr>
        <p:spPr>
          <a:xfrm xmlns:a="http://schemas.openxmlformats.org/drawingml/2006/main">
            <a:off x="1123950" y="514350"/>
            <a:ext cx="3429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7B5133"/>
                </a:solidFill>
                <a:latin typeface="Aptos Mono"/>
                <a:ea typeface="Aptos Mono"/>
                <a:cs typeface="Aptos Mono"/>
              </a:defRPr>
            </a:pPr>
            <a:r>
              <a:rPr sz="825" b="1">
                <a:solidFill>
                  <a:srgbClr val="7B5133"/>
                </a:solidFill>
                <a:latin typeface="Aptos Mono"/>
                <a:ea typeface="Aptos Mono"/>
                <a:cs typeface="Aptos Mono"/>
              </a:rPr>
              <a:t>CLIENT AUTOMATION FLOW</a:t>
            </a:r>
          </a:p>
        </p:txBody>
      </p:sp>
      <p:sp>
        <p:nvSpPr>
          <p:cNvPr id="5" name="">
            <a:extLst xmlns:a="http://schemas.openxmlformats.org/drawingml/2006/main">
              <a:ext uri="{FF2B5EF4-FFF2-40B4-BE49-F238E27FC236}">
                <a16:creationId xmlns:a16="http://schemas.microsoft.com/office/drawing/2014/main" id="{2D2AEAA9-4C9E-4655-89C6-EA490B3C9687}"/>
              </a:ext>
            </a:extLst>
          </p:cNvPr>
          <p:cNvSpPr>
            <a:spLocks xmlns:a="http://schemas.openxmlformats.org/drawingml/2006/main" noGrp="1"/>
          </p:cNvSpPr>
          <p:nvPr/>
        </p:nvSpPr>
        <p:spPr>
          <a:xfrm xmlns:a="http://schemas.openxmlformats.org/drawingml/2006/main">
            <a:off x="685800" y="876300"/>
            <a:ext cx="704850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0">
                <a:solidFill>
                  <a:srgbClr val="050505"/>
                </a:solidFill>
                <a:latin typeface="Georgia"/>
                <a:ea typeface="Georgia"/>
                <a:cs typeface="Georgia"/>
              </a:defRPr>
            </a:pPr>
            <a:r>
              <a:rPr sz="3000" b="0">
                <a:solidFill>
                  <a:srgbClr val="050505"/>
                </a:solidFill>
                <a:latin typeface="Georgia"/>
                <a:ea typeface="Georgia"/>
                <a:cs typeface="Georgia"/>
              </a:rPr>
              <a:t>Every inquiry becomes a guided path to the right order.</a:t>
            </a:r>
          </a:p>
        </p:txBody>
      </p:sp>
      <p:sp>
        <p:nvSpPr>
          <p:cNvPr id="6" name="">
            <a:extLst xmlns:a="http://schemas.openxmlformats.org/drawingml/2006/main">
              <a:ext uri="{FF2B5EF4-FFF2-40B4-BE49-F238E27FC236}">
                <a16:creationId xmlns:a16="http://schemas.microsoft.com/office/drawing/2014/main" id="{F89BC1A9-100E-40F0-8BC4-DEE937C9F705}"/>
              </a:ext>
            </a:extLst>
          </p:cNvPr>
          <p:cNvSpPr>
            <a:spLocks xmlns:a="http://schemas.openxmlformats.org/drawingml/2006/main" noGrp="1"/>
          </p:cNvSpPr>
          <p:nvPr/>
        </p:nvSpPr>
        <p:spPr>
          <a:xfrm xmlns:a="http://schemas.openxmlformats.org/drawingml/2006/main">
            <a:off x="704850" y="1809750"/>
            <a:ext cx="69532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161615"/>
                </a:solidFill>
                <a:latin typeface="Aptos"/>
                <a:ea typeface="Aptos"/>
                <a:cs typeface="Aptos"/>
              </a:defRPr>
            </a:pPr>
            <a:r>
              <a:rPr sz="1425" b="0">
                <a:solidFill>
                  <a:srgbClr val="161615"/>
                </a:solidFill>
                <a:latin typeface="Aptos"/>
                <a:ea typeface="Aptos"/>
                <a:cs typeface="Aptos"/>
              </a:rPr>
              <a:t>The first automation should reduce friction, answer common questions, and route high-intent clients to order creation.</a:t>
            </a:r>
          </a:p>
        </p:txBody>
      </p:sp>
      <p:sp>
        <p:nvSpPr>
          <p:cNvPr id="7" name="">
            <a:extLst xmlns:a="http://schemas.openxmlformats.org/drawingml/2006/main">
              <a:ext uri="{FF2B5EF4-FFF2-40B4-BE49-F238E27FC236}">
                <a16:creationId xmlns:a16="http://schemas.microsoft.com/office/drawing/2014/main" id="{1FB81DAB-04CC-4481-8D80-5E2C7AF550B7}"/>
              </a:ext>
            </a:extLst>
          </p:cNvPr>
          <p:cNvSpPr>
            <a:spLocks xmlns:a="http://schemas.openxmlformats.org/drawingml/2006/main" noGrp="1"/>
          </p:cNvSpPr>
          <p:nvPr/>
        </p:nvSpPr>
        <p:spPr>
          <a:xfrm xmlns:a="http://schemas.openxmlformats.org/drawingml/2006/main">
            <a:off x="800100" y="2762250"/>
            <a:ext cx="1866900" cy="2381250"/>
          </a:xfrm>
          <a:prstGeom xmlns:a="http://schemas.openxmlformats.org/drawingml/2006/main" prst="rect">
            <a:avLst/>
          </a:prstGeom>
          <a:solidFill xmlns:a="http://schemas.openxmlformats.org/drawingml/2006/main">
            <a:srgbClr val="050505"/>
          </a:solidFill>
          <a:ln xmlns:a="http://schemas.openxmlformats.org/drawingml/2006/main" w="9525">
            <a:solidFill>
              <a:srgbClr val="050505"/>
            </a:solidFill>
            <a:prstDash val="solid"/>
          </a:ln>
        </p:spPr>
      </p:sp>
      <p:sp>
        <p:nvSpPr>
          <p:cNvPr id="8" name="">
            <a:extLst xmlns:a="http://schemas.openxmlformats.org/drawingml/2006/main">
              <a:ext uri="{FF2B5EF4-FFF2-40B4-BE49-F238E27FC236}">
                <a16:creationId xmlns:a16="http://schemas.microsoft.com/office/drawing/2014/main" id="{40F52806-D32F-4D84-ABE1-B188D1DFAA2E}"/>
              </a:ext>
            </a:extLst>
          </p:cNvPr>
          <p:cNvSpPr>
            <a:spLocks xmlns:a="http://schemas.openxmlformats.org/drawingml/2006/main" noGrp="1"/>
          </p:cNvSpPr>
          <p:nvPr/>
        </p:nvSpPr>
        <p:spPr>
          <a:xfrm xmlns:a="http://schemas.openxmlformats.org/drawingml/2006/main">
            <a:off x="990600" y="3009900"/>
            <a:ext cx="1485900" cy="1885950"/>
          </a:xfrm>
          <a:prstGeom xmlns:a="http://schemas.openxmlformats.org/drawingml/2006/main" prst="rect">
            <a:avLst/>
          </a:prstGeom>
          <a:solidFill xmlns:a="http://schemas.openxmlformats.org/drawingml/2006/main">
            <a:srgbClr val="1A1713"/>
          </a:solidFill>
          <a:ln xmlns:a="http://schemas.openxmlformats.org/drawingml/2006/main" w="9525">
            <a:solidFill>
              <a:srgbClr val="2B251F"/>
            </a:solidFill>
            <a:prstDash val="solid"/>
          </a:ln>
        </p:spPr>
      </p:sp>
      <p:sp>
        <p:nvSpPr>
          <p:cNvPr id="9" name="">
            <a:extLst xmlns:a="http://schemas.openxmlformats.org/drawingml/2006/main">
              <a:ext uri="{FF2B5EF4-FFF2-40B4-BE49-F238E27FC236}">
                <a16:creationId xmlns:a16="http://schemas.microsoft.com/office/drawing/2014/main" id="{B2C2E65A-D408-4BAB-B660-E4F12B98385D}"/>
              </a:ext>
            </a:extLst>
          </p:cNvPr>
          <p:cNvSpPr>
            <a:spLocks xmlns:a="http://schemas.openxmlformats.org/drawingml/2006/main" noGrp="1"/>
          </p:cNvSpPr>
          <p:nvPr/>
        </p:nvSpPr>
        <p:spPr>
          <a:xfrm xmlns:a="http://schemas.openxmlformats.org/drawingml/2006/main">
            <a:off x="1181100" y="3219450"/>
            <a:ext cx="11049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B7B7B0"/>
                </a:solidFill>
                <a:latin typeface="Aptos Mono"/>
                <a:ea typeface="Aptos Mono"/>
                <a:cs typeface="Aptos Mono"/>
              </a:defRPr>
            </a:pPr>
            <a:r>
              <a:rPr sz="975" b="1">
                <a:solidFill>
                  <a:srgbClr val="B7B7B0"/>
                </a:solidFill>
                <a:latin typeface="Aptos Mono"/>
                <a:ea typeface="Aptos Mono"/>
                <a:cs typeface="Aptos Mono"/>
              </a:rPr>
              <a:t>IG / WA</a:t>
            </a:r>
          </a:p>
        </p:txBody>
      </p:sp>
      <p:sp>
        <p:nvSpPr>
          <p:cNvPr id="10" name="">
            <a:extLst xmlns:a="http://schemas.openxmlformats.org/drawingml/2006/main">
              <a:ext uri="{FF2B5EF4-FFF2-40B4-BE49-F238E27FC236}">
                <a16:creationId xmlns:a16="http://schemas.microsoft.com/office/drawing/2014/main" id="{B4C9B7EB-4A7F-402D-B289-786A1C737104}"/>
              </a:ext>
            </a:extLst>
          </p:cNvPr>
          <p:cNvSpPr>
            <a:spLocks xmlns:a="http://schemas.openxmlformats.org/drawingml/2006/main" noGrp="1"/>
          </p:cNvSpPr>
          <p:nvPr/>
        </p:nvSpPr>
        <p:spPr>
          <a:xfrm xmlns:a="http://schemas.openxmlformats.org/drawingml/2006/main">
            <a:off x="1162050" y="3638550"/>
            <a:ext cx="1066800" cy="419100"/>
          </a:xfrm>
          <a:prstGeom xmlns:a="http://schemas.openxmlformats.org/drawingml/2006/main" prst="rect">
            <a:avLst/>
          </a:prstGeom>
          <a:solidFill xmlns:a="http://schemas.openxmlformats.org/drawingml/2006/main">
            <a:srgbClr val="29231D"/>
          </a:solidFill>
          <a:ln xmlns:a="http://schemas.openxmlformats.org/drawingml/2006/main" w="0">
            <a:solidFill>
              <a:srgbClr val="29231D"/>
            </a:solidFill>
            <a:prstDash val="solid"/>
          </a:ln>
        </p:spPr>
      </p:sp>
      <p:sp>
        <p:nvSpPr>
          <p:cNvPr id="11" name="">
            <a:extLst xmlns:a="http://schemas.openxmlformats.org/drawingml/2006/main">
              <a:ext uri="{FF2B5EF4-FFF2-40B4-BE49-F238E27FC236}">
                <a16:creationId xmlns:a16="http://schemas.microsoft.com/office/drawing/2014/main" id="{28C5CB8D-7E31-4C5C-AF41-9862C60D6965}"/>
              </a:ext>
            </a:extLst>
          </p:cNvPr>
          <p:cNvSpPr>
            <a:spLocks xmlns:a="http://schemas.openxmlformats.org/drawingml/2006/main" noGrp="1"/>
          </p:cNvSpPr>
          <p:nvPr/>
        </p:nvSpPr>
        <p:spPr>
          <a:xfrm xmlns:a="http://schemas.openxmlformats.org/drawingml/2006/main">
            <a:off x="1276350" y="3733800"/>
            <a:ext cx="838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F4F0E8"/>
                </a:solidFill>
                <a:latin typeface="Aptos"/>
                <a:ea typeface="Aptos"/>
                <a:cs typeface="Aptos"/>
              </a:defRPr>
            </a:pPr>
            <a:r>
              <a:rPr sz="900" b="0">
                <a:solidFill>
                  <a:srgbClr val="F4F0E8"/>
                </a:solidFill>
                <a:latin typeface="Aptos"/>
                <a:ea typeface="Aptos"/>
                <a:cs typeface="Aptos"/>
              </a:rPr>
              <a:t>Hello, I want to order.</a:t>
            </a:r>
          </a:p>
        </p:txBody>
      </p:sp>
      <p:sp>
        <p:nvSpPr>
          <p:cNvPr id="12" name="">
            <a:extLst xmlns:a="http://schemas.openxmlformats.org/drawingml/2006/main">
              <a:ext uri="{FF2B5EF4-FFF2-40B4-BE49-F238E27FC236}">
                <a16:creationId xmlns:a16="http://schemas.microsoft.com/office/drawing/2014/main" id="{20F44727-3A41-49EE-813F-FFB2D1C77E68}"/>
              </a:ext>
            </a:extLst>
          </p:cNvPr>
          <p:cNvSpPr>
            <a:spLocks xmlns:a="http://schemas.openxmlformats.org/drawingml/2006/main" noGrp="1"/>
          </p:cNvSpPr>
          <p:nvPr/>
        </p:nvSpPr>
        <p:spPr>
          <a:xfrm xmlns:a="http://schemas.openxmlformats.org/drawingml/2006/main">
            <a:off x="1352550" y="4248150"/>
            <a:ext cx="876300" cy="323850"/>
          </a:xfrm>
          <a:prstGeom xmlns:a="http://schemas.openxmlformats.org/drawingml/2006/main" prst="rect">
            <a:avLst/>
          </a:prstGeom>
          <a:solidFill xmlns:a="http://schemas.openxmlformats.org/drawingml/2006/main">
            <a:srgbClr val="3F4A35"/>
          </a:solidFill>
          <a:ln xmlns:a="http://schemas.openxmlformats.org/drawingml/2006/main" w="0">
            <a:solidFill>
              <a:srgbClr val="3F4A35"/>
            </a:solidFill>
            <a:prstDash val="solid"/>
          </a:ln>
        </p:spPr>
      </p:sp>
      <p:sp>
        <p:nvSpPr>
          <p:cNvPr id="13" name="">
            <a:extLst xmlns:a="http://schemas.openxmlformats.org/drawingml/2006/main">
              <a:ext uri="{FF2B5EF4-FFF2-40B4-BE49-F238E27FC236}">
                <a16:creationId xmlns:a16="http://schemas.microsoft.com/office/drawing/2014/main" id="{574ECF26-23BA-473D-AE0F-EEC50B8B111C}"/>
              </a:ext>
            </a:extLst>
          </p:cNvPr>
          <p:cNvSpPr>
            <a:spLocks xmlns:a="http://schemas.openxmlformats.org/drawingml/2006/main" noGrp="1"/>
          </p:cNvSpPr>
          <p:nvPr/>
        </p:nvSpPr>
        <p:spPr>
          <a:xfrm xmlns:a="http://schemas.openxmlformats.org/drawingml/2006/main">
            <a:off x="1466850" y="4333875"/>
            <a:ext cx="6477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F4F0E8"/>
                </a:solidFill>
                <a:latin typeface="Aptos Mono"/>
                <a:ea typeface="Aptos Mono"/>
                <a:cs typeface="Aptos Mono"/>
              </a:defRPr>
            </a:pPr>
            <a:r>
              <a:rPr sz="825" b="1">
                <a:solidFill>
                  <a:srgbClr val="F4F0E8"/>
                </a:solidFill>
                <a:latin typeface="Aptos Mono"/>
                <a:ea typeface="Aptos Mono"/>
                <a:cs typeface="Aptos Mono"/>
              </a:rPr>
              <a:t>Start menu</a:t>
            </a:r>
          </a:p>
        </p:txBody>
      </p:sp>
      <p:sp>
        <p:nvSpPr>
          <p:cNvPr id="14" name="">
            <a:extLst xmlns:a="http://schemas.openxmlformats.org/drawingml/2006/main">
              <a:ext uri="{FF2B5EF4-FFF2-40B4-BE49-F238E27FC236}">
                <a16:creationId xmlns:a16="http://schemas.microsoft.com/office/drawing/2014/main" id="{1B227BEB-798C-4179-ADCC-E841B766EE3B}"/>
              </a:ext>
            </a:extLst>
          </p:cNvPr>
          <p:cNvSpPr>
            <a:spLocks xmlns:a="http://schemas.openxmlformats.org/drawingml/2006/main" noGrp="1"/>
          </p:cNvSpPr>
          <p:nvPr/>
        </p:nvSpPr>
        <p:spPr>
          <a:xfrm xmlns:a="http://schemas.openxmlformats.org/drawingml/2006/main">
            <a:off x="3238500" y="3009900"/>
            <a:ext cx="1790700" cy="457200"/>
          </a:xfrm>
          <a:prstGeom xmlns:a="http://schemas.openxmlformats.org/drawingml/2006/main" prst="rect">
            <a:avLst/>
          </a:prstGeom>
          <a:solidFill xmlns:a="http://schemas.openxmlformats.org/drawingml/2006/main">
            <a:srgbClr val="050505"/>
          </a:solidFill>
          <a:ln xmlns:a="http://schemas.openxmlformats.org/drawingml/2006/main" w="9525">
            <a:solidFill>
              <a:srgbClr val="050505"/>
            </a:solidFill>
            <a:prstDash val="solid"/>
          </a:ln>
        </p:spPr>
      </p:sp>
      <p:sp>
        <p:nvSpPr>
          <p:cNvPr id="15" name="">
            <a:extLst xmlns:a="http://schemas.openxmlformats.org/drawingml/2006/main">
              <a:ext uri="{FF2B5EF4-FFF2-40B4-BE49-F238E27FC236}">
                <a16:creationId xmlns:a16="http://schemas.microsoft.com/office/drawing/2014/main" id="{20F34F83-CBDB-4BA4-8F2F-BD4493609F5F}"/>
              </a:ext>
            </a:extLst>
          </p:cNvPr>
          <p:cNvSpPr>
            <a:spLocks xmlns:a="http://schemas.openxmlformats.org/drawingml/2006/main" noGrp="1"/>
          </p:cNvSpPr>
          <p:nvPr/>
        </p:nvSpPr>
        <p:spPr>
          <a:xfrm xmlns:a="http://schemas.openxmlformats.org/drawingml/2006/main">
            <a:off x="3371850" y="3067050"/>
            <a:ext cx="15240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F4F0E8"/>
                </a:solidFill>
                <a:latin typeface="Aptos"/>
                <a:ea typeface="Aptos"/>
                <a:cs typeface="Aptos"/>
              </a:defRPr>
            </a:pPr>
            <a:r>
              <a:rPr sz="1125" b="0">
                <a:solidFill>
                  <a:srgbClr val="F4F0E8"/>
                </a:solidFill>
                <a:latin typeface="Aptos"/>
                <a:ea typeface="Aptos"/>
                <a:cs typeface="Aptos"/>
              </a:rPr>
              <a:t>Instagram inquiry</a:t>
            </a:r>
          </a:p>
        </p:txBody>
      </p:sp>
      <p:sp>
        <p:nvSpPr>
          <p:cNvPr id="16" name="">
            <a:extLst xmlns:a="http://schemas.openxmlformats.org/drawingml/2006/main">
              <a:ext uri="{FF2B5EF4-FFF2-40B4-BE49-F238E27FC236}">
                <a16:creationId xmlns:a16="http://schemas.microsoft.com/office/drawing/2014/main" id="{827394B2-96B1-45BC-8474-F233A47E4B0E}"/>
              </a:ext>
            </a:extLst>
          </p:cNvPr>
          <p:cNvSpPr>
            <a:spLocks xmlns:a="http://schemas.openxmlformats.org/drawingml/2006/main" noGrp="1"/>
          </p:cNvSpPr>
          <p:nvPr/>
        </p:nvSpPr>
        <p:spPr>
          <a:xfrm xmlns:a="http://schemas.openxmlformats.org/drawingml/2006/main">
            <a:off x="3238500" y="3886200"/>
            <a:ext cx="1790700" cy="457200"/>
          </a:xfrm>
          <a:prstGeom xmlns:a="http://schemas.openxmlformats.org/drawingml/2006/main" prst="rect">
            <a:avLst/>
          </a:prstGeom>
          <a:solidFill xmlns:a="http://schemas.openxmlformats.org/drawingml/2006/main">
            <a:srgbClr val="050505"/>
          </a:solidFill>
          <a:ln xmlns:a="http://schemas.openxmlformats.org/drawingml/2006/main" w="9525">
            <a:solidFill>
              <a:srgbClr val="050505"/>
            </a:solidFill>
            <a:prstDash val="solid"/>
          </a:ln>
        </p:spPr>
      </p:sp>
      <p:sp>
        <p:nvSpPr>
          <p:cNvPr id="17" name="">
            <a:extLst xmlns:a="http://schemas.openxmlformats.org/drawingml/2006/main">
              <a:ext uri="{FF2B5EF4-FFF2-40B4-BE49-F238E27FC236}">
                <a16:creationId xmlns:a16="http://schemas.microsoft.com/office/drawing/2014/main" id="{DEA190B9-E2CD-4776-8C9B-A24E2C320724}"/>
              </a:ext>
            </a:extLst>
          </p:cNvPr>
          <p:cNvSpPr>
            <a:spLocks xmlns:a="http://schemas.openxmlformats.org/drawingml/2006/main" noGrp="1"/>
          </p:cNvSpPr>
          <p:nvPr/>
        </p:nvSpPr>
        <p:spPr>
          <a:xfrm xmlns:a="http://schemas.openxmlformats.org/drawingml/2006/main">
            <a:off x="3371850" y="3943350"/>
            <a:ext cx="15240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F4F0E8"/>
                </a:solidFill>
                <a:latin typeface="Aptos"/>
                <a:ea typeface="Aptos"/>
                <a:cs typeface="Aptos"/>
              </a:defRPr>
            </a:pPr>
            <a:r>
              <a:rPr sz="1125" b="0">
                <a:solidFill>
                  <a:srgbClr val="F4F0E8"/>
                </a:solidFill>
                <a:latin typeface="Aptos"/>
                <a:ea typeface="Aptos"/>
                <a:cs typeface="Aptos"/>
              </a:rPr>
              <a:t>WhatsApp inquiry</a:t>
            </a:r>
          </a:p>
        </p:txBody>
      </p:sp>
      <p:sp>
        <p:nvSpPr>
          <p:cNvPr id="18" name="">
            <a:extLst xmlns:a="http://schemas.openxmlformats.org/drawingml/2006/main">
              <a:ext uri="{FF2B5EF4-FFF2-40B4-BE49-F238E27FC236}">
                <a16:creationId xmlns:a16="http://schemas.microsoft.com/office/drawing/2014/main" id="{9D2EC3D0-EE0F-4AA1-8160-3E9DCC0A90F0}"/>
              </a:ext>
            </a:extLst>
          </p:cNvPr>
          <p:cNvSpPr>
            <a:spLocks xmlns:a="http://schemas.openxmlformats.org/drawingml/2006/main" noGrp="1"/>
          </p:cNvSpPr>
          <p:nvPr/>
        </p:nvSpPr>
        <p:spPr>
          <a:xfrm xmlns:a="http://schemas.openxmlformats.org/drawingml/2006/main">
            <a:off x="5143500" y="3657600"/>
            <a:ext cx="857250" cy="19050"/>
          </a:xfrm>
          <a:prstGeom xmlns:a="http://schemas.openxmlformats.org/drawingml/2006/main" prst="rect">
            <a:avLst/>
          </a:prstGeom>
          <a:solidFill xmlns:a="http://schemas.openxmlformats.org/drawingml/2006/main">
            <a:srgbClr val="B8652B"/>
          </a:solidFill>
          <a:ln xmlns:a="http://schemas.openxmlformats.org/drawingml/2006/main" w="0">
            <a:solidFill>
              <a:srgbClr val="B8652B"/>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ea9d53a2f8414ca8">
            <a:extLst>
              <a:ext uri="{96DAC541-7B7A-43D3-8B79-37D633B846F1}">
                <asvg:svgBlip xmlns:asvg="http://schemas.microsoft.com/office/drawing/2016/SVG/main" r:embed="Rb96b98e4746a4de8"/>
              </a:ext>
            </a:extLst>
          </a:blip>
          <a:stretch xmlns:a="http://schemas.openxmlformats.org/drawingml/2006/main"/>
        </p:blipFill>
        <p:spPr>
          <a:xfrm xmlns:a="http://schemas.openxmlformats.org/drawingml/2006/main">
            <a:off x="5981700" y="3562350"/>
            <a:ext cx="228600" cy="22860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281FCB32-A04E-4A32-92C1-24D2A6505B44}"/>
              </a:ext>
            </a:extLst>
          </p:cNvPr>
          <p:cNvSpPr>
            <a:spLocks xmlns:a="http://schemas.openxmlformats.org/drawingml/2006/main" noGrp="1"/>
          </p:cNvSpPr>
          <p:nvPr/>
        </p:nvSpPr>
        <p:spPr>
          <a:xfrm xmlns:a="http://schemas.openxmlformats.org/drawingml/2006/main">
            <a:off x="6343650" y="2914650"/>
            <a:ext cx="2171700" cy="1619250"/>
          </a:xfrm>
          <a:prstGeom xmlns:a="http://schemas.openxmlformats.org/drawingml/2006/main" prst="rect">
            <a:avLst/>
          </a:prstGeom>
          <a:solidFill xmlns:a="http://schemas.openxmlformats.org/drawingml/2006/main">
            <a:srgbClr val="050505"/>
          </a:solidFill>
          <a:ln xmlns:a="http://schemas.openxmlformats.org/drawingml/2006/main" w="9525">
            <a:solidFill>
              <a:srgbClr val="050505"/>
            </a:solidFill>
            <a:prstDash val="solid"/>
          </a:ln>
        </p:spPr>
      </p:sp>
      <p:sp>
        <p:nvSpPr>
          <p:cNvPr id="21" name="">
            <a:extLst xmlns:a="http://schemas.openxmlformats.org/drawingml/2006/main">
              <a:ext uri="{FF2B5EF4-FFF2-40B4-BE49-F238E27FC236}">
                <a16:creationId xmlns:a16="http://schemas.microsoft.com/office/drawing/2014/main" id="{ACA1BE8F-05E5-4066-8E50-C659EC6F922E}"/>
              </a:ext>
            </a:extLst>
          </p:cNvPr>
          <p:cNvSpPr>
            <a:spLocks xmlns:a="http://schemas.openxmlformats.org/drawingml/2006/main" noGrp="1"/>
          </p:cNvSpPr>
          <p:nvPr/>
        </p:nvSpPr>
        <p:spPr>
          <a:xfrm xmlns:a="http://schemas.openxmlformats.org/drawingml/2006/main">
            <a:off x="6591300" y="3181350"/>
            <a:ext cx="16764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B8652B"/>
                </a:solidFill>
                <a:latin typeface="Aptos Mono"/>
                <a:ea typeface="Aptos Mono"/>
                <a:cs typeface="Aptos Mono"/>
              </a:defRPr>
            </a:pPr>
            <a:r>
              <a:rPr sz="900" b="1">
                <a:solidFill>
                  <a:srgbClr val="B8652B"/>
                </a:solidFill>
                <a:latin typeface="Aptos Mono"/>
                <a:ea typeface="Aptos Mono"/>
                <a:cs typeface="Aptos Mono"/>
              </a:rPr>
              <a:t>WELCOME MENU</a:t>
            </a:r>
          </a:p>
        </p:txBody>
      </p:sp>
      <p:sp>
        <p:nvSpPr>
          <p:cNvPr id="22" name="">
            <a:extLst xmlns:a="http://schemas.openxmlformats.org/drawingml/2006/main">
              <a:ext uri="{FF2B5EF4-FFF2-40B4-BE49-F238E27FC236}">
                <a16:creationId xmlns:a16="http://schemas.microsoft.com/office/drawing/2014/main" id="{26E11604-C0DD-4469-8FF3-8698FD5C821A}"/>
              </a:ext>
            </a:extLst>
          </p:cNvPr>
          <p:cNvSpPr>
            <a:spLocks xmlns:a="http://schemas.openxmlformats.org/drawingml/2006/main" noGrp="1"/>
          </p:cNvSpPr>
          <p:nvPr/>
        </p:nvSpPr>
        <p:spPr>
          <a:xfrm xmlns:a="http://schemas.openxmlformats.org/drawingml/2006/main">
            <a:off x="6705600" y="3543300"/>
            <a:ext cx="14478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0">
                <a:solidFill>
                  <a:srgbClr val="F4F0E8"/>
                </a:solidFill>
                <a:latin typeface="Georgia"/>
                <a:ea typeface="Georgia"/>
                <a:cs typeface="Georgia"/>
              </a:defRPr>
            </a:pPr>
            <a:r>
              <a:rPr sz="1500" b="0">
                <a:solidFill>
                  <a:srgbClr val="F4F0E8"/>
                </a:solidFill>
                <a:latin typeface="Georgia"/>
                <a:ea typeface="Georgia"/>
                <a:cs typeface="Georgia"/>
              </a:rPr>
              <a:t>How can we help you today?</a:t>
            </a:r>
          </a:p>
        </p:txBody>
      </p:sp>
      <p:sp>
        <p:nvSpPr>
          <p:cNvPr id="23" name="">
            <a:extLst xmlns:a="http://schemas.openxmlformats.org/drawingml/2006/main">
              <a:ext uri="{FF2B5EF4-FFF2-40B4-BE49-F238E27FC236}">
                <a16:creationId xmlns:a16="http://schemas.microsoft.com/office/drawing/2014/main" id="{5331E20E-0615-424E-B8A3-BBCAD4CACCDB}"/>
              </a:ext>
            </a:extLst>
          </p:cNvPr>
          <p:cNvSpPr>
            <a:spLocks xmlns:a="http://schemas.openxmlformats.org/drawingml/2006/main" noGrp="1"/>
          </p:cNvSpPr>
          <p:nvPr/>
        </p:nvSpPr>
        <p:spPr>
          <a:xfrm xmlns:a="http://schemas.openxmlformats.org/drawingml/2006/main">
            <a:off x="6667500" y="4057650"/>
            <a:ext cx="1524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B7B7B0"/>
                </a:solidFill>
                <a:latin typeface="Aptos Mono"/>
                <a:ea typeface="Aptos Mono"/>
                <a:cs typeface="Aptos Mono"/>
              </a:defRPr>
            </a:pPr>
            <a:r>
              <a:rPr sz="825" b="1">
                <a:solidFill>
                  <a:srgbClr val="B7B7B0"/>
                </a:solidFill>
                <a:latin typeface="Aptos Mono"/>
                <a:ea typeface="Aptos Mono"/>
                <a:cs typeface="Aptos Mono"/>
              </a:rPr>
              <a:t>route intent before staff time is used</a:t>
            </a:r>
          </a:p>
        </p:txBody>
      </p:sp>
      <p:sp>
        <p:nvSpPr>
          <p:cNvPr id="24" name="">
            <a:extLst xmlns:a="http://schemas.openxmlformats.org/drawingml/2006/main">
              <a:ext uri="{FF2B5EF4-FFF2-40B4-BE49-F238E27FC236}">
                <a16:creationId xmlns:a16="http://schemas.microsoft.com/office/drawing/2014/main" id="{5BEE2D25-2FF3-4AEC-B9EC-64C075A05D0F}"/>
              </a:ext>
            </a:extLst>
          </p:cNvPr>
          <p:cNvSpPr>
            <a:spLocks xmlns:a="http://schemas.openxmlformats.org/drawingml/2006/main" noGrp="1"/>
          </p:cNvSpPr>
          <p:nvPr/>
        </p:nvSpPr>
        <p:spPr>
          <a:xfrm xmlns:a="http://schemas.openxmlformats.org/drawingml/2006/main">
            <a:off x="8705850" y="3657600"/>
            <a:ext cx="571500" cy="19050"/>
          </a:xfrm>
          <a:prstGeom xmlns:a="http://schemas.openxmlformats.org/drawingml/2006/main" prst="rect">
            <a:avLst/>
          </a:prstGeom>
          <a:solidFill xmlns:a="http://schemas.openxmlformats.org/drawingml/2006/main">
            <a:srgbClr val="B8652B"/>
          </a:solidFill>
          <a:ln xmlns:a="http://schemas.openxmlformats.org/drawingml/2006/main" w="0">
            <a:solidFill>
              <a:srgbClr val="B8652B"/>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dda83842fb5b4d78">
            <a:extLst>
              <a:ext uri="{96DAC541-7B7A-43D3-8B79-37D633B846F1}">
                <asvg:svgBlip xmlns:asvg="http://schemas.microsoft.com/office/drawing/2016/SVG/main" r:embed="Rd32ba683b6b84311"/>
              </a:ext>
            </a:extLst>
          </a:blip>
          <a:stretch xmlns:a="http://schemas.openxmlformats.org/drawingml/2006/main"/>
        </p:blipFill>
        <p:spPr>
          <a:xfrm xmlns:a="http://schemas.openxmlformats.org/drawingml/2006/main">
            <a:off x="9258300" y="3562350"/>
            <a:ext cx="228600" cy="228600"/>
          </a:xfrm>
          <a:prstGeom xmlns:a="http://schemas.openxmlformats.org/drawingml/2006/main" prst="rect">
            <a:avLst/>
          </a:prstGeom>
        </p:spPr>
      </p:pic>
      <p:sp>
        <p:nvSpPr>
          <p:cNvPr id="26" name="">
            <a:extLst xmlns:a="http://schemas.openxmlformats.org/drawingml/2006/main">
              <a:ext uri="{FF2B5EF4-FFF2-40B4-BE49-F238E27FC236}">
                <a16:creationId xmlns:a16="http://schemas.microsoft.com/office/drawing/2014/main" id="{A2EFC7AF-3871-4C1F-AAA8-2BCCD85B94C7}"/>
              </a:ext>
            </a:extLst>
          </p:cNvPr>
          <p:cNvSpPr>
            <a:spLocks xmlns:a="http://schemas.openxmlformats.org/drawingml/2006/main" noGrp="1"/>
          </p:cNvSpPr>
          <p:nvPr/>
        </p:nvSpPr>
        <p:spPr>
          <a:xfrm xmlns:a="http://schemas.openxmlformats.org/drawingml/2006/main">
            <a:off x="9639300" y="2552700"/>
            <a:ext cx="1847850" cy="400050"/>
          </a:xfrm>
          <a:prstGeom xmlns:a="http://schemas.openxmlformats.org/drawingml/2006/main" prst="rect">
            <a:avLst/>
          </a:prstGeom>
          <a:solidFill xmlns:a="http://schemas.openxmlformats.org/drawingml/2006/main">
            <a:srgbClr val="F4F0E8"/>
          </a:solidFill>
          <a:ln xmlns:a="http://schemas.openxmlformats.org/drawingml/2006/main" w="9525">
            <a:solidFill>
              <a:srgbClr val="3F4A35"/>
            </a:solidFill>
            <a:prstDash val="solid"/>
          </a:ln>
        </p:spPr>
      </p:sp>
      <p:sp>
        <p:nvSpPr>
          <p:cNvPr id="27" name="">
            <a:extLst xmlns:a="http://schemas.openxmlformats.org/drawingml/2006/main">
              <a:ext uri="{FF2B5EF4-FFF2-40B4-BE49-F238E27FC236}">
                <a16:creationId xmlns:a16="http://schemas.microsoft.com/office/drawing/2014/main" id="{EEAC0678-7134-4095-9FCA-8F2AF7CFFE34}"/>
              </a:ext>
            </a:extLst>
          </p:cNvPr>
          <p:cNvSpPr>
            <a:spLocks xmlns:a="http://schemas.openxmlformats.org/drawingml/2006/main" noGrp="1"/>
          </p:cNvSpPr>
          <p:nvPr/>
        </p:nvSpPr>
        <p:spPr>
          <a:xfrm xmlns:a="http://schemas.openxmlformats.org/drawingml/2006/main">
            <a:off x="9772650" y="2647950"/>
            <a:ext cx="15811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050505"/>
                </a:solidFill>
                <a:latin typeface="Aptos"/>
                <a:ea typeface="Aptos"/>
                <a:cs typeface="Aptos"/>
              </a:defRPr>
            </a:pPr>
            <a:r>
              <a:rPr sz="1050" b="0">
                <a:solidFill>
                  <a:srgbClr val="050505"/>
                </a:solidFill>
                <a:latin typeface="Aptos"/>
                <a:ea typeface="Aptos"/>
                <a:cs typeface="Aptos"/>
              </a:rPr>
              <a:t>Ready-to-wear</a:t>
            </a:r>
          </a:p>
        </p:txBody>
      </p:sp>
      <p:sp>
        <p:nvSpPr>
          <p:cNvPr id="28" name="">
            <a:extLst xmlns:a="http://schemas.openxmlformats.org/drawingml/2006/main">
              <a:ext uri="{FF2B5EF4-FFF2-40B4-BE49-F238E27FC236}">
                <a16:creationId xmlns:a16="http://schemas.microsoft.com/office/drawing/2014/main" id="{8D15E469-6240-40A3-885D-9F568064E466}"/>
              </a:ext>
            </a:extLst>
          </p:cNvPr>
          <p:cNvSpPr>
            <a:spLocks xmlns:a="http://schemas.openxmlformats.org/drawingml/2006/main" noGrp="1"/>
          </p:cNvSpPr>
          <p:nvPr/>
        </p:nvSpPr>
        <p:spPr>
          <a:xfrm xmlns:a="http://schemas.openxmlformats.org/drawingml/2006/main">
            <a:off x="9639300" y="3086100"/>
            <a:ext cx="1847850" cy="400050"/>
          </a:xfrm>
          <a:prstGeom xmlns:a="http://schemas.openxmlformats.org/drawingml/2006/main" prst="rect">
            <a:avLst/>
          </a:prstGeom>
          <a:solidFill xmlns:a="http://schemas.openxmlformats.org/drawingml/2006/main">
            <a:srgbClr val="F4F0E8"/>
          </a:solidFill>
          <a:ln xmlns:a="http://schemas.openxmlformats.org/drawingml/2006/main" w="9525">
            <a:solidFill>
              <a:srgbClr val="7B5133"/>
            </a:solidFill>
            <a:prstDash val="solid"/>
          </a:ln>
        </p:spPr>
      </p:sp>
      <p:sp>
        <p:nvSpPr>
          <p:cNvPr id="29" name="">
            <a:extLst xmlns:a="http://schemas.openxmlformats.org/drawingml/2006/main">
              <a:ext uri="{FF2B5EF4-FFF2-40B4-BE49-F238E27FC236}">
                <a16:creationId xmlns:a16="http://schemas.microsoft.com/office/drawing/2014/main" id="{5750848E-ACBB-4595-93D4-EE33C00AA63C}"/>
              </a:ext>
            </a:extLst>
          </p:cNvPr>
          <p:cNvSpPr>
            <a:spLocks xmlns:a="http://schemas.openxmlformats.org/drawingml/2006/main" noGrp="1"/>
          </p:cNvSpPr>
          <p:nvPr/>
        </p:nvSpPr>
        <p:spPr>
          <a:xfrm xmlns:a="http://schemas.openxmlformats.org/drawingml/2006/main">
            <a:off x="9772650" y="3181350"/>
            <a:ext cx="15811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050505"/>
                </a:solidFill>
                <a:latin typeface="Aptos"/>
                <a:ea typeface="Aptos"/>
                <a:cs typeface="Aptos"/>
              </a:defRPr>
            </a:pPr>
            <a:r>
              <a:rPr sz="1050" b="0">
                <a:solidFill>
                  <a:srgbClr val="050505"/>
                </a:solidFill>
                <a:latin typeface="Aptos"/>
                <a:ea typeface="Aptos"/>
                <a:cs typeface="Aptos"/>
              </a:rPr>
              <a:t>Custom order</a:t>
            </a:r>
          </a:p>
        </p:txBody>
      </p:sp>
      <p:sp>
        <p:nvSpPr>
          <p:cNvPr id="30" name="">
            <a:extLst xmlns:a="http://schemas.openxmlformats.org/drawingml/2006/main">
              <a:ext uri="{FF2B5EF4-FFF2-40B4-BE49-F238E27FC236}">
                <a16:creationId xmlns:a16="http://schemas.microsoft.com/office/drawing/2014/main" id="{5387FE3E-E004-434B-A3D2-4EAB254A4167}"/>
              </a:ext>
            </a:extLst>
          </p:cNvPr>
          <p:cNvSpPr>
            <a:spLocks xmlns:a="http://schemas.openxmlformats.org/drawingml/2006/main" noGrp="1"/>
          </p:cNvSpPr>
          <p:nvPr/>
        </p:nvSpPr>
        <p:spPr>
          <a:xfrm xmlns:a="http://schemas.openxmlformats.org/drawingml/2006/main">
            <a:off x="9639300" y="3619500"/>
            <a:ext cx="1847850" cy="400050"/>
          </a:xfrm>
          <a:prstGeom xmlns:a="http://schemas.openxmlformats.org/drawingml/2006/main" prst="rect">
            <a:avLst/>
          </a:prstGeom>
          <a:solidFill xmlns:a="http://schemas.openxmlformats.org/drawingml/2006/main">
            <a:srgbClr val="F4F0E8"/>
          </a:solidFill>
          <a:ln xmlns:a="http://schemas.openxmlformats.org/drawingml/2006/main" w="9525">
            <a:solidFill>
              <a:srgbClr val="B8652B"/>
            </a:solidFill>
            <a:prstDash val="solid"/>
          </a:ln>
        </p:spPr>
      </p:sp>
      <p:sp>
        <p:nvSpPr>
          <p:cNvPr id="31" name="">
            <a:extLst xmlns:a="http://schemas.openxmlformats.org/drawingml/2006/main">
              <a:ext uri="{FF2B5EF4-FFF2-40B4-BE49-F238E27FC236}">
                <a16:creationId xmlns:a16="http://schemas.microsoft.com/office/drawing/2014/main" id="{206D840B-FFCE-4F10-A499-967DE0639056}"/>
              </a:ext>
            </a:extLst>
          </p:cNvPr>
          <p:cNvSpPr>
            <a:spLocks xmlns:a="http://schemas.openxmlformats.org/drawingml/2006/main" noGrp="1"/>
          </p:cNvSpPr>
          <p:nvPr/>
        </p:nvSpPr>
        <p:spPr>
          <a:xfrm xmlns:a="http://schemas.openxmlformats.org/drawingml/2006/main">
            <a:off x="9772650" y="3714750"/>
            <a:ext cx="15811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050505"/>
                </a:solidFill>
                <a:latin typeface="Aptos"/>
                <a:ea typeface="Aptos"/>
                <a:cs typeface="Aptos"/>
              </a:defRPr>
            </a:pPr>
            <a:r>
              <a:rPr sz="1050" b="0">
                <a:solidFill>
                  <a:srgbClr val="050505"/>
                </a:solidFill>
                <a:latin typeface="Aptos"/>
                <a:ea typeface="Aptos"/>
                <a:cs typeface="Aptos"/>
              </a:rPr>
              <a:t>Bulk order</a:t>
            </a:r>
          </a:p>
        </p:txBody>
      </p:sp>
      <p:sp>
        <p:nvSpPr>
          <p:cNvPr id="32" name="">
            <a:extLst xmlns:a="http://schemas.openxmlformats.org/drawingml/2006/main">
              <a:ext uri="{FF2B5EF4-FFF2-40B4-BE49-F238E27FC236}">
                <a16:creationId xmlns:a16="http://schemas.microsoft.com/office/drawing/2014/main" id="{48654914-59B5-4272-93E8-0456E98C2BA4}"/>
              </a:ext>
            </a:extLst>
          </p:cNvPr>
          <p:cNvSpPr>
            <a:spLocks xmlns:a="http://schemas.openxmlformats.org/drawingml/2006/main" noGrp="1"/>
          </p:cNvSpPr>
          <p:nvPr/>
        </p:nvSpPr>
        <p:spPr>
          <a:xfrm xmlns:a="http://schemas.openxmlformats.org/drawingml/2006/main">
            <a:off x="9639300" y="4152900"/>
            <a:ext cx="1847850" cy="400050"/>
          </a:xfrm>
          <a:prstGeom xmlns:a="http://schemas.openxmlformats.org/drawingml/2006/main" prst="rect">
            <a:avLst/>
          </a:prstGeom>
          <a:solidFill xmlns:a="http://schemas.openxmlformats.org/drawingml/2006/main">
            <a:srgbClr val="F4F0E8"/>
          </a:solidFill>
          <a:ln xmlns:a="http://schemas.openxmlformats.org/drawingml/2006/main" w="9525">
            <a:solidFill>
              <a:srgbClr val="D7CFC2"/>
            </a:solidFill>
            <a:prstDash val="solid"/>
          </a:ln>
        </p:spPr>
      </p:sp>
      <p:sp>
        <p:nvSpPr>
          <p:cNvPr id="33" name="">
            <a:extLst xmlns:a="http://schemas.openxmlformats.org/drawingml/2006/main">
              <a:ext uri="{FF2B5EF4-FFF2-40B4-BE49-F238E27FC236}">
                <a16:creationId xmlns:a16="http://schemas.microsoft.com/office/drawing/2014/main" id="{D22F983A-46CF-47C7-86D7-E2156FF53C58}"/>
              </a:ext>
            </a:extLst>
          </p:cNvPr>
          <p:cNvSpPr>
            <a:spLocks xmlns:a="http://schemas.openxmlformats.org/drawingml/2006/main" noGrp="1"/>
          </p:cNvSpPr>
          <p:nvPr/>
        </p:nvSpPr>
        <p:spPr>
          <a:xfrm xmlns:a="http://schemas.openxmlformats.org/drawingml/2006/main">
            <a:off x="9772650" y="4248150"/>
            <a:ext cx="15811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050505"/>
                </a:solidFill>
                <a:latin typeface="Aptos"/>
                <a:ea typeface="Aptos"/>
                <a:cs typeface="Aptos"/>
              </a:defRPr>
            </a:pPr>
            <a:r>
              <a:rPr sz="1050" b="0">
                <a:solidFill>
                  <a:srgbClr val="050505"/>
                </a:solidFill>
                <a:latin typeface="Aptos"/>
                <a:ea typeface="Aptos"/>
                <a:cs typeface="Aptos"/>
              </a:rPr>
              <a:t>Size guide</a:t>
            </a:r>
          </a:p>
        </p:txBody>
      </p:sp>
      <p:sp>
        <p:nvSpPr>
          <p:cNvPr id="34" name="">
            <a:extLst xmlns:a="http://schemas.openxmlformats.org/drawingml/2006/main">
              <a:ext uri="{FF2B5EF4-FFF2-40B4-BE49-F238E27FC236}">
                <a16:creationId xmlns:a16="http://schemas.microsoft.com/office/drawing/2014/main" id="{423DB610-89A6-4ADD-8109-7D877D41BEC4}"/>
              </a:ext>
            </a:extLst>
          </p:cNvPr>
          <p:cNvSpPr>
            <a:spLocks xmlns:a="http://schemas.openxmlformats.org/drawingml/2006/main" noGrp="1"/>
          </p:cNvSpPr>
          <p:nvPr/>
        </p:nvSpPr>
        <p:spPr>
          <a:xfrm xmlns:a="http://schemas.openxmlformats.org/drawingml/2006/main">
            <a:off x="9639300" y="4686300"/>
            <a:ext cx="1847850" cy="400050"/>
          </a:xfrm>
          <a:prstGeom xmlns:a="http://schemas.openxmlformats.org/drawingml/2006/main" prst="rect">
            <a:avLst/>
          </a:prstGeom>
          <a:solidFill xmlns:a="http://schemas.openxmlformats.org/drawingml/2006/main">
            <a:srgbClr val="F4F0E8"/>
          </a:solidFill>
          <a:ln xmlns:a="http://schemas.openxmlformats.org/drawingml/2006/main" w="9525">
            <a:solidFill>
              <a:srgbClr val="3B3832"/>
            </a:solidFill>
            <a:prstDash val="solid"/>
          </a:ln>
        </p:spPr>
      </p:sp>
      <p:sp>
        <p:nvSpPr>
          <p:cNvPr id="35" name="">
            <a:extLst xmlns:a="http://schemas.openxmlformats.org/drawingml/2006/main">
              <a:ext uri="{FF2B5EF4-FFF2-40B4-BE49-F238E27FC236}">
                <a16:creationId xmlns:a16="http://schemas.microsoft.com/office/drawing/2014/main" id="{ED5A1088-7379-4AA5-8AC8-F68E5935726E}"/>
              </a:ext>
            </a:extLst>
          </p:cNvPr>
          <p:cNvSpPr>
            <a:spLocks xmlns:a="http://schemas.openxmlformats.org/drawingml/2006/main" noGrp="1"/>
          </p:cNvSpPr>
          <p:nvPr/>
        </p:nvSpPr>
        <p:spPr>
          <a:xfrm xmlns:a="http://schemas.openxmlformats.org/drawingml/2006/main">
            <a:off x="9772650" y="4781550"/>
            <a:ext cx="15811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050505"/>
                </a:solidFill>
                <a:latin typeface="Aptos"/>
                <a:ea typeface="Aptos"/>
                <a:cs typeface="Aptos"/>
              </a:defRPr>
            </a:pPr>
            <a:r>
              <a:rPr sz="1050" b="0">
                <a:solidFill>
                  <a:srgbClr val="050505"/>
                </a:solidFill>
                <a:latin typeface="Aptos"/>
                <a:ea typeface="Aptos"/>
                <a:cs typeface="Aptos"/>
              </a:rPr>
              <a:t>Human support</a:t>
            </a:r>
          </a:p>
        </p:txBody>
      </p:sp>
      <p:sp>
        <p:nvSpPr>
          <p:cNvPr id="36" name="">
            <a:extLst xmlns:a="http://schemas.openxmlformats.org/drawingml/2006/main">
              <a:ext uri="{FF2B5EF4-FFF2-40B4-BE49-F238E27FC236}">
                <a16:creationId xmlns:a16="http://schemas.microsoft.com/office/drawing/2014/main" id="{04FCCA4F-A56D-45A1-82E8-FF6481961516}"/>
              </a:ext>
            </a:extLst>
          </p:cNvPr>
          <p:cNvSpPr>
            <a:spLocks xmlns:a="http://schemas.openxmlformats.org/drawingml/2006/main" noGrp="1"/>
          </p:cNvSpPr>
          <p:nvPr/>
        </p:nvSpPr>
        <p:spPr>
          <a:xfrm xmlns:a="http://schemas.openxmlformats.org/drawingml/2006/main">
            <a:off x="10572750" y="5181600"/>
            <a:ext cx="9525" cy="323850"/>
          </a:xfrm>
          <a:prstGeom xmlns:a="http://schemas.openxmlformats.org/drawingml/2006/main" prst="rect">
            <a:avLst/>
          </a:prstGeom>
          <a:solidFill xmlns:a="http://schemas.openxmlformats.org/drawingml/2006/main">
            <a:srgbClr val="7B5133"/>
          </a:solidFill>
          <a:ln xmlns:a="http://schemas.openxmlformats.org/drawingml/2006/main" w="0">
            <a:solidFill>
              <a:srgbClr val="7B5133"/>
            </a:solidFill>
            <a:prstDash val="solid"/>
          </a:ln>
        </p:spPr>
      </p:sp>
      <p:sp>
        <p:nvSpPr>
          <p:cNvPr id="37" name="">
            <a:extLst xmlns:a="http://schemas.openxmlformats.org/drawingml/2006/main">
              <a:ext uri="{FF2B5EF4-FFF2-40B4-BE49-F238E27FC236}">
                <a16:creationId xmlns:a16="http://schemas.microsoft.com/office/drawing/2014/main" id="{BE657BC6-323B-4145-B0F3-1B45BD4ED766}"/>
              </a:ext>
            </a:extLst>
          </p:cNvPr>
          <p:cNvSpPr>
            <a:spLocks xmlns:a="http://schemas.openxmlformats.org/drawingml/2006/main" noGrp="1"/>
          </p:cNvSpPr>
          <p:nvPr/>
        </p:nvSpPr>
        <p:spPr>
          <a:xfrm xmlns:a="http://schemas.openxmlformats.org/drawingml/2006/main">
            <a:off x="9639300" y="5619750"/>
            <a:ext cx="1847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7B5133"/>
                </a:solidFill>
                <a:latin typeface="Aptos Mono"/>
                <a:ea typeface="Aptos Mono"/>
                <a:cs typeface="Aptos Mono"/>
              </a:defRPr>
            </a:pPr>
            <a:r>
              <a:rPr sz="900" b="1">
                <a:solidFill>
                  <a:srgbClr val="7B5133"/>
                </a:solidFill>
                <a:latin typeface="Aptos Mono"/>
                <a:ea typeface="Aptos Mono"/>
                <a:cs typeface="Aptos Mono"/>
              </a:rPr>
              <a:t>ORDER CREATION</a:t>
            </a:r>
          </a:p>
        </p:txBody>
      </p:sp>
      <p:sp>
        <p:nvSpPr>
          <p:cNvPr id="38" name="">
            <a:extLst xmlns:a="http://schemas.openxmlformats.org/drawingml/2006/main">
              <a:ext uri="{FF2B5EF4-FFF2-40B4-BE49-F238E27FC236}">
                <a16:creationId xmlns:a16="http://schemas.microsoft.com/office/drawing/2014/main" id="{61B0CF36-B43E-4ADF-80C0-7B5D967C6A71}"/>
              </a:ext>
            </a:extLst>
          </p:cNvPr>
          <p:cNvSpPr>
            <a:spLocks xmlns:a="http://schemas.openxmlformats.org/drawingml/2006/main" noGrp="1"/>
          </p:cNvSpPr>
          <p:nvPr/>
        </p:nvSpPr>
        <p:spPr>
          <a:xfrm xmlns:a="http://schemas.openxmlformats.org/drawingml/2006/main">
            <a:off x="11353800" y="61912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7B5133"/>
                </a:solidFill>
                <a:latin typeface="Aptos Mono"/>
                <a:ea typeface="Aptos Mono"/>
                <a:cs typeface="Aptos Mono"/>
              </a:defRPr>
            </a:pPr>
            <a:r>
              <a:rPr sz="900" b="0">
                <a:solidFill>
                  <a:srgbClr val="7B5133"/>
                </a:solidFill>
                <a:latin typeface="Aptos Mono"/>
                <a:ea typeface="Aptos Mono"/>
                <a:cs typeface="Aptos Mono"/>
              </a:rPr>
              <a:t>05</a:t>
            </a:r>
          </a:p>
        </p:txBody>
      </p:sp>
    </p:spTree>
    <p:extLst>
      <p:ext uri="{BB962C8B-B14F-4D97-AF65-F5344CB8AC3E}">
        <p14:creationId xmlns:p14="http://schemas.microsoft.com/office/powerpoint/2010/main" val="123280313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A023EAC-9929-45B0-85AD-D4B8602AA51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61615"/>
          </a:solidFill>
          <a:ln xmlns:a="http://schemas.openxmlformats.org/drawingml/2006/main" w="0">
            <a:solidFill>
              <a:srgbClr val="161615"/>
            </a:solidFill>
            <a:prstDash val="solid"/>
          </a:ln>
        </p:spPr>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6c2babd9d724db3"/>
          <a:stretch xmlns:a="http://schemas.openxmlformats.org/drawingml/2006/main"/>
        </p:blipFill>
        <p:spPr>
          <a:xfrm xmlns:a="http://schemas.openxmlformats.org/drawingml/2006/main">
            <a:off x="9944100" y="515458"/>
            <a:ext cx="1104900" cy="359735"/>
          </a:xfrm>
          <a:prstGeom xmlns:a="http://schemas.openxmlformats.org/drawingml/2006/main" prst="rect">
            <a:avLst/>
          </a:prstGeom>
        </p:spPr>
      </p:pic>
      <p:sp>
        <p:nvSpPr>
          <p:cNvPr id="3" name="kicker-06-marker">
            <a:extLst xmlns:a="http://schemas.openxmlformats.org/drawingml/2006/main">
              <a:ext uri="{FF2B5EF4-FFF2-40B4-BE49-F238E27FC236}">
                <a16:creationId xmlns:a16="http://schemas.microsoft.com/office/drawing/2014/main" id="{A06E9561-C72F-4012-A65B-63C4B8486F1E}"/>
              </a:ext>
            </a:extLst>
          </p:cNvPr>
          <p:cNvSpPr>
            <a:spLocks xmlns:a="http://schemas.openxmlformats.org/drawingml/2006/main" noGrp="1"/>
          </p:cNvSpPr>
          <p:nvPr/>
        </p:nvSpPr>
        <p:spPr>
          <a:xfrm xmlns:a="http://schemas.openxmlformats.org/drawingml/2006/main">
            <a:off x="685800" y="600075"/>
            <a:ext cx="323850" cy="19050"/>
          </a:xfrm>
          <a:prstGeom xmlns:a="http://schemas.openxmlformats.org/drawingml/2006/main" prst="rect">
            <a:avLst/>
          </a:prstGeom>
          <a:solidFill xmlns:a="http://schemas.openxmlformats.org/drawingml/2006/main">
            <a:srgbClr val="B8652B"/>
          </a:solidFill>
          <a:ln xmlns:a="http://schemas.openxmlformats.org/drawingml/2006/main" w="0">
            <a:solidFill>
              <a:srgbClr val="B8652B"/>
            </a:solidFill>
            <a:prstDash val="solid"/>
          </a:ln>
        </p:spPr>
      </p:sp>
      <p:sp>
        <p:nvSpPr>
          <p:cNvPr id="4" name="kicker-06-label">
            <a:extLst xmlns:a="http://schemas.openxmlformats.org/drawingml/2006/main">
              <a:ext uri="{FF2B5EF4-FFF2-40B4-BE49-F238E27FC236}">
                <a16:creationId xmlns:a16="http://schemas.microsoft.com/office/drawing/2014/main" id="{30CB22A6-CB5D-4124-8A48-62A07DAA6078}"/>
              </a:ext>
            </a:extLst>
          </p:cNvPr>
          <p:cNvSpPr>
            <a:spLocks xmlns:a="http://schemas.openxmlformats.org/drawingml/2006/main" noGrp="1"/>
          </p:cNvSpPr>
          <p:nvPr/>
        </p:nvSpPr>
        <p:spPr>
          <a:xfrm xmlns:a="http://schemas.openxmlformats.org/drawingml/2006/main">
            <a:off x="1123950" y="514350"/>
            <a:ext cx="3429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B7B7B0"/>
                </a:solidFill>
                <a:latin typeface="Aptos Mono"/>
                <a:ea typeface="Aptos Mono"/>
                <a:cs typeface="Aptos Mono"/>
              </a:defRPr>
            </a:pPr>
            <a:r>
              <a:rPr sz="825" b="1">
                <a:solidFill>
                  <a:srgbClr val="B7B7B0"/>
                </a:solidFill>
                <a:latin typeface="Aptos Mono"/>
                <a:ea typeface="Aptos Mono"/>
                <a:cs typeface="Aptos Mono"/>
              </a:rPr>
              <a:t>INVENTORY AND PRODUCTION FLOW</a:t>
            </a:r>
          </a:p>
        </p:txBody>
      </p:sp>
      <p:sp>
        <p:nvSpPr>
          <p:cNvPr id="5" name="">
            <a:extLst xmlns:a="http://schemas.openxmlformats.org/drawingml/2006/main">
              <a:ext uri="{FF2B5EF4-FFF2-40B4-BE49-F238E27FC236}">
                <a16:creationId xmlns:a16="http://schemas.microsoft.com/office/drawing/2014/main" id="{535A983D-E215-4418-B423-3755C4EF9A02}"/>
              </a:ext>
            </a:extLst>
          </p:cNvPr>
          <p:cNvSpPr>
            <a:spLocks xmlns:a="http://schemas.openxmlformats.org/drawingml/2006/main" noGrp="1"/>
          </p:cNvSpPr>
          <p:nvPr/>
        </p:nvSpPr>
        <p:spPr>
          <a:xfrm xmlns:a="http://schemas.openxmlformats.org/drawingml/2006/main">
            <a:off x="685800" y="895350"/>
            <a:ext cx="78486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925" b="0">
                <a:solidFill>
                  <a:srgbClr val="F4F0E8"/>
                </a:solidFill>
                <a:latin typeface="Georgia"/>
                <a:ea typeface="Georgia"/>
                <a:cs typeface="Georgia"/>
              </a:defRPr>
            </a:pPr>
            <a:r>
              <a:rPr sz="2925" b="0">
                <a:solidFill>
                  <a:srgbClr val="F4F0E8"/>
                </a:solidFill>
                <a:latin typeface="Georgia"/>
                <a:ea typeface="Georgia"/>
                <a:cs typeface="Georgia"/>
              </a:rPr>
              <a:t>Confirmed orders should reserve stock and trigger production discipline.</a:t>
            </a:r>
          </a:p>
        </p:txBody>
      </p:sp>
      <p:sp>
        <p:nvSpPr>
          <p:cNvPr id="6" name="">
            <a:extLst xmlns:a="http://schemas.openxmlformats.org/drawingml/2006/main">
              <a:ext uri="{FF2B5EF4-FFF2-40B4-BE49-F238E27FC236}">
                <a16:creationId xmlns:a16="http://schemas.microsoft.com/office/drawing/2014/main" id="{88723574-DDDE-4571-B04F-4AE2F4793E82}"/>
              </a:ext>
            </a:extLst>
          </p:cNvPr>
          <p:cNvSpPr>
            <a:spLocks xmlns:a="http://schemas.openxmlformats.org/drawingml/2006/main" noGrp="1"/>
          </p:cNvSpPr>
          <p:nvPr/>
        </p:nvSpPr>
        <p:spPr>
          <a:xfrm xmlns:a="http://schemas.openxmlformats.org/drawingml/2006/main">
            <a:off x="704850" y="1885950"/>
            <a:ext cx="7239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B7B7B0"/>
                </a:solidFill>
                <a:latin typeface="Aptos"/>
                <a:ea typeface="Aptos"/>
                <a:cs typeface="Aptos"/>
              </a:defRPr>
            </a:pPr>
            <a:r>
              <a:rPr sz="1425" b="0">
                <a:solidFill>
                  <a:srgbClr val="B7B7B0"/>
                </a:solidFill>
                <a:latin typeface="Aptos"/>
                <a:ea typeface="Aptos"/>
                <a:cs typeface="Aptos"/>
              </a:rPr>
              <a:t>The workflow links client commitment to inventory movement, production accountability, quality control, and delivery follow-up.</a:t>
            </a:r>
          </a:p>
        </p:txBody>
      </p:sp>
      <p:sp>
        <p:nvSpPr>
          <p:cNvPr id="7" name="">
            <a:extLst xmlns:a="http://schemas.openxmlformats.org/drawingml/2006/main">
              <a:ext uri="{FF2B5EF4-FFF2-40B4-BE49-F238E27FC236}">
                <a16:creationId xmlns:a16="http://schemas.microsoft.com/office/drawing/2014/main" id="{121ED500-2C7F-4969-A3E7-F9A64C4A680F}"/>
              </a:ext>
            </a:extLst>
          </p:cNvPr>
          <p:cNvSpPr>
            <a:spLocks xmlns:a="http://schemas.openxmlformats.org/drawingml/2006/main" noGrp="1"/>
          </p:cNvSpPr>
          <p:nvPr/>
        </p:nvSpPr>
        <p:spPr>
          <a:xfrm xmlns:a="http://schemas.openxmlformats.org/drawingml/2006/main">
            <a:off x="819150" y="2914650"/>
            <a:ext cx="1466850" cy="1257300"/>
          </a:xfrm>
          <a:prstGeom xmlns:a="http://schemas.openxmlformats.org/drawingml/2006/main" prst="rect">
            <a:avLst/>
          </a:prstGeom>
          <a:solidFill xmlns:a="http://schemas.openxmlformats.org/drawingml/2006/main">
            <a:srgbClr val="171511"/>
          </a:solidFill>
          <a:ln xmlns:a="http://schemas.openxmlformats.org/drawingml/2006/main" w="9525">
            <a:solidFill>
              <a:srgbClr val="373127"/>
            </a:solidFill>
            <a:prstDash val="solid"/>
          </a:ln>
        </p:spPr>
      </p:sp>
      <p:sp>
        <p:nvSpPr>
          <p:cNvPr id="8" name="">
            <a:extLst xmlns:a="http://schemas.openxmlformats.org/drawingml/2006/main">
              <a:ext uri="{FF2B5EF4-FFF2-40B4-BE49-F238E27FC236}">
                <a16:creationId xmlns:a16="http://schemas.microsoft.com/office/drawing/2014/main" id="{46B7F143-971E-402C-B421-FA14FF0B2CAC}"/>
              </a:ext>
            </a:extLst>
          </p:cNvPr>
          <p:cNvSpPr>
            <a:spLocks xmlns:a="http://schemas.openxmlformats.org/drawingml/2006/main" noGrp="1"/>
          </p:cNvSpPr>
          <p:nvPr/>
        </p:nvSpPr>
        <p:spPr>
          <a:xfrm xmlns:a="http://schemas.openxmlformats.org/drawingml/2006/main">
            <a:off x="990600" y="3086100"/>
            <a:ext cx="361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7B5133"/>
                </a:solidFill>
                <a:latin typeface="Aptos Mono"/>
                <a:ea typeface="Aptos Mono"/>
                <a:cs typeface="Aptos Mono"/>
              </a:defRPr>
            </a:pPr>
            <a:r>
              <a:rPr sz="900" b="1">
                <a:solidFill>
                  <a:srgbClr val="7B5133"/>
                </a:solidFill>
                <a:latin typeface="Aptos Mono"/>
                <a:ea typeface="Aptos Mono"/>
                <a:cs typeface="Aptos Mono"/>
              </a:rPr>
              <a:t>01</a:t>
            </a:r>
          </a:p>
        </p:txBody>
      </p:sp>
      <p:sp>
        <p:nvSpPr>
          <p:cNvPr id="9" name="">
            <a:extLst xmlns:a="http://schemas.openxmlformats.org/drawingml/2006/main">
              <a:ext uri="{FF2B5EF4-FFF2-40B4-BE49-F238E27FC236}">
                <a16:creationId xmlns:a16="http://schemas.microsoft.com/office/drawing/2014/main" id="{62699656-0A06-4414-A156-C23D82BBA640}"/>
              </a:ext>
            </a:extLst>
          </p:cNvPr>
          <p:cNvSpPr>
            <a:spLocks xmlns:a="http://schemas.openxmlformats.org/drawingml/2006/main" noGrp="1"/>
          </p:cNvSpPr>
          <p:nvPr/>
        </p:nvSpPr>
        <p:spPr>
          <a:xfrm xmlns:a="http://schemas.openxmlformats.org/drawingml/2006/main">
            <a:off x="990600" y="3390900"/>
            <a:ext cx="11049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F4F0E8"/>
                </a:solidFill>
                <a:latin typeface="Georgia"/>
                <a:ea typeface="Georgia"/>
                <a:cs typeface="Georgia"/>
              </a:defRPr>
            </a:pPr>
            <a:r>
              <a:rPr sz="1350" b="0">
                <a:solidFill>
                  <a:srgbClr val="F4F0E8"/>
                </a:solidFill>
                <a:latin typeface="Georgia"/>
                <a:ea typeface="Georgia"/>
                <a:cs typeface="Georgia"/>
              </a:rPr>
              <a:t>Order confirmed</a:t>
            </a:r>
          </a:p>
        </p:txBody>
      </p:sp>
      <p:sp>
        <p:nvSpPr>
          <p:cNvPr id="10" name="">
            <a:extLst xmlns:a="http://schemas.openxmlformats.org/drawingml/2006/main">
              <a:ext uri="{FF2B5EF4-FFF2-40B4-BE49-F238E27FC236}">
                <a16:creationId xmlns:a16="http://schemas.microsoft.com/office/drawing/2014/main" id="{44A3FC9F-23C1-4462-8501-D9ED7718CB35}"/>
              </a:ext>
            </a:extLst>
          </p:cNvPr>
          <p:cNvSpPr>
            <a:spLocks xmlns:a="http://schemas.openxmlformats.org/drawingml/2006/main" noGrp="1"/>
          </p:cNvSpPr>
          <p:nvPr/>
        </p:nvSpPr>
        <p:spPr>
          <a:xfrm xmlns:a="http://schemas.openxmlformats.org/drawingml/2006/main">
            <a:off x="990600" y="3771900"/>
            <a:ext cx="11049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B7B7B0"/>
                </a:solidFill>
                <a:latin typeface="Aptos Mono"/>
                <a:ea typeface="Aptos Mono"/>
                <a:cs typeface="Aptos Mono"/>
              </a:defRPr>
            </a:pPr>
            <a:r>
              <a:rPr sz="825" b="1">
                <a:solidFill>
                  <a:srgbClr val="B7B7B0"/>
                </a:solidFill>
                <a:latin typeface="Aptos Mono"/>
                <a:ea typeface="Aptos Mono"/>
                <a:cs typeface="Aptos Mono"/>
              </a:rPr>
              <a:t>deposit / payment</a:t>
            </a:r>
          </a:p>
        </p:txBody>
      </p:sp>
      <p:sp>
        <p:nvSpPr>
          <p:cNvPr id="11" name="">
            <a:extLst xmlns:a="http://schemas.openxmlformats.org/drawingml/2006/main">
              <a:ext uri="{FF2B5EF4-FFF2-40B4-BE49-F238E27FC236}">
                <a16:creationId xmlns:a16="http://schemas.microsoft.com/office/drawing/2014/main" id="{BEA75BF3-9794-421D-882D-41CFBACD79B4}"/>
              </a:ext>
            </a:extLst>
          </p:cNvPr>
          <p:cNvSpPr>
            <a:spLocks xmlns:a="http://schemas.openxmlformats.org/drawingml/2006/main" noGrp="1"/>
          </p:cNvSpPr>
          <p:nvPr/>
        </p:nvSpPr>
        <p:spPr>
          <a:xfrm xmlns:a="http://schemas.openxmlformats.org/drawingml/2006/main">
            <a:off x="2381250" y="3524250"/>
            <a:ext cx="247650" cy="19050"/>
          </a:xfrm>
          <a:prstGeom xmlns:a="http://schemas.openxmlformats.org/drawingml/2006/main" prst="rect">
            <a:avLst/>
          </a:prstGeom>
          <a:solidFill xmlns:a="http://schemas.openxmlformats.org/drawingml/2006/main">
            <a:srgbClr val="B8652B"/>
          </a:solidFill>
          <a:ln xmlns:a="http://schemas.openxmlformats.org/drawingml/2006/main" w="0">
            <a:solidFill>
              <a:srgbClr val="B8652B"/>
            </a:solidFill>
            <a:prstDash val="solid"/>
          </a:ln>
        </p:spPr>
      </p:sp>
      <p:sp>
        <p:nvSpPr>
          <p:cNvPr id="12" name="">
            <a:extLst xmlns:a="http://schemas.openxmlformats.org/drawingml/2006/main">
              <a:ext uri="{FF2B5EF4-FFF2-40B4-BE49-F238E27FC236}">
                <a16:creationId xmlns:a16="http://schemas.microsoft.com/office/drawing/2014/main" id="{EC7D4BC8-047E-4A85-83C7-535B9F09A847}"/>
              </a:ext>
            </a:extLst>
          </p:cNvPr>
          <p:cNvSpPr>
            <a:spLocks xmlns:a="http://schemas.openxmlformats.org/drawingml/2006/main" noGrp="1"/>
          </p:cNvSpPr>
          <p:nvPr/>
        </p:nvSpPr>
        <p:spPr>
          <a:xfrm xmlns:a="http://schemas.openxmlformats.org/drawingml/2006/main">
            <a:off x="2628900" y="2914650"/>
            <a:ext cx="1466850" cy="1257300"/>
          </a:xfrm>
          <a:prstGeom xmlns:a="http://schemas.openxmlformats.org/drawingml/2006/main" prst="rect">
            <a:avLst/>
          </a:prstGeom>
          <a:solidFill xmlns:a="http://schemas.openxmlformats.org/drawingml/2006/main">
            <a:srgbClr val="171511"/>
          </a:solidFill>
          <a:ln xmlns:a="http://schemas.openxmlformats.org/drawingml/2006/main" w="9525">
            <a:solidFill>
              <a:srgbClr val="373127"/>
            </a:solidFill>
            <a:prstDash val="solid"/>
          </a:ln>
        </p:spPr>
      </p:sp>
      <p:sp>
        <p:nvSpPr>
          <p:cNvPr id="13" name="">
            <a:extLst xmlns:a="http://schemas.openxmlformats.org/drawingml/2006/main">
              <a:ext uri="{FF2B5EF4-FFF2-40B4-BE49-F238E27FC236}">
                <a16:creationId xmlns:a16="http://schemas.microsoft.com/office/drawing/2014/main" id="{A7250FE0-FC87-4500-AB35-23814513D8B4}"/>
              </a:ext>
            </a:extLst>
          </p:cNvPr>
          <p:cNvSpPr>
            <a:spLocks xmlns:a="http://schemas.openxmlformats.org/drawingml/2006/main" noGrp="1"/>
          </p:cNvSpPr>
          <p:nvPr/>
        </p:nvSpPr>
        <p:spPr>
          <a:xfrm xmlns:a="http://schemas.openxmlformats.org/drawingml/2006/main">
            <a:off x="2800350" y="3086100"/>
            <a:ext cx="361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3F4A35"/>
                </a:solidFill>
                <a:latin typeface="Aptos Mono"/>
                <a:ea typeface="Aptos Mono"/>
                <a:cs typeface="Aptos Mono"/>
              </a:defRPr>
            </a:pPr>
            <a:r>
              <a:rPr sz="900" b="1">
                <a:solidFill>
                  <a:srgbClr val="3F4A35"/>
                </a:solidFill>
                <a:latin typeface="Aptos Mono"/>
                <a:ea typeface="Aptos Mono"/>
                <a:cs typeface="Aptos Mono"/>
              </a:rPr>
              <a:t>02</a:t>
            </a:r>
          </a:p>
        </p:txBody>
      </p:sp>
      <p:sp>
        <p:nvSpPr>
          <p:cNvPr id="14" name="">
            <a:extLst xmlns:a="http://schemas.openxmlformats.org/drawingml/2006/main">
              <a:ext uri="{FF2B5EF4-FFF2-40B4-BE49-F238E27FC236}">
                <a16:creationId xmlns:a16="http://schemas.microsoft.com/office/drawing/2014/main" id="{1E88C129-C2C7-4992-841E-747D32BAB1F2}"/>
              </a:ext>
            </a:extLst>
          </p:cNvPr>
          <p:cNvSpPr>
            <a:spLocks xmlns:a="http://schemas.openxmlformats.org/drawingml/2006/main" noGrp="1"/>
          </p:cNvSpPr>
          <p:nvPr/>
        </p:nvSpPr>
        <p:spPr>
          <a:xfrm xmlns:a="http://schemas.openxmlformats.org/drawingml/2006/main">
            <a:off x="2800350" y="3390900"/>
            <a:ext cx="11049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F4F0E8"/>
                </a:solidFill>
                <a:latin typeface="Georgia"/>
                <a:ea typeface="Georgia"/>
                <a:cs typeface="Georgia"/>
              </a:defRPr>
            </a:pPr>
            <a:r>
              <a:rPr sz="1350" b="0">
                <a:solidFill>
                  <a:srgbClr val="F4F0E8"/>
                </a:solidFill>
                <a:latin typeface="Georgia"/>
                <a:ea typeface="Georgia"/>
                <a:cs typeface="Georgia"/>
              </a:rPr>
              <a:t>Stock reserved</a:t>
            </a:r>
          </a:p>
        </p:txBody>
      </p:sp>
      <p:sp>
        <p:nvSpPr>
          <p:cNvPr id="15" name="">
            <a:extLst xmlns:a="http://schemas.openxmlformats.org/drawingml/2006/main">
              <a:ext uri="{FF2B5EF4-FFF2-40B4-BE49-F238E27FC236}">
                <a16:creationId xmlns:a16="http://schemas.microsoft.com/office/drawing/2014/main" id="{A4507B8E-F9C2-4266-A0A9-B2EF2EC36C71}"/>
              </a:ext>
            </a:extLst>
          </p:cNvPr>
          <p:cNvSpPr>
            <a:spLocks xmlns:a="http://schemas.openxmlformats.org/drawingml/2006/main" noGrp="1"/>
          </p:cNvSpPr>
          <p:nvPr/>
        </p:nvSpPr>
        <p:spPr>
          <a:xfrm xmlns:a="http://schemas.openxmlformats.org/drawingml/2006/main">
            <a:off x="2800350" y="3771900"/>
            <a:ext cx="11049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B7B7B0"/>
                </a:solidFill>
                <a:latin typeface="Aptos Mono"/>
                <a:ea typeface="Aptos Mono"/>
                <a:cs typeface="Aptos Mono"/>
              </a:defRPr>
            </a:pPr>
            <a:r>
              <a:rPr sz="825" b="1">
                <a:solidFill>
                  <a:srgbClr val="B7B7B0"/>
                </a:solidFill>
                <a:latin typeface="Aptos Mono"/>
                <a:ea typeface="Aptos Mono"/>
                <a:cs typeface="Aptos Mono"/>
              </a:rPr>
              <a:t>deduct or hold</a:t>
            </a:r>
          </a:p>
        </p:txBody>
      </p:sp>
      <p:sp>
        <p:nvSpPr>
          <p:cNvPr id="16" name="">
            <a:extLst xmlns:a="http://schemas.openxmlformats.org/drawingml/2006/main">
              <a:ext uri="{FF2B5EF4-FFF2-40B4-BE49-F238E27FC236}">
                <a16:creationId xmlns:a16="http://schemas.microsoft.com/office/drawing/2014/main" id="{13554A13-401F-46AD-8BD2-229EAD13F199}"/>
              </a:ext>
            </a:extLst>
          </p:cNvPr>
          <p:cNvSpPr>
            <a:spLocks xmlns:a="http://schemas.openxmlformats.org/drawingml/2006/main" noGrp="1"/>
          </p:cNvSpPr>
          <p:nvPr/>
        </p:nvSpPr>
        <p:spPr>
          <a:xfrm xmlns:a="http://schemas.openxmlformats.org/drawingml/2006/main">
            <a:off x="4191000" y="3524250"/>
            <a:ext cx="247650" cy="19050"/>
          </a:xfrm>
          <a:prstGeom xmlns:a="http://schemas.openxmlformats.org/drawingml/2006/main" prst="rect">
            <a:avLst/>
          </a:prstGeom>
          <a:solidFill xmlns:a="http://schemas.openxmlformats.org/drawingml/2006/main">
            <a:srgbClr val="B8652B"/>
          </a:solidFill>
          <a:ln xmlns:a="http://schemas.openxmlformats.org/drawingml/2006/main" w="0">
            <a:solidFill>
              <a:srgbClr val="B8652B"/>
            </a:solidFill>
            <a:prstDash val="solid"/>
          </a:ln>
        </p:spPr>
      </p:sp>
      <p:sp>
        <p:nvSpPr>
          <p:cNvPr id="17" name="">
            <a:extLst xmlns:a="http://schemas.openxmlformats.org/drawingml/2006/main">
              <a:ext uri="{FF2B5EF4-FFF2-40B4-BE49-F238E27FC236}">
                <a16:creationId xmlns:a16="http://schemas.microsoft.com/office/drawing/2014/main" id="{0AF2AA9D-DBB5-4C38-B805-59514A855532}"/>
              </a:ext>
            </a:extLst>
          </p:cNvPr>
          <p:cNvSpPr>
            <a:spLocks xmlns:a="http://schemas.openxmlformats.org/drawingml/2006/main" noGrp="1"/>
          </p:cNvSpPr>
          <p:nvPr/>
        </p:nvSpPr>
        <p:spPr>
          <a:xfrm xmlns:a="http://schemas.openxmlformats.org/drawingml/2006/main">
            <a:off x="4438650" y="2914650"/>
            <a:ext cx="1466850" cy="1257300"/>
          </a:xfrm>
          <a:prstGeom xmlns:a="http://schemas.openxmlformats.org/drawingml/2006/main" prst="rect">
            <a:avLst/>
          </a:prstGeom>
          <a:solidFill xmlns:a="http://schemas.openxmlformats.org/drawingml/2006/main">
            <a:srgbClr val="171511"/>
          </a:solidFill>
          <a:ln xmlns:a="http://schemas.openxmlformats.org/drawingml/2006/main" w="9525">
            <a:solidFill>
              <a:srgbClr val="373127"/>
            </a:solidFill>
            <a:prstDash val="solid"/>
          </a:ln>
        </p:spPr>
      </p:sp>
      <p:sp>
        <p:nvSpPr>
          <p:cNvPr id="18" name="">
            <a:extLst xmlns:a="http://schemas.openxmlformats.org/drawingml/2006/main">
              <a:ext uri="{FF2B5EF4-FFF2-40B4-BE49-F238E27FC236}">
                <a16:creationId xmlns:a16="http://schemas.microsoft.com/office/drawing/2014/main" id="{B5810836-5ACD-4031-AD2C-340F8BE6C5C6}"/>
              </a:ext>
            </a:extLst>
          </p:cNvPr>
          <p:cNvSpPr>
            <a:spLocks xmlns:a="http://schemas.openxmlformats.org/drawingml/2006/main" noGrp="1"/>
          </p:cNvSpPr>
          <p:nvPr/>
        </p:nvSpPr>
        <p:spPr>
          <a:xfrm xmlns:a="http://schemas.openxmlformats.org/drawingml/2006/main">
            <a:off x="4610100" y="3086100"/>
            <a:ext cx="361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B8652B"/>
                </a:solidFill>
                <a:latin typeface="Aptos Mono"/>
                <a:ea typeface="Aptos Mono"/>
                <a:cs typeface="Aptos Mono"/>
              </a:defRPr>
            </a:pPr>
            <a:r>
              <a:rPr sz="900" b="1">
                <a:solidFill>
                  <a:srgbClr val="B8652B"/>
                </a:solidFill>
                <a:latin typeface="Aptos Mono"/>
                <a:ea typeface="Aptos Mono"/>
                <a:cs typeface="Aptos Mono"/>
              </a:rPr>
              <a:t>03</a:t>
            </a:r>
          </a:p>
        </p:txBody>
      </p:sp>
      <p:sp>
        <p:nvSpPr>
          <p:cNvPr id="19" name="">
            <a:extLst xmlns:a="http://schemas.openxmlformats.org/drawingml/2006/main">
              <a:ext uri="{FF2B5EF4-FFF2-40B4-BE49-F238E27FC236}">
                <a16:creationId xmlns:a16="http://schemas.microsoft.com/office/drawing/2014/main" id="{3B0E9C33-5E7F-42E3-8E40-1101232ED6A6}"/>
              </a:ext>
            </a:extLst>
          </p:cNvPr>
          <p:cNvSpPr>
            <a:spLocks xmlns:a="http://schemas.openxmlformats.org/drawingml/2006/main" noGrp="1"/>
          </p:cNvSpPr>
          <p:nvPr/>
        </p:nvSpPr>
        <p:spPr>
          <a:xfrm xmlns:a="http://schemas.openxmlformats.org/drawingml/2006/main">
            <a:off x="4610100" y="3390900"/>
            <a:ext cx="11049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F4F0E8"/>
                </a:solidFill>
                <a:latin typeface="Georgia"/>
                <a:ea typeface="Georgia"/>
                <a:cs typeface="Georgia"/>
              </a:defRPr>
            </a:pPr>
            <a:r>
              <a:rPr sz="1350" b="0">
                <a:solidFill>
                  <a:srgbClr val="F4F0E8"/>
                </a:solidFill>
                <a:latin typeface="Georgia"/>
                <a:ea typeface="Georgia"/>
                <a:cs typeface="Georgia"/>
              </a:rPr>
              <a:t>Production task</a:t>
            </a:r>
          </a:p>
        </p:txBody>
      </p:sp>
      <p:sp>
        <p:nvSpPr>
          <p:cNvPr id="20" name="">
            <a:extLst xmlns:a="http://schemas.openxmlformats.org/drawingml/2006/main">
              <a:ext uri="{FF2B5EF4-FFF2-40B4-BE49-F238E27FC236}">
                <a16:creationId xmlns:a16="http://schemas.microsoft.com/office/drawing/2014/main" id="{00322315-3EE0-46DF-9D95-585CF79F7EA8}"/>
              </a:ext>
            </a:extLst>
          </p:cNvPr>
          <p:cNvSpPr>
            <a:spLocks xmlns:a="http://schemas.openxmlformats.org/drawingml/2006/main" noGrp="1"/>
          </p:cNvSpPr>
          <p:nvPr/>
        </p:nvSpPr>
        <p:spPr>
          <a:xfrm xmlns:a="http://schemas.openxmlformats.org/drawingml/2006/main">
            <a:off x="4610100" y="3771900"/>
            <a:ext cx="11049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B7B7B0"/>
                </a:solidFill>
                <a:latin typeface="Aptos Mono"/>
                <a:ea typeface="Aptos Mono"/>
                <a:cs typeface="Aptos Mono"/>
              </a:defRPr>
            </a:pPr>
            <a:r>
              <a:rPr sz="825" b="1">
                <a:solidFill>
                  <a:srgbClr val="B7B7B0"/>
                </a:solidFill>
                <a:latin typeface="Aptos Mono"/>
                <a:ea typeface="Aptos Mono"/>
                <a:cs typeface="Aptos Mono"/>
              </a:rPr>
              <a:t>assign work</a:t>
            </a:r>
          </a:p>
        </p:txBody>
      </p:sp>
      <p:sp>
        <p:nvSpPr>
          <p:cNvPr id="21" name="">
            <a:extLst xmlns:a="http://schemas.openxmlformats.org/drawingml/2006/main">
              <a:ext uri="{FF2B5EF4-FFF2-40B4-BE49-F238E27FC236}">
                <a16:creationId xmlns:a16="http://schemas.microsoft.com/office/drawing/2014/main" id="{6B25751C-ADD9-4F13-93F7-DA1006220BB6}"/>
              </a:ext>
            </a:extLst>
          </p:cNvPr>
          <p:cNvSpPr>
            <a:spLocks xmlns:a="http://schemas.openxmlformats.org/drawingml/2006/main" noGrp="1"/>
          </p:cNvSpPr>
          <p:nvPr/>
        </p:nvSpPr>
        <p:spPr>
          <a:xfrm xmlns:a="http://schemas.openxmlformats.org/drawingml/2006/main">
            <a:off x="6000750" y="3524250"/>
            <a:ext cx="247650" cy="19050"/>
          </a:xfrm>
          <a:prstGeom xmlns:a="http://schemas.openxmlformats.org/drawingml/2006/main" prst="rect">
            <a:avLst/>
          </a:prstGeom>
          <a:solidFill xmlns:a="http://schemas.openxmlformats.org/drawingml/2006/main">
            <a:srgbClr val="B8652B"/>
          </a:solidFill>
          <a:ln xmlns:a="http://schemas.openxmlformats.org/drawingml/2006/main" w="0">
            <a:solidFill>
              <a:srgbClr val="B8652B"/>
            </a:solidFill>
            <a:prstDash val="solid"/>
          </a:ln>
        </p:spPr>
      </p:sp>
      <p:sp>
        <p:nvSpPr>
          <p:cNvPr id="22" name="">
            <a:extLst xmlns:a="http://schemas.openxmlformats.org/drawingml/2006/main">
              <a:ext uri="{FF2B5EF4-FFF2-40B4-BE49-F238E27FC236}">
                <a16:creationId xmlns:a16="http://schemas.microsoft.com/office/drawing/2014/main" id="{9088B487-7339-49B1-9BB7-ACD4F186FD6D}"/>
              </a:ext>
            </a:extLst>
          </p:cNvPr>
          <p:cNvSpPr>
            <a:spLocks xmlns:a="http://schemas.openxmlformats.org/drawingml/2006/main" noGrp="1"/>
          </p:cNvSpPr>
          <p:nvPr/>
        </p:nvSpPr>
        <p:spPr>
          <a:xfrm xmlns:a="http://schemas.openxmlformats.org/drawingml/2006/main">
            <a:off x="6248400" y="2914650"/>
            <a:ext cx="1466850" cy="1257300"/>
          </a:xfrm>
          <a:prstGeom xmlns:a="http://schemas.openxmlformats.org/drawingml/2006/main" prst="rect">
            <a:avLst/>
          </a:prstGeom>
          <a:solidFill xmlns:a="http://schemas.openxmlformats.org/drawingml/2006/main">
            <a:srgbClr val="171511"/>
          </a:solidFill>
          <a:ln xmlns:a="http://schemas.openxmlformats.org/drawingml/2006/main" w="9525">
            <a:solidFill>
              <a:srgbClr val="373127"/>
            </a:solidFill>
            <a:prstDash val="solid"/>
          </a:ln>
        </p:spPr>
      </p:sp>
      <p:sp>
        <p:nvSpPr>
          <p:cNvPr id="23" name="">
            <a:extLst xmlns:a="http://schemas.openxmlformats.org/drawingml/2006/main">
              <a:ext uri="{FF2B5EF4-FFF2-40B4-BE49-F238E27FC236}">
                <a16:creationId xmlns:a16="http://schemas.microsoft.com/office/drawing/2014/main" id="{35AB2B6E-0D35-4675-8A30-FCBDE8E751C3}"/>
              </a:ext>
            </a:extLst>
          </p:cNvPr>
          <p:cNvSpPr>
            <a:spLocks xmlns:a="http://schemas.openxmlformats.org/drawingml/2006/main" noGrp="1"/>
          </p:cNvSpPr>
          <p:nvPr/>
        </p:nvSpPr>
        <p:spPr>
          <a:xfrm xmlns:a="http://schemas.openxmlformats.org/drawingml/2006/main">
            <a:off x="6419850" y="3086100"/>
            <a:ext cx="361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B7B7B0"/>
                </a:solidFill>
                <a:latin typeface="Aptos Mono"/>
                <a:ea typeface="Aptos Mono"/>
                <a:cs typeface="Aptos Mono"/>
              </a:defRPr>
            </a:pPr>
            <a:r>
              <a:rPr sz="900" b="1">
                <a:solidFill>
                  <a:srgbClr val="B7B7B0"/>
                </a:solidFill>
                <a:latin typeface="Aptos Mono"/>
                <a:ea typeface="Aptos Mono"/>
                <a:cs typeface="Aptos Mono"/>
              </a:rPr>
              <a:t>04</a:t>
            </a:r>
          </a:p>
        </p:txBody>
      </p:sp>
      <p:sp>
        <p:nvSpPr>
          <p:cNvPr id="24" name="">
            <a:extLst xmlns:a="http://schemas.openxmlformats.org/drawingml/2006/main">
              <a:ext uri="{FF2B5EF4-FFF2-40B4-BE49-F238E27FC236}">
                <a16:creationId xmlns:a16="http://schemas.microsoft.com/office/drawing/2014/main" id="{BA665DEC-CE66-4957-95D8-EFB8C1579CC4}"/>
              </a:ext>
            </a:extLst>
          </p:cNvPr>
          <p:cNvSpPr>
            <a:spLocks xmlns:a="http://schemas.openxmlformats.org/drawingml/2006/main" noGrp="1"/>
          </p:cNvSpPr>
          <p:nvPr/>
        </p:nvSpPr>
        <p:spPr>
          <a:xfrm xmlns:a="http://schemas.openxmlformats.org/drawingml/2006/main">
            <a:off x="6419850" y="3390900"/>
            <a:ext cx="11049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F4F0E8"/>
                </a:solidFill>
                <a:latin typeface="Georgia"/>
                <a:ea typeface="Georgia"/>
                <a:cs typeface="Georgia"/>
              </a:defRPr>
            </a:pPr>
            <a:r>
              <a:rPr sz="1350" b="0">
                <a:solidFill>
                  <a:srgbClr val="F4F0E8"/>
                </a:solidFill>
                <a:latin typeface="Georgia"/>
                <a:ea typeface="Georgia"/>
                <a:cs typeface="Georgia"/>
              </a:rPr>
              <a:t>Quality check</a:t>
            </a:r>
          </a:p>
        </p:txBody>
      </p:sp>
      <p:sp>
        <p:nvSpPr>
          <p:cNvPr id="25" name="">
            <a:extLst xmlns:a="http://schemas.openxmlformats.org/drawingml/2006/main">
              <a:ext uri="{FF2B5EF4-FFF2-40B4-BE49-F238E27FC236}">
                <a16:creationId xmlns:a16="http://schemas.microsoft.com/office/drawing/2014/main" id="{63F8EA92-A904-45F8-A4F6-16DDB50153BC}"/>
              </a:ext>
            </a:extLst>
          </p:cNvPr>
          <p:cNvSpPr>
            <a:spLocks xmlns:a="http://schemas.openxmlformats.org/drawingml/2006/main" noGrp="1"/>
          </p:cNvSpPr>
          <p:nvPr/>
        </p:nvSpPr>
        <p:spPr>
          <a:xfrm xmlns:a="http://schemas.openxmlformats.org/drawingml/2006/main">
            <a:off x="6419850" y="3771900"/>
            <a:ext cx="11049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B7B7B0"/>
                </a:solidFill>
                <a:latin typeface="Aptos Mono"/>
                <a:ea typeface="Aptos Mono"/>
                <a:cs typeface="Aptos Mono"/>
              </a:defRPr>
            </a:pPr>
            <a:r>
              <a:rPr sz="825" b="1">
                <a:solidFill>
                  <a:srgbClr val="B7B7B0"/>
                </a:solidFill>
                <a:latin typeface="Aptos Mono"/>
                <a:ea typeface="Aptos Mono"/>
                <a:cs typeface="Aptos Mono"/>
              </a:rPr>
              <a:t>approve finish</a:t>
            </a:r>
          </a:p>
        </p:txBody>
      </p:sp>
      <p:sp>
        <p:nvSpPr>
          <p:cNvPr id="26" name="">
            <a:extLst xmlns:a="http://schemas.openxmlformats.org/drawingml/2006/main">
              <a:ext uri="{FF2B5EF4-FFF2-40B4-BE49-F238E27FC236}">
                <a16:creationId xmlns:a16="http://schemas.microsoft.com/office/drawing/2014/main" id="{F1CFC14E-174E-46CC-8E0F-E36233D0E130}"/>
              </a:ext>
            </a:extLst>
          </p:cNvPr>
          <p:cNvSpPr>
            <a:spLocks xmlns:a="http://schemas.openxmlformats.org/drawingml/2006/main" noGrp="1"/>
          </p:cNvSpPr>
          <p:nvPr/>
        </p:nvSpPr>
        <p:spPr>
          <a:xfrm xmlns:a="http://schemas.openxmlformats.org/drawingml/2006/main">
            <a:off x="7810500" y="3524250"/>
            <a:ext cx="247650" cy="19050"/>
          </a:xfrm>
          <a:prstGeom xmlns:a="http://schemas.openxmlformats.org/drawingml/2006/main" prst="rect">
            <a:avLst/>
          </a:prstGeom>
          <a:solidFill xmlns:a="http://schemas.openxmlformats.org/drawingml/2006/main">
            <a:srgbClr val="B8652B"/>
          </a:solidFill>
          <a:ln xmlns:a="http://schemas.openxmlformats.org/drawingml/2006/main" w="0">
            <a:solidFill>
              <a:srgbClr val="B8652B"/>
            </a:solidFill>
            <a:prstDash val="solid"/>
          </a:ln>
        </p:spPr>
      </p:sp>
      <p:sp>
        <p:nvSpPr>
          <p:cNvPr id="27" name="">
            <a:extLst xmlns:a="http://schemas.openxmlformats.org/drawingml/2006/main">
              <a:ext uri="{FF2B5EF4-FFF2-40B4-BE49-F238E27FC236}">
                <a16:creationId xmlns:a16="http://schemas.microsoft.com/office/drawing/2014/main" id="{91879760-3E18-42AE-826E-A2F686BBCA0C}"/>
              </a:ext>
            </a:extLst>
          </p:cNvPr>
          <p:cNvSpPr>
            <a:spLocks xmlns:a="http://schemas.openxmlformats.org/drawingml/2006/main" noGrp="1"/>
          </p:cNvSpPr>
          <p:nvPr/>
        </p:nvSpPr>
        <p:spPr>
          <a:xfrm xmlns:a="http://schemas.openxmlformats.org/drawingml/2006/main">
            <a:off x="8058150" y="2914650"/>
            <a:ext cx="1466850" cy="1257300"/>
          </a:xfrm>
          <a:prstGeom xmlns:a="http://schemas.openxmlformats.org/drawingml/2006/main" prst="rect">
            <a:avLst/>
          </a:prstGeom>
          <a:solidFill xmlns:a="http://schemas.openxmlformats.org/drawingml/2006/main">
            <a:srgbClr val="171511"/>
          </a:solidFill>
          <a:ln xmlns:a="http://schemas.openxmlformats.org/drawingml/2006/main" w="9525">
            <a:solidFill>
              <a:srgbClr val="373127"/>
            </a:solidFill>
            <a:prstDash val="solid"/>
          </a:ln>
        </p:spPr>
      </p:sp>
      <p:sp>
        <p:nvSpPr>
          <p:cNvPr id="28" name="">
            <a:extLst xmlns:a="http://schemas.openxmlformats.org/drawingml/2006/main">
              <a:ext uri="{FF2B5EF4-FFF2-40B4-BE49-F238E27FC236}">
                <a16:creationId xmlns:a16="http://schemas.microsoft.com/office/drawing/2014/main" id="{AF2530C8-910A-472E-B5B1-C8BDCECD01E1}"/>
              </a:ext>
            </a:extLst>
          </p:cNvPr>
          <p:cNvSpPr>
            <a:spLocks xmlns:a="http://schemas.openxmlformats.org/drawingml/2006/main" noGrp="1"/>
          </p:cNvSpPr>
          <p:nvPr/>
        </p:nvSpPr>
        <p:spPr>
          <a:xfrm xmlns:a="http://schemas.openxmlformats.org/drawingml/2006/main">
            <a:off x="8229600" y="3086100"/>
            <a:ext cx="361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7B5133"/>
                </a:solidFill>
                <a:latin typeface="Aptos Mono"/>
                <a:ea typeface="Aptos Mono"/>
                <a:cs typeface="Aptos Mono"/>
              </a:defRPr>
            </a:pPr>
            <a:r>
              <a:rPr sz="900" b="1">
                <a:solidFill>
                  <a:srgbClr val="7B5133"/>
                </a:solidFill>
                <a:latin typeface="Aptos Mono"/>
                <a:ea typeface="Aptos Mono"/>
                <a:cs typeface="Aptos Mono"/>
              </a:rPr>
              <a:t>05</a:t>
            </a:r>
          </a:p>
        </p:txBody>
      </p:sp>
      <p:sp>
        <p:nvSpPr>
          <p:cNvPr id="29" name="">
            <a:extLst xmlns:a="http://schemas.openxmlformats.org/drawingml/2006/main">
              <a:ext uri="{FF2B5EF4-FFF2-40B4-BE49-F238E27FC236}">
                <a16:creationId xmlns:a16="http://schemas.microsoft.com/office/drawing/2014/main" id="{DCDB85CC-C49B-45AF-85FF-D1EF6B737CBA}"/>
              </a:ext>
            </a:extLst>
          </p:cNvPr>
          <p:cNvSpPr>
            <a:spLocks xmlns:a="http://schemas.openxmlformats.org/drawingml/2006/main" noGrp="1"/>
          </p:cNvSpPr>
          <p:nvPr/>
        </p:nvSpPr>
        <p:spPr>
          <a:xfrm xmlns:a="http://schemas.openxmlformats.org/drawingml/2006/main">
            <a:off x="8229600" y="3390900"/>
            <a:ext cx="11049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F4F0E8"/>
                </a:solidFill>
                <a:latin typeface="Georgia"/>
                <a:ea typeface="Georgia"/>
                <a:cs typeface="Georgia"/>
              </a:defRPr>
            </a:pPr>
            <a:r>
              <a:rPr sz="1350" b="0">
                <a:solidFill>
                  <a:srgbClr val="F4F0E8"/>
                </a:solidFill>
                <a:latin typeface="Georgia"/>
                <a:ea typeface="Georgia"/>
                <a:cs typeface="Georgia"/>
              </a:rPr>
              <a:t>Dispatch</a:t>
            </a:r>
          </a:p>
        </p:txBody>
      </p:sp>
      <p:sp>
        <p:nvSpPr>
          <p:cNvPr id="30" name="">
            <a:extLst xmlns:a="http://schemas.openxmlformats.org/drawingml/2006/main">
              <a:ext uri="{FF2B5EF4-FFF2-40B4-BE49-F238E27FC236}">
                <a16:creationId xmlns:a16="http://schemas.microsoft.com/office/drawing/2014/main" id="{736023B3-954B-47BF-A21D-042EB15D70C8}"/>
              </a:ext>
            </a:extLst>
          </p:cNvPr>
          <p:cNvSpPr>
            <a:spLocks xmlns:a="http://schemas.openxmlformats.org/drawingml/2006/main" noGrp="1"/>
          </p:cNvSpPr>
          <p:nvPr/>
        </p:nvSpPr>
        <p:spPr>
          <a:xfrm xmlns:a="http://schemas.openxmlformats.org/drawingml/2006/main">
            <a:off x="8229600" y="3771900"/>
            <a:ext cx="11049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B7B7B0"/>
                </a:solidFill>
                <a:latin typeface="Aptos Mono"/>
                <a:ea typeface="Aptos Mono"/>
                <a:cs typeface="Aptos Mono"/>
              </a:defRPr>
            </a:pPr>
            <a:r>
              <a:rPr sz="825" b="1">
                <a:solidFill>
                  <a:srgbClr val="B7B7B0"/>
                </a:solidFill>
                <a:latin typeface="Aptos Mono"/>
                <a:ea typeface="Aptos Mono"/>
                <a:cs typeface="Aptos Mono"/>
              </a:rPr>
              <a:t>handover</a:t>
            </a:r>
          </a:p>
        </p:txBody>
      </p:sp>
      <p:sp>
        <p:nvSpPr>
          <p:cNvPr id="31" name="">
            <a:extLst xmlns:a="http://schemas.openxmlformats.org/drawingml/2006/main">
              <a:ext uri="{FF2B5EF4-FFF2-40B4-BE49-F238E27FC236}">
                <a16:creationId xmlns:a16="http://schemas.microsoft.com/office/drawing/2014/main" id="{480EA751-2940-4FFB-AC56-FF5897C023E5}"/>
              </a:ext>
            </a:extLst>
          </p:cNvPr>
          <p:cNvSpPr>
            <a:spLocks xmlns:a="http://schemas.openxmlformats.org/drawingml/2006/main" noGrp="1"/>
          </p:cNvSpPr>
          <p:nvPr/>
        </p:nvSpPr>
        <p:spPr>
          <a:xfrm xmlns:a="http://schemas.openxmlformats.org/drawingml/2006/main">
            <a:off x="9620250" y="3524250"/>
            <a:ext cx="247650" cy="19050"/>
          </a:xfrm>
          <a:prstGeom xmlns:a="http://schemas.openxmlformats.org/drawingml/2006/main" prst="rect">
            <a:avLst/>
          </a:prstGeom>
          <a:solidFill xmlns:a="http://schemas.openxmlformats.org/drawingml/2006/main">
            <a:srgbClr val="B8652B"/>
          </a:solidFill>
          <a:ln xmlns:a="http://schemas.openxmlformats.org/drawingml/2006/main" w="0">
            <a:solidFill>
              <a:srgbClr val="B8652B"/>
            </a:solidFill>
            <a:prstDash val="solid"/>
          </a:ln>
        </p:spPr>
      </p:sp>
      <p:sp>
        <p:nvSpPr>
          <p:cNvPr id="32" name="">
            <a:extLst xmlns:a="http://schemas.openxmlformats.org/drawingml/2006/main">
              <a:ext uri="{FF2B5EF4-FFF2-40B4-BE49-F238E27FC236}">
                <a16:creationId xmlns:a16="http://schemas.microsoft.com/office/drawing/2014/main" id="{96BB4DB9-E3BF-42A0-BA59-621078236D6A}"/>
              </a:ext>
            </a:extLst>
          </p:cNvPr>
          <p:cNvSpPr>
            <a:spLocks xmlns:a="http://schemas.openxmlformats.org/drawingml/2006/main" noGrp="1"/>
          </p:cNvSpPr>
          <p:nvPr/>
        </p:nvSpPr>
        <p:spPr>
          <a:xfrm xmlns:a="http://schemas.openxmlformats.org/drawingml/2006/main">
            <a:off x="9867900" y="2914650"/>
            <a:ext cx="1466850" cy="1257300"/>
          </a:xfrm>
          <a:prstGeom xmlns:a="http://schemas.openxmlformats.org/drawingml/2006/main" prst="rect">
            <a:avLst/>
          </a:prstGeom>
          <a:solidFill xmlns:a="http://schemas.openxmlformats.org/drawingml/2006/main">
            <a:srgbClr val="171511"/>
          </a:solidFill>
          <a:ln xmlns:a="http://schemas.openxmlformats.org/drawingml/2006/main" w="9525">
            <a:solidFill>
              <a:srgbClr val="373127"/>
            </a:solidFill>
            <a:prstDash val="solid"/>
          </a:ln>
        </p:spPr>
      </p:sp>
      <p:sp>
        <p:nvSpPr>
          <p:cNvPr id="33" name="">
            <a:extLst xmlns:a="http://schemas.openxmlformats.org/drawingml/2006/main">
              <a:ext uri="{FF2B5EF4-FFF2-40B4-BE49-F238E27FC236}">
                <a16:creationId xmlns:a16="http://schemas.microsoft.com/office/drawing/2014/main" id="{187B7EC7-01B0-492E-8652-3B3287770FC7}"/>
              </a:ext>
            </a:extLst>
          </p:cNvPr>
          <p:cNvSpPr>
            <a:spLocks xmlns:a="http://schemas.openxmlformats.org/drawingml/2006/main" noGrp="1"/>
          </p:cNvSpPr>
          <p:nvPr/>
        </p:nvSpPr>
        <p:spPr>
          <a:xfrm xmlns:a="http://schemas.openxmlformats.org/drawingml/2006/main">
            <a:off x="10039350" y="3086100"/>
            <a:ext cx="361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3F4A35"/>
                </a:solidFill>
                <a:latin typeface="Aptos Mono"/>
                <a:ea typeface="Aptos Mono"/>
                <a:cs typeface="Aptos Mono"/>
              </a:defRPr>
            </a:pPr>
            <a:r>
              <a:rPr sz="900" b="1">
                <a:solidFill>
                  <a:srgbClr val="3F4A35"/>
                </a:solidFill>
                <a:latin typeface="Aptos Mono"/>
                <a:ea typeface="Aptos Mono"/>
                <a:cs typeface="Aptos Mono"/>
              </a:rPr>
              <a:t>06</a:t>
            </a:r>
          </a:p>
        </p:txBody>
      </p:sp>
      <p:sp>
        <p:nvSpPr>
          <p:cNvPr id="34" name="">
            <a:extLst xmlns:a="http://schemas.openxmlformats.org/drawingml/2006/main">
              <a:ext uri="{FF2B5EF4-FFF2-40B4-BE49-F238E27FC236}">
                <a16:creationId xmlns:a16="http://schemas.microsoft.com/office/drawing/2014/main" id="{07A6975E-217B-4133-97EB-DCCE384EF3E3}"/>
              </a:ext>
            </a:extLst>
          </p:cNvPr>
          <p:cNvSpPr>
            <a:spLocks xmlns:a="http://schemas.openxmlformats.org/drawingml/2006/main" noGrp="1"/>
          </p:cNvSpPr>
          <p:nvPr/>
        </p:nvSpPr>
        <p:spPr>
          <a:xfrm xmlns:a="http://schemas.openxmlformats.org/drawingml/2006/main">
            <a:off x="10039350" y="3390900"/>
            <a:ext cx="11049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F4F0E8"/>
                </a:solidFill>
                <a:latin typeface="Georgia"/>
                <a:ea typeface="Georgia"/>
                <a:cs typeface="Georgia"/>
              </a:defRPr>
            </a:pPr>
            <a:r>
              <a:rPr sz="1350" b="0">
                <a:solidFill>
                  <a:srgbClr val="F4F0E8"/>
                </a:solidFill>
                <a:latin typeface="Georgia"/>
                <a:ea typeface="Georgia"/>
                <a:cs typeface="Georgia"/>
              </a:rPr>
              <a:t>Delivered</a:t>
            </a:r>
          </a:p>
        </p:txBody>
      </p:sp>
      <p:sp>
        <p:nvSpPr>
          <p:cNvPr id="35" name="">
            <a:extLst xmlns:a="http://schemas.openxmlformats.org/drawingml/2006/main">
              <a:ext uri="{FF2B5EF4-FFF2-40B4-BE49-F238E27FC236}">
                <a16:creationId xmlns:a16="http://schemas.microsoft.com/office/drawing/2014/main" id="{23E77193-6F74-4744-AE08-DE4F0A635F9C}"/>
              </a:ext>
            </a:extLst>
          </p:cNvPr>
          <p:cNvSpPr>
            <a:spLocks xmlns:a="http://schemas.openxmlformats.org/drawingml/2006/main" noGrp="1"/>
          </p:cNvSpPr>
          <p:nvPr/>
        </p:nvSpPr>
        <p:spPr>
          <a:xfrm xmlns:a="http://schemas.openxmlformats.org/drawingml/2006/main">
            <a:off x="10039350" y="3771900"/>
            <a:ext cx="11049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B7B7B0"/>
                </a:solidFill>
                <a:latin typeface="Aptos Mono"/>
                <a:ea typeface="Aptos Mono"/>
                <a:cs typeface="Aptos Mono"/>
              </a:defRPr>
            </a:pPr>
            <a:r>
              <a:rPr sz="825" b="1">
                <a:solidFill>
                  <a:srgbClr val="B7B7B0"/>
                </a:solidFill>
                <a:latin typeface="Aptos Mono"/>
                <a:ea typeface="Aptos Mono"/>
                <a:cs typeface="Aptos Mono"/>
              </a:rPr>
              <a:t>close loop</a:t>
            </a:r>
          </a:p>
        </p:txBody>
      </p:sp>
      <p:sp>
        <p:nvSpPr>
          <p:cNvPr id="36" name="">
            <a:extLst xmlns:a="http://schemas.openxmlformats.org/drawingml/2006/main">
              <a:ext uri="{FF2B5EF4-FFF2-40B4-BE49-F238E27FC236}">
                <a16:creationId xmlns:a16="http://schemas.microsoft.com/office/drawing/2014/main" id="{A12275D9-E283-4286-B9CC-6A5933C25B80}"/>
              </a:ext>
            </a:extLst>
          </p:cNvPr>
          <p:cNvSpPr>
            <a:spLocks xmlns:a="http://schemas.openxmlformats.org/drawingml/2006/main" noGrp="1"/>
          </p:cNvSpPr>
          <p:nvPr/>
        </p:nvSpPr>
        <p:spPr>
          <a:xfrm xmlns:a="http://schemas.openxmlformats.org/drawingml/2006/main">
            <a:off x="819150" y="4914900"/>
            <a:ext cx="10420350" cy="666750"/>
          </a:xfrm>
          <a:prstGeom xmlns:a="http://schemas.openxmlformats.org/drawingml/2006/main" prst="rect">
            <a:avLst/>
          </a:prstGeom>
          <a:solidFill xmlns:a="http://schemas.openxmlformats.org/drawingml/2006/main">
            <a:srgbClr val="0F0E0C"/>
          </a:solidFill>
          <a:ln xmlns:a="http://schemas.openxmlformats.org/drawingml/2006/main" w="9525">
            <a:solidFill>
              <a:srgbClr val="363027"/>
            </a:solidFill>
            <a:prstDash val="solid"/>
          </a:ln>
        </p:spPr>
      </p:sp>
      <p:sp>
        <p:nvSpPr>
          <p:cNvPr id="37" name="">
            <a:extLst xmlns:a="http://schemas.openxmlformats.org/drawingml/2006/main">
              <a:ext uri="{FF2B5EF4-FFF2-40B4-BE49-F238E27FC236}">
                <a16:creationId xmlns:a16="http://schemas.microsoft.com/office/drawing/2014/main" id="{F1461B49-1311-477E-AF81-ADBBA376914A}"/>
              </a:ext>
            </a:extLst>
          </p:cNvPr>
          <p:cNvSpPr>
            <a:spLocks xmlns:a="http://schemas.openxmlformats.org/drawingml/2006/main" noGrp="1"/>
          </p:cNvSpPr>
          <p:nvPr/>
        </p:nvSpPr>
        <p:spPr>
          <a:xfrm xmlns:a="http://schemas.openxmlformats.org/drawingml/2006/main">
            <a:off x="2647950" y="4914900"/>
            <a:ext cx="9525" cy="666750"/>
          </a:xfrm>
          <a:prstGeom xmlns:a="http://schemas.openxmlformats.org/drawingml/2006/main" prst="rect">
            <a:avLst/>
          </a:prstGeom>
          <a:solidFill xmlns:a="http://schemas.openxmlformats.org/drawingml/2006/main">
            <a:srgbClr val="363027"/>
          </a:solidFill>
          <a:ln xmlns:a="http://schemas.openxmlformats.org/drawingml/2006/main" w="0">
            <a:solidFill>
              <a:srgbClr val="363027"/>
            </a:solidFill>
            <a:prstDash val="solid"/>
          </a:ln>
        </p:spPr>
      </p:sp>
      <p:sp>
        <p:nvSpPr>
          <p:cNvPr id="38" name="">
            <a:extLst xmlns:a="http://schemas.openxmlformats.org/drawingml/2006/main">
              <a:ext uri="{FF2B5EF4-FFF2-40B4-BE49-F238E27FC236}">
                <a16:creationId xmlns:a16="http://schemas.microsoft.com/office/drawing/2014/main" id="{26949ABB-A1CB-47B4-8199-45D6AFD1524D}"/>
              </a:ext>
            </a:extLst>
          </p:cNvPr>
          <p:cNvSpPr>
            <a:spLocks xmlns:a="http://schemas.openxmlformats.org/drawingml/2006/main" noGrp="1"/>
          </p:cNvSpPr>
          <p:nvPr/>
        </p:nvSpPr>
        <p:spPr>
          <a:xfrm xmlns:a="http://schemas.openxmlformats.org/drawingml/2006/main">
            <a:off x="4705350" y="4914900"/>
            <a:ext cx="9525" cy="666750"/>
          </a:xfrm>
          <a:prstGeom xmlns:a="http://schemas.openxmlformats.org/drawingml/2006/main" prst="rect">
            <a:avLst/>
          </a:prstGeom>
          <a:solidFill xmlns:a="http://schemas.openxmlformats.org/drawingml/2006/main">
            <a:srgbClr val="363027"/>
          </a:solidFill>
          <a:ln xmlns:a="http://schemas.openxmlformats.org/drawingml/2006/main" w="0">
            <a:solidFill>
              <a:srgbClr val="363027"/>
            </a:solidFill>
            <a:prstDash val="solid"/>
          </a:ln>
        </p:spPr>
      </p:sp>
      <p:sp>
        <p:nvSpPr>
          <p:cNvPr id="39" name="">
            <a:extLst xmlns:a="http://schemas.openxmlformats.org/drawingml/2006/main">
              <a:ext uri="{FF2B5EF4-FFF2-40B4-BE49-F238E27FC236}">
                <a16:creationId xmlns:a16="http://schemas.microsoft.com/office/drawing/2014/main" id="{A8D9905E-30E5-469F-8A9A-80E1C1952DDB}"/>
              </a:ext>
            </a:extLst>
          </p:cNvPr>
          <p:cNvSpPr>
            <a:spLocks xmlns:a="http://schemas.openxmlformats.org/drawingml/2006/main" noGrp="1"/>
          </p:cNvSpPr>
          <p:nvPr/>
        </p:nvSpPr>
        <p:spPr>
          <a:xfrm xmlns:a="http://schemas.openxmlformats.org/drawingml/2006/main">
            <a:off x="6934200" y="4914900"/>
            <a:ext cx="9525" cy="666750"/>
          </a:xfrm>
          <a:prstGeom xmlns:a="http://schemas.openxmlformats.org/drawingml/2006/main" prst="rect">
            <a:avLst/>
          </a:prstGeom>
          <a:solidFill xmlns:a="http://schemas.openxmlformats.org/drawingml/2006/main">
            <a:srgbClr val="363027"/>
          </a:solidFill>
          <a:ln xmlns:a="http://schemas.openxmlformats.org/drawingml/2006/main" w="0">
            <a:solidFill>
              <a:srgbClr val="363027"/>
            </a:solidFill>
            <a:prstDash val="solid"/>
          </a:ln>
        </p:spPr>
      </p:sp>
      <p:sp>
        <p:nvSpPr>
          <p:cNvPr id="40" name="">
            <a:extLst xmlns:a="http://schemas.openxmlformats.org/drawingml/2006/main">
              <a:ext uri="{FF2B5EF4-FFF2-40B4-BE49-F238E27FC236}">
                <a16:creationId xmlns:a16="http://schemas.microsoft.com/office/drawing/2014/main" id="{6BDB5485-209E-45CF-B7B5-853B5943A3F1}"/>
              </a:ext>
            </a:extLst>
          </p:cNvPr>
          <p:cNvSpPr>
            <a:spLocks xmlns:a="http://schemas.openxmlformats.org/drawingml/2006/main" noGrp="1"/>
          </p:cNvSpPr>
          <p:nvPr/>
        </p:nvSpPr>
        <p:spPr>
          <a:xfrm xmlns:a="http://schemas.openxmlformats.org/drawingml/2006/main">
            <a:off x="9029700" y="4914900"/>
            <a:ext cx="9525" cy="666750"/>
          </a:xfrm>
          <a:prstGeom xmlns:a="http://schemas.openxmlformats.org/drawingml/2006/main" prst="rect">
            <a:avLst/>
          </a:prstGeom>
          <a:solidFill xmlns:a="http://schemas.openxmlformats.org/drawingml/2006/main">
            <a:srgbClr val="363027"/>
          </a:solidFill>
          <a:ln xmlns:a="http://schemas.openxmlformats.org/drawingml/2006/main" w="0">
            <a:solidFill>
              <a:srgbClr val="363027"/>
            </a:solidFill>
            <a:prstDash val="solid"/>
          </a:ln>
        </p:spPr>
      </p:sp>
      <p:sp>
        <p:nvSpPr>
          <p:cNvPr id="41" name="">
            <a:extLst xmlns:a="http://schemas.openxmlformats.org/drawingml/2006/main">
              <a:ext uri="{FF2B5EF4-FFF2-40B4-BE49-F238E27FC236}">
                <a16:creationId xmlns:a16="http://schemas.microsoft.com/office/drawing/2014/main" id="{B1DC9599-3533-4B54-9250-93C0D35C2D75}"/>
              </a:ext>
            </a:extLst>
          </p:cNvPr>
          <p:cNvSpPr>
            <a:spLocks xmlns:a="http://schemas.openxmlformats.org/drawingml/2006/main" noGrp="1"/>
          </p:cNvSpPr>
          <p:nvPr/>
        </p:nvSpPr>
        <p:spPr>
          <a:xfrm xmlns:a="http://schemas.openxmlformats.org/drawingml/2006/main">
            <a:off x="1066800" y="5124450"/>
            <a:ext cx="1143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3F4A35"/>
                </a:solidFill>
                <a:latin typeface="Aptos Mono"/>
                <a:ea typeface="Aptos Mono"/>
                <a:cs typeface="Aptos Mono"/>
              </a:defRPr>
            </a:pPr>
            <a:r>
              <a:rPr sz="900" b="1">
                <a:solidFill>
                  <a:srgbClr val="3F4A35"/>
                </a:solidFill>
                <a:latin typeface="Aptos Mono"/>
                <a:ea typeface="Aptos Mono"/>
                <a:cs typeface="Aptos Mono"/>
              </a:rPr>
              <a:t>stock ledger</a:t>
            </a:r>
          </a:p>
        </p:txBody>
      </p:sp>
      <p:sp>
        <p:nvSpPr>
          <p:cNvPr id="42" name="">
            <a:extLst xmlns:a="http://schemas.openxmlformats.org/drawingml/2006/main">
              <a:ext uri="{FF2B5EF4-FFF2-40B4-BE49-F238E27FC236}">
                <a16:creationId xmlns:a16="http://schemas.microsoft.com/office/drawing/2014/main" id="{374CC46D-1A1B-4079-8F86-34FC92C80AC1}"/>
              </a:ext>
            </a:extLst>
          </p:cNvPr>
          <p:cNvSpPr>
            <a:spLocks xmlns:a="http://schemas.openxmlformats.org/drawingml/2006/main" noGrp="1"/>
          </p:cNvSpPr>
          <p:nvPr/>
        </p:nvSpPr>
        <p:spPr>
          <a:xfrm xmlns:a="http://schemas.openxmlformats.org/drawingml/2006/main">
            <a:off x="2914650" y="5124450"/>
            <a:ext cx="1428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B8652B"/>
                </a:solidFill>
                <a:latin typeface="Aptos Mono"/>
                <a:ea typeface="Aptos Mono"/>
                <a:cs typeface="Aptos Mono"/>
              </a:defRPr>
            </a:pPr>
            <a:r>
              <a:rPr sz="900" b="1">
                <a:solidFill>
                  <a:srgbClr val="B8652B"/>
                </a:solidFill>
                <a:latin typeface="Aptos Mono"/>
                <a:ea typeface="Aptos Mono"/>
                <a:cs typeface="Aptos Mono"/>
              </a:rPr>
              <a:t>production board</a:t>
            </a:r>
          </a:p>
        </p:txBody>
      </p:sp>
      <p:sp>
        <p:nvSpPr>
          <p:cNvPr id="43" name="">
            <a:extLst xmlns:a="http://schemas.openxmlformats.org/drawingml/2006/main">
              <a:ext uri="{FF2B5EF4-FFF2-40B4-BE49-F238E27FC236}">
                <a16:creationId xmlns:a16="http://schemas.microsoft.com/office/drawing/2014/main" id="{CF0B48E0-42B7-4BB3-BCFD-ECBA45BAB080}"/>
              </a:ext>
            </a:extLst>
          </p:cNvPr>
          <p:cNvSpPr>
            <a:spLocks xmlns:a="http://schemas.openxmlformats.org/drawingml/2006/main" noGrp="1"/>
          </p:cNvSpPr>
          <p:nvPr/>
        </p:nvSpPr>
        <p:spPr>
          <a:xfrm xmlns:a="http://schemas.openxmlformats.org/drawingml/2006/main">
            <a:off x="5010150" y="5124450"/>
            <a:ext cx="1143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B7B7B0"/>
                </a:solidFill>
                <a:latin typeface="Aptos Mono"/>
                <a:ea typeface="Aptos Mono"/>
                <a:cs typeface="Aptos Mono"/>
              </a:defRPr>
            </a:pPr>
            <a:r>
              <a:rPr sz="900" b="1">
                <a:solidFill>
                  <a:srgbClr val="B7B7B0"/>
                </a:solidFill>
                <a:latin typeface="Aptos Mono"/>
                <a:ea typeface="Aptos Mono"/>
                <a:cs typeface="Aptos Mono"/>
              </a:rPr>
              <a:t>QC checklist</a:t>
            </a:r>
          </a:p>
        </p:txBody>
      </p:sp>
      <p:sp>
        <p:nvSpPr>
          <p:cNvPr id="44" name="">
            <a:extLst xmlns:a="http://schemas.openxmlformats.org/drawingml/2006/main">
              <a:ext uri="{FF2B5EF4-FFF2-40B4-BE49-F238E27FC236}">
                <a16:creationId xmlns:a16="http://schemas.microsoft.com/office/drawing/2014/main" id="{21DD8D4A-454F-4191-901D-3775AD423976}"/>
              </a:ext>
            </a:extLst>
          </p:cNvPr>
          <p:cNvSpPr>
            <a:spLocks xmlns:a="http://schemas.openxmlformats.org/drawingml/2006/main" noGrp="1"/>
          </p:cNvSpPr>
          <p:nvPr/>
        </p:nvSpPr>
        <p:spPr>
          <a:xfrm xmlns:a="http://schemas.openxmlformats.org/drawingml/2006/main">
            <a:off x="7239000" y="5124450"/>
            <a:ext cx="1143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7B5133"/>
                </a:solidFill>
                <a:latin typeface="Aptos Mono"/>
                <a:ea typeface="Aptos Mono"/>
                <a:cs typeface="Aptos Mono"/>
              </a:defRPr>
            </a:pPr>
            <a:r>
              <a:rPr sz="900" b="1">
                <a:solidFill>
                  <a:srgbClr val="7B5133"/>
                </a:solidFill>
                <a:latin typeface="Aptos Mono"/>
                <a:ea typeface="Aptos Mono"/>
                <a:cs typeface="Aptos Mono"/>
              </a:rPr>
              <a:t>dispatch log</a:t>
            </a:r>
          </a:p>
        </p:txBody>
      </p:sp>
      <p:sp>
        <p:nvSpPr>
          <p:cNvPr id="45" name="">
            <a:extLst xmlns:a="http://schemas.openxmlformats.org/drawingml/2006/main">
              <a:ext uri="{FF2B5EF4-FFF2-40B4-BE49-F238E27FC236}">
                <a16:creationId xmlns:a16="http://schemas.microsoft.com/office/drawing/2014/main" id="{C4844AF2-A159-4738-A65D-077E6B1BB1D4}"/>
              </a:ext>
            </a:extLst>
          </p:cNvPr>
          <p:cNvSpPr>
            <a:spLocks xmlns:a="http://schemas.openxmlformats.org/drawingml/2006/main" noGrp="1"/>
          </p:cNvSpPr>
          <p:nvPr/>
        </p:nvSpPr>
        <p:spPr>
          <a:xfrm xmlns:a="http://schemas.openxmlformats.org/drawingml/2006/main">
            <a:off x="9334500" y="5124450"/>
            <a:ext cx="1428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3F4A35"/>
                </a:solidFill>
                <a:latin typeface="Aptos Mono"/>
                <a:ea typeface="Aptos Mono"/>
                <a:cs typeface="Aptos Mono"/>
              </a:defRPr>
            </a:pPr>
            <a:r>
              <a:rPr sz="900" b="1">
                <a:solidFill>
                  <a:srgbClr val="3F4A35"/>
                </a:solidFill>
                <a:latin typeface="Aptos Mono"/>
                <a:ea typeface="Aptos Mono"/>
                <a:cs typeface="Aptos Mono"/>
              </a:rPr>
              <a:t>client follow-up</a:t>
            </a:r>
          </a:p>
        </p:txBody>
      </p:sp>
      <p:sp>
        <p:nvSpPr>
          <p:cNvPr id="46" name="">
            <a:extLst xmlns:a="http://schemas.openxmlformats.org/drawingml/2006/main">
              <a:ext uri="{FF2B5EF4-FFF2-40B4-BE49-F238E27FC236}">
                <a16:creationId xmlns:a16="http://schemas.microsoft.com/office/drawing/2014/main" id="{B4FC81FA-9FCF-447F-B109-51630396DC3A}"/>
              </a:ext>
            </a:extLst>
          </p:cNvPr>
          <p:cNvSpPr>
            <a:spLocks xmlns:a="http://schemas.openxmlformats.org/drawingml/2006/main" noGrp="1"/>
          </p:cNvSpPr>
          <p:nvPr/>
        </p:nvSpPr>
        <p:spPr>
          <a:xfrm xmlns:a="http://schemas.openxmlformats.org/drawingml/2006/main">
            <a:off x="11353800" y="61912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B7B7B0"/>
                </a:solidFill>
                <a:latin typeface="Aptos Mono"/>
                <a:ea typeface="Aptos Mono"/>
                <a:cs typeface="Aptos Mono"/>
              </a:defRPr>
            </a:pPr>
            <a:r>
              <a:rPr sz="900" b="0">
                <a:solidFill>
                  <a:srgbClr val="B7B7B0"/>
                </a:solidFill>
                <a:latin typeface="Aptos Mono"/>
                <a:ea typeface="Aptos Mono"/>
                <a:cs typeface="Aptos Mono"/>
              </a:rPr>
              <a:t>06</a:t>
            </a:r>
          </a:p>
        </p:txBody>
      </p:sp>
    </p:spTree>
    <p:extLst>
      <p:ext uri="{BB962C8B-B14F-4D97-AF65-F5344CB8AC3E}">
        <p14:creationId xmlns:p14="http://schemas.microsoft.com/office/powerpoint/2010/main" val="122889831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2C58B37-0FF0-480D-8BA1-EB94B79215D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0E8"/>
          </a:solidFill>
          <a:ln xmlns:a="http://schemas.openxmlformats.org/drawingml/2006/main" w="0">
            <a:solidFill>
              <a:srgbClr val="F4F0E8"/>
            </a:solidFill>
            <a:prstDash val="solid"/>
          </a:ln>
        </p:spPr>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943e6d34b6a40dd"/>
          <a:stretch xmlns:a="http://schemas.openxmlformats.org/drawingml/2006/main"/>
        </p:blipFill>
        <p:spPr>
          <a:xfrm xmlns:a="http://schemas.openxmlformats.org/drawingml/2006/main">
            <a:off x="9944100" y="515458"/>
            <a:ext cx="1104900" cy="359735"/>
          </a:xfrm>
          <a:prstGeom xmlns:a="http://schemas.openxmlformats.org/drawingml/2006/main" prst="rect">
            <a:avLst/>
          </a:prstGeom>
        </p:spPr>
      </p:pic>
      <p:sp>
        <p:nvSpPr>
          <p:cNvPr id="3" name="kicker-07-marker">
            <a:extLst xmlns:a="http://schemas.openxmlformats.org/drawingml/2006/main">
              <a:ext uri="{FF2B5EF4-FFF2-40B4-BE49-F238E27FC236}">
                <a16:creationId xmlns:a16="http://schemas.microsoft.com/office/drawing/2014/main" id="{43825520-A76E-46C9-8F46-6AF9E1DF47AE}"/>
              </a:ext>
            </a:extLst>
          </p:cNvPr>
          <p:cNvSpPr>
            <a:spLocks xmlns:a="http://schemas.openxmlformats.org/drawingml/2006/main" noGrp="1"/>
          </p:cNvSpPr>
          <p:nvPr/>
        </p:nvSpPr>
        <p:spPr>
          <a:xfrm xmlns:a="http://schemas.openxmlformats.org/drawingml/2006/main">
            <a:off x="685800" y="600075"/>
            <a:ext cx="323850" cy="19050"/>
          </a:xfrm>
          <a:prstGeom xmlns:a="http://schemas.openxmlformats.org/drawingml/2006/main" prst="rect">
            <a:avLst/>
          </a:prstGeom>
          <a:solidFill xmlns:a="http://schemas.openxmlformats.org/drawingml/2006/main">
            <a:srgbClr val="B8652B"/>
          </a:solidFill>
          <a:ln xmlns:a="http://schemas.openxmlformats.org/drawingml/2006/main" w="0">
            <a:solidFill>
              <a:srgbClr val="B8652B"/>
            </a:solidFill>
            <a:prstDash val="solid"/>
          </a:ln>
        </p:spPr>
      </p:sp>
      <p:sp>
        <p:nvSpPr>
          <p:cNvPr id="4" name="kicker-07-label">
            <a:extLst xmlns:a="http://schemas.openxmlformats.org/drawingml/2006/main">
              <a:ext uri="{FF2B5EF4-FFF2-40B4-BE49-F238E27FC236}">
                <a16:creationId xmlns:a16="http://schemas.microsoft.com/office/drawing/2014/main" id="{512FAEB1-34FD-4024-951A-4E7236092B5C}"/>
              </a:ext>
            </a:extLst>
          </p:cNvPr>
          <p:cNvSpPr>
            <a:spLocks xmlns:a="http://schemas.openxmlformats.org/drawingml/2006/main" noGrp="1"/>
          </p:cNvSpPr>
          <p:nvPr/>
        </p:nvSpPr>
        <p:spPr>
          <a:xfrm xmlns:a="http://schemas.openxmlformats.org/drawingml/2006/main">
            <a:off x="1123950" y="514350"/>
            <a:ext cx="3429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7B5133"/>
                </a:solidFill>
                <a:latin typeface="Aptos Mono"/>
                <a:ea typeface="Aptos Mono"/>
                <a:cs typeface="Aptos Mono"/>
              </a:defRPr>
            </a:pPr>
            <a:r>
              <a:rPr sz="825" b="1">
                <a:solidFill>
                  <a:srgbClr val="7B5133"/>
                </a:solidFill>
                <a:latin typeface="Aptos Mono"/>
                <a:ea typeface="Aptos Mono"/>
                <a:cs typeface="Aptos Mono"/>
              </a:rPr>
              <a:t>CORE DASHBOARD MODULES</a:t>
            </a:r>
          </a:p>
        </p:txBody>
      </p:sp>
      <p:sp>
        <p:nvSpPr>
          <p:cNvPr id="5" name="">
            <a:extLst xmlns:a="http://schemas.openxmlformats.org/drawingml/2006/main">
              <a:ext uri="{FF2B5EF4-FFF2-40B4-BE49-F238E27FC236}">
                <a16:creationId xmlns:a16="http://schemas.microsoft.com/office/drawing/2014/main" id="{E06DDE3E-E282-4673-88B3-9D7943C17D5A}"/>
              </a:ext>
            </a:extLst>
          </p:cNvPr>
          <p:cNvSpPr>
            <a:spLocks xmlns:a="http://schemas.openxmlformats.org/drawingml/2006/main" noGrp="1"/>
          </p:cNvSpPr>
          <p:nvPr/>
        </p:nvSpPr>
        <p:spPr>
          <a:xfrm xmlns:a="http://schemas.openxmlformats.org/drawingml/2006/main">
            <a:off x="685800" y="876300"/>
            <a:ext cx="78105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0">
                <a:solidFill>
                  <a:srgbClr val="050505"/>
                </a:solidFill>
                <a:latin typeface="Georgia"/>
                <a:ea typeface="Georgia"/>
                <a:cs typeface="Georgia"/>
              </a:defRPr>
            </a:pPr>
            <a:r>
              <a:rPr sz="3000" b="0">
                <a:solidFill>
                  <a:srgbClr val="050505"/>
                </a:solidFill>
                <a:latin typeface="Georgia"/>
                <a:ea typeface="Georgia"/>
                <a:cs typeface="Georgia"/>
              </a:rPr>
              <a:t>Core modules create one operating map.</a:t>
            </a:r>
          </a:p>
        </p:txBody>
      </p:sp>
      <p:sp>
        <p:nvSpPr>
          <p:cNvPr id="6" name="">
            <a:extLst xmlns:a="http://schemas.openxmlformats.org/drawingml/2006/main">
              <a:ext uri="{FF2B5EF4-FFF2-40B4-BE49-F238E27FC236}">
                <a16:creationId xmlns:a16="http://schemas.microsoft.com/office/drawing/2014/main" id="{6395F321-E173-41B3-9FB8-B98A6595D650}"/>
              </a:ext>
            </a:extLst>
          </p:cNvPr>
          <p:cNvSpPr>
            <a:spLocks xmlns:a="http://schemas.openxmlformats.org/drawingml/2006/main" noGrp="1"/>
          </p:cNvSpPr>
          <p:nvPr/>
        </p:nvSpPr>
        <p:spPr>
          <a:xfrm xmlns:a="http://schemas.openxmlformats.org/drawingml/2006/main">
            <a:off x="704850" y="1581150"/>
            <a:ext cx="70485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161615"/>
                </a:solidFill>
                <a:latin typeface="Aptos"/>
                <a:ea typeface="Aptos"/>
                <a:cs typeface="Aptos"/>
              </a:defRPr>
            </a:pPr>
            <a:r>
              <a:rPr sz="1425" b="0">
                <a:solidFill>
                  <a:srgbClr val="161615"/>
                </a:solidFill>
                <a:latin typeface="Aptos"/>
                <a:ea typeface="Aptos"/>
                <a:cs typeface="Aptos"/>
              </a:rPr>
              <a:t>Each module should feed the next decision, from inquiry capture to fulfillment and reporting.</a:t>
            </a:r>
          </a:p>
        </p:txBody>
      </p:sp>
      <p:sp>
        <p:nvSpPr>
          <p:cNvPr id="7" name="">
            <a:extLst xmlns:a="http://schemas.openxmlformats.org/drawingml/2006/main">
              <a:ext uri="{FF2B5EF4-FFF2-40B4-BE49-F238E27FC236}">
                <a16:creationId xmlns:a16="http://schemas.microsoft.com/office/drawing/2014/main" id="{ECD80588-C115-47C0-B839-50CB2337051B}"/>
              </a:ext>
            </a:extLst>
          </p:cNvPr>
          <p:cNvSpPr>
            <a:spLocks xmlns:a="http://schemas.openxmlformats.org/drawingml/2006/main" noGrp="1"/>
          </p:cNvSpPr>
          <p:nvPr/>
        </p:nvSpPr>
        <p:spPr>
          <a:xfrm xmlns:a="http://schemas.openxmlformats.org/drawingml/2006/main">
            <a:off x="4686300" y="3105150"/>
            <a:ext cx="2819400" cy="1314450"/>
          </a:xfrm>
          <a:prstGeom xmlns:a="http://schemas.openxmlformats.org/drawingml/2006/main" prst="rect">
            <a:avLst/>
          </a:prstGeom>
          <a:solidFill xmlns:a="http://schemas.openxmlformats.org/drawingml/2006/main">
            <a:srgbClr val="050505"/>
          </a:solidFill>
          <a:ln xmlns:a="http://schemas.openxmlformats.org/drawingml/2006/main" w="9525">
            <a:solidFill>
              <a:srgbClr val="050505"/>
            </a:solidFill>
            <a:prstDash val="solid"/>
          </a:ln>
        </p:spPr>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4c0415de08234a90"/>
          <a:stretch xmlns:a="http://schemas.openxmlformats.org/drawingml/2006/main"/>
        </p:blipFill>
        <p:spPr>
          <a:xfrm xmlns:a="http://schemas.openxmlformats.org/drawingml/2006/main">
            <a:off x="5238750" y="3352800"/>
            <a:ext cx="1638300" cy="5334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747C0549-A5C7-42D4-B170-68170B0A051A}"/>
              </a:ext>
            </a:extLst>
          </p:cNvPr>
          <p:cNvSpPr>
            <a:spLocks xmlns:a="http://schemas.openxmlformats.org/drawingml/2006/main" noGrp="1"/>
          </p:cNvSpPr>
          <p:nvPr/>
        </p:nvSpPr>
        <p:spPr>
          <a:xfrm xmlns:a="http://schemas.openxmlformats.org/drawingml/2006/main">
            <a:off x="5353050" y="4019550"/>
            <a:ext cx="14859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B8652B"/>
                </a:solidFill>
                <a:latin typeface="Aptos Mono"/>
                <a:ea typeface="Aptos Mono"/>
                <a:cs typeface="Aptos Mono"/>
              </a:defRPr>
            </a:pPr>
            <a:r>
              <a:rPr sz="975" b="1">
                <a:solidFill>
                  <a:srgbClr val="B8652B"/>
                </a:solidFill>
                <a:latin typeface="Aptos Mono"/>
                <a:ea typeface="Aptos Mono"/>
                <a:cs typeface="Aptos Mono"/>
              </a:rPr>
              <a:t>STUDIO OS</a:t>
            </a:r>
          </a:p>
        </p:txBody>
      </p:sp>
      <p:sp>
        <p:nvSpPr>
          <p:cNvPr id="10" name="">
            <a:extLst xmlns:a="http://schemas.openxmlformats.org/drawingml/2006/main">
              <a:ext uri="{FF2B5EF4-FFF2-40B4-BE49-F238E27FC236}">
                <a16:creationId xmlns:a16="http://schemas.microsoft.com/office/drawing/2014/main" id="{87922789-0C9E-49C1-809C-8E8B098D11DB}"/>
              </a:ext>
            </a:extLst>
          </p:cNvPr>
          <p:cNvSpPr>
            <a:spLocks xmlns:a="http://schemas.openxmlformats.org/drawingml/2006/main" noGrp="1"/>
          </p:cNvSpPr>
          <p:nvPr/>
        </p:nvSpPr>
        <p:spPr>
          <a:xfrm xmlns:a="http://schemas.openxmlformats.org/drawingml/2006/main">
            <a:off x="3886200" y="3762375"/>
            <a:ext cx="800100" cy="19050"/>
          </a:xfrm>
          <a:prstGeom xmlns:a="http://schemas.openxmlformats.org/drawingml/2006/main" prst="rect">
            <a:avLst/>
          </a:prstGeom>
          <a:solidFill xmlns:a="http://schemas.openxmlformats.org/drawingml/2006/main">
            <a:srgbClr val="7B5133"/>
          </a:solidFill>
          <a:ln xmlns:a="http://schemas.openxmlformats.org/drawingml/2006/main" w="0">
            <a:solidFill>
              <a:srgbClr val="7B5133"/>
            </a:solidFill>
            <a:prstDash val="solid"/>
          </a:ln>
        </p:spPr>
      </p:sp>
      <p:sp>
        <p:nvSpPr>
          <p:cNvPr id="11" name="">
            <a:extLst xmlns:a="http://schemas.openxmlformats.org/drawingml/2006/main">
              <a:ext uri="{FF2B5EF4-FFF2-40B4-BE49-F238E27FC236}">
                <a16:creationId xmlns:a16="http://schemas.microsoft.com/office/drawing/2014/main" id="{F18BA003-5BA8-41A8-81F2-051AF03F3C9E}"/>
              </a:ext>
            </a:extLst>
          </p:cNvPr>
          <p:cNvSpPr>
            <a:spLocks xmlns:a="http://schemas.openxmlformats.org/drawingml/2006/main" noGrp="1"/>
          </p:cNvSpPr>
          <p:nvPr/>
        </p:nvSpPr>
        <p:spPr>
          <a:xfrm xmlns:a="http://schemas.openxmlformats.org/drawingml/2006/main">
            <a:off x="7505700" y="3762375"/>
            <a:ext cx="800100" cy="19050"/>
          </a:xfrm>
          <a:prstGeom xmlns:a="http://schemas.openxmlformats.org/drawingml/2006/main" prst="rect">
            <a:avLst/>
          </a:prstGeom>
          <a:solidFill xmlns:a="http://schemas.openxmlformats.org/drawingml/2006/main">
            <a:srgbClr val="7B5133"/>
          </a:solidFill>
          <a:ln xmlns:a="http://schemas.openxmlformats.org/drawingml/2006/main" w="0">
            <a:solidFill>
              <a:srgbClr val="7B5133"/>
            </a:solidFill>
            <a:prstDash val="solid"/>
          </a:ln>
        </p:spPr>
      </p:sp>
      <p:sp>
        <p:nvSpPr>
          <p:cNvPr id="12" name="">
            <a:extLst xmlns:a="http://schemas.openxmlformats.org/drawingml/2006/main">
              <a:ext uri="{FF2B5EF4-FFF2-40B4-BE49-F238E27FC236}">
                <a16:creationId xmlns:a16="http://schemas.microsoft.com/office/drawing/2014/main" id="{E4BAC95D-C919-4DA8-A6BB-0779636C15BE}"/>
              </a:ext>
            </a:extLst>
          </p:cNvPr>
          <p:cNvSpPr>
            <a:spLocks xmlns:a="http://schemas.openxmlformats.org/drawingml/2006/main" noGrp="1"/>
          </p:cNvSpPr>
          <p:nvPr/>
        </p:nvSpPr>
        <p:spPr>
          <a:xfrm xmlns:a="http://schemas.openxmlformats.org/drawingml/2006/main">
            <a:off x="6096000" y="2895600"/>
            <a:ext cx="19050" cy="209550"/>
          </a:xfrm>
          <a:prstGeom xmlns:a="http://schemas.openxmlformats.org/drawingml/2006/main" prst="rect">
            <a:avLst/>
          </a:prstGeom>
          <a:solidFill xmlns:a="http://schemas.openxmlformats.org/drawingml/2006/main">
            <a:srgbClr val="7B5133"/>
          </a:solidFill>
          <a:ln xmlns:a="http://schemas.openxmlformats.org/drawingml/2006/main" w="0">
            <a:solidFill>
              <a:srgbClr val="7B5133"/>
            </a:solidFill>
            <a:prstDash val="solid"/>
          </a:ln>
        </p:spPr>
      </p:sp>
      <p:sp>
        <p:nvSpPr>
          <p:cNvPr id="13" name="">
            <a:extLst xmlns:a="http://schemas.openxmlformats.org/drawingml/2006/main">
              <a:ext uri="{FF2B5EF4-FFF2-40B4-BE49-F238E27FC236}">
                <a16:creationId xmlns:a16="http://schemas.microsoft.com/office/drawing/2014/main" id="{FB4A21C7-BB96-4F61-9693-666B3F2828B4}"/>
              </a:ext>
            </a:extLst>
          </p:cNvPr>
          <p:cNvSpPr>
            <a:spLocks xmlns:a="http://schemas.openxmlformats.org/drawingml/2006/main" noGrp="1"/>
          </p:cNvSpPr>
          <p:nvPr/>
        </p:nvSpPr>
        <p:spPr>
          <a:xfrm xmlns:a="http://schemas.openxmlformats.org/drawingml/2006/main">
            <a:off x="6096000" y="4419600"/>
            <a:ext cx="19050" cy="552450"/>
          </a:xfrm>
          <a:prstGeom xmlns:a="http://schemas.openxmlformats.org/drawingml/2006/main" prst="rect">
            <a:avLst/>
          </a:prstGeom>
          <a:solidFill xmlns:a="http://schemas.openxmlformats.org/drawingml/2006/main">
            <a:srgbClr val="7B5133"/>
          </a:solidFill>
          <a:ln xmlns:a="http://schemas.openxmlformats.org/drawingml/2006/main" w="0">
            <a:solidFill>
              <a:srgbClr val="7B5133"/>
            </a:solidFill>
            <a:prstDash val="solid"/>
          </a:ln>
        </p:spPr>
      </p:sp>
      <p:sp>
        <p:nvSpPr>
          <p:cNvPr id="14" name="">
            <a:extLst xmlns:a="http://schemas.openxmlformats.org/drawingml/2006/main">
              <a:ext uri="{FF2B5EF4-FFF2-40B4-BE49-F238E27FC236}">
                <a16:creationId xmlns:a16="http://schemas.microsoft.com/office/drawing/2014/main" id="{D925789E-7E71-4C18-BB15-F7F965812AB7}"/>
              </a:ext>
            </a:extLst>
          </p:cNvPr>
          <p:cNvSpPr>
            <a:spLocks xmlns:a="http://schemas.openxmlformats.org/drawingml/2006/main" noGrp="1"/>
          </p:cNvSpPr>
          <p:nvPr/>
        </p:nvSpPr>
        <p:spPr>
          <a:xfrm xmlns:a="http://schemas.openxmlformats.org/drawingml/2006/main">
            <a:off x="3429000" y="2895600"/>
            <a:ext cx="2667000" cy="19050"/>
          </a:xfrm>
          <a:prstGeom xmlns:a="http://schemas.openxmlformats.org/drawingml/2006/main" prst="rect">
            <a:avLst/>
          </a:prstGeom>
          <a:solidFill xmlns:a="http://schemas.openxmlformats.org/drawingml/2006/main">
            <a:srgbClr val="7B5133"/>
          </a:solidFill>
          <a:ln xmlns:a="http://schemas.openxmlformats.org/drawingml/2006/main" w="0">
            <a:solidFill>
              <a:srgbClr val="7B5133"/>
            </a:solidFill>
            <a:prstDash val="solid"/>
          </a:ln>
        </p:spPr>
      </p:sp>
      <p:sp>
        <p:nvSpPr>
          <p:cNvPr id="15" name="">
            <a:extLst xmlns:a="http://schemas.openxmlformats.org/drawingml/2006/main">
              <a:ext uri="{FF2B5EF4-FFF2-40B4-BE49-F238E27FC236}">
                <a16:creationId xmlns:a16="http://schemas.microsoft.com/office/drawing/2014/main" id="{32654511-FDBC-4BF2-9744-6E4A692BAE0C}"/>
              </a:ext>
            </a:extLst>
          </p:cNvPr>
          <p:cNvSpPr>
            <a:spLocks xmlns:a="http://schemas.openxmlformats.org/drawingml/2006/main" noGrp="1"/>
          </p:cNvSpPr>
          <p:nvPr/>
        </p:nvSpPr>
        <p:spPr>
          <a:xfrm xmlns:a="http://schemas.openxmlformats.org/drawingml/2006/main">
            <a:off x="6096000" y="2895600"/>
            <a:ext cx="2667000" cy="19050"/>
          </a:xfrm>
          <a:prstGeom xmlns:a="http://schemas.openxmlformats.org/drawingml/2006/main" prst="rect">
            <a:avLst/>
          </a:prstGeom>
          <a:solidFill xmlns:a="http://schemas.openxmlformats.org/drawingml/2006/main">
            <a:srgbClr val="7B5133"/>
          </a:solidFill>
          <a:ln xmlns:a="http://schemas.openxmlformats.org/drawingml/2006/main" w="0">
            <a:solidFill>
              <a:srgbClr val="7B5133"/>
            </a:solidFill>
            <a:prstDash val="solid"/>
          </a:ln>
        </p:spPr>
      </p:sp>
      <p:sp>
        <p:nvSpPr>
          <p:cNvPr id="16" name="">
            <a:extLst xmlns:a="http://schemas.openxmlformats.org/drawingml/2006/main">
              <a:ext uri="{FF2B5EF4-FFF2-40B4-BE49-F238E27FC236}">
                <a16:creationId xmlns:a16="http://schemas.microsoft.com/office/drawing/2014/main" id="{3CE8D22E-3216-49B8-96DF-E735649ACCF3}"/>
              </a:ext>
            </a:extLst>
          </p:cNvPr>
          <p:cNvSpPr>
            <a:spLocks xmlns:a="http://schemas.openxmlformats.org/drawingml/2006/main" noGrp="1"/>
          </p:cNvSpPr>
          <p:nvPr/>
        </p:nvSpPr>
        <p:spPr>
          <a:xfrm xmlns:a="http://schemas.openxmlformats.org/drawingml/2006/main">
            <a:off x="3429000" y="4972050"/>
            <a:ext cx="2667000" cy="19050"/>
          </a:xfrm>
          <a:prstGeom xmlns:a="http://schemas.openxmlformats.org/drawingml/2006/main" prst="rect">
            <a:avLst/>
          </a:prstGeom>
          <a:solidFill xmlns:a="http://schemas.openxmlformats.org/drawingml/2006/main">
            <a:srgbClr val="7B5133"/>
          </a:solidFill>
          <a:ln xmlns:a="http://schemas.openxmlformats.org/drawingml/2006/main" w="0">
            <a:solidFill>
              <a:srgbClr val="7B5133"/>
            </a:solidFill>
            <a:prstDash val="solid"/>
          </a:ln>
        </p:spPr>
      </p:sp>
      <p:sp>
        <p:nvSpPr>
          <p:cNvPr id="17" name="">
            <a:extLst xmlns:a="http://schemas.openxmlformats.org/drawingml/2006/main">
              <a:ext uri="{FF2B5EF4-FFF2-40B4-BE49-F238E27FC236}">
                <a16:creationId xmlns:a16="http://schemas.microsoft.com/office/drawing/2014/main" id="{A8AE7D49-271C-4C24-B848-EE661EAB325F}"/>
              </a:ext>
            </a:extLst>
          </p:cNvPr>
          <p:cNvSpPr>
            <a:spLocks xmlns:a="http://schemas.openxmlformats.org/drawingml/2006/main" noGrp="1"/>
          </p:cNvSpPr>
          <p:nvPr/>
        </p:nvSpPr>
        <p:spPr>
          <a:xfrm xmlns:a="http://schemas.openxmlformats.org/drawingml/2006/main">
            <a:off x="6096000" y="4972050"/>
            <a:ext cx="2667000" cy="19050"/>
          </a:xfrm>
          <a:prstGeom xmlns:a="http://schemas.openxmlformats.org/drawingml/2006/main" prst="rect">
            <a:avLst/>
          </a:prstGeom>
          <a:solidFill xmlns:a="http://schemas.openxmlformats.org/drawingml/2006/main">
            <a:srgbClr val="7B5133"/>
          </a:solidFill>
          <a:ln xmlns:a="http://schemas.openxmlformats.org/drawingml/2006/main" w="0">
            <a:solidFill>
              <a:srgbClr val="7B5133"/>
            </a:solidFill>
            <a:prstDash val="solid"/>
          </a:ln>
        </p:spPr>
      </p:sp>
      <p:sp>
        <p:nvSpPr>
          <p:cNvPr id="18" name="">
            <a:extLst xmlns:a="http://schemas.openxmlformats.org/drawingml/2006/main">
              <a:ext uri="{FF2B5EF4-FFF2-40B4-BE49-F238E27FC236}">
                <a16:creationId xmlns:a16="http://schemas.microsoft.com/office/drawing/2014/main" id="{711265B0-79DE-43CE-A95F-9F7AD051F5E0}"/>
              </a:ext>
            </a:extLst>
          </p:cNvPr>
          <p:cNvSpPr>
            <a:spLocks xmlns:a="http://schemas.openxmlformats.org/drawingml/2006/main" noGrp="1"/>
          </p:cNvSpPr>
          <p:nvPr/>
        </p:nvSpPr>
        <p:spPr>
          <a:xfrm xmlns:a="http://schemas.openxmlformats.org/drawingml/2006/main">
            <a:off x="819150" y="2914650"/>
            <a:ext cx="2343150" cy="876300"/>
          </a:xfrm>
          <a:prstGeom xmlns:a="http://schemas.openxmlformats.org/drawingml/2006/main" prst="rect">
            <a:avLst/>
          </a:prstGeom>
          <a:solidFill xmlns:a="http://schemas.openxmlformats.org/drawingml/2006/main">
            <a:srgbClr val="FEFCF7"/>
          </a:solidFill>
          <a:ln xmlns:a="http://schemas.openxmlformats.org/drawingml/2006/main" w="9525">
            <a:solidFill>
              <a:srgbClr val="D7CFC2"/>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b7e5b1cb4f024d4f">
            <a:extLst>
              <a:ext uri="{96DAC541-7B7A-43D3-8B79-37D633B846F1}">
                <asvg:svgBlip xmlns:asvg="http://schemas.microsoft.com/office/drawing/2016/SVG/main" r:embed="R28065897f72e4e6a"/>
              </a:ext>
            </a:extLst>
          </a:blip>
          <a:stretch xmlns:a="http://schemas.openxmlformats.org/drawingml/2006/main"/>
        </p:blipFill>
        <p:spPr>
          <a:xfrm xmlns:a="http://schemas.openxmlformats.org/drawingml/2006/main">
            <a:off x="990600" y="3143250"/>
            <a:ext cx="285750" cy="28575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5F74D7C9-8A90-43FD-B386-7ABBC1A9A4FC}"/>
              </a:ext>
            </a:extLst>
          </p:cNvPr>
          <p:cNvSpPr>
            <a:spLocks xmlns:a="http://schemas.openxmlformats.org/drawingml/2006/main" noGrp="1"/>
          </p:cNvSpPr>
          <p:nvPr/>
        </p:nvSpPr>
        <p:spPr>
          <a:xfrm xmlns:a="http://schemas.openxmlformats.org/drawingml/2006/main">
            <a:off x="1428750" y="3105150"/>
            <a:ext cx="152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050505"/>
                </a:solidFill>
                <a:latin typeface="Aptos"/>
                <a:ea typeface="Aptos"/>
                <a:cs typeface="Aptos"/>
              </a:defRPr>
            </a:pPr>
            <a:r>
              <a:rPr sz="1275" b="1">
                <a:solidFill>
                  <a:srgbClr val="050505"/>
                </a:solidFill>
                <a:latin typeface="Aptos"/>
                <a:ea typeface="Aptos"/>
                <a:cs typeface="Aptos"/>
              </a:rPr>
              <a:t>CRM inbox</a:t>
            </a:r>
          </a:p>
        </p:txBody>
      </p:sp>
      <p:sp>
        <p:nvSpPr>
          <p:cNvPr id="21" name="">
            <a:extLst xmlns:a="http://schemas.openxmlformats.org/drawingml/2006/main">
              <a:ext uri="{FF2B5EF4-FFF2-40B4-BE49-F238E27FC236}">
                <a16:creationId xmlns:a16="http://schemas.microsoft.com/office/drawing/2014/main" id="{A37C807B-0317-4FBD-A95F-E4F4B4BD49EF}"/>
              </a:ext>
            </a:extLst>
          </p:cNvPr>
          <p:cNvSpPr>
            <a:spLocks xmlns:a="http://schemas.openxmlformats.org/drawingml/2006/main" noGrp="1"/>
          </p:cNvSpPr>
          <p:nvPr/>
        </p:nvSpPr>
        <p:spPr>
          <a:xfrm xmlns:a="http://schemas.openxmlformats.org/drawingml/2006/main">
            <a:off x="1428750" y="3371850"/>
            <a:ext cx="1466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7B5133"/>
                </a:solidFill>
                <a:latin typeface="Aptos Mono"/>
                <a:ea typeface="Aptos Mono"/>
                <a:cs typeface="Aptos Mono"/>
              </a:defRPr>
            </a:pPr>
            <a:r>
              <a:rPr sz="825" b="1">
                <a:solidFill>
                  <a:srgbClr val="7B5133"/>
                </a:solidFill>
                <a:latin typeface="Aptos Mono"/>
                <a:ea typeface="Aptos Mono"/>
                <a:cs typeface="Aptos Mono"/>
              </a:rPr>
              <a:t>inquiry capture</a:t>
            </a:r>
          </a:p>
        </p:txBody>
      </p:sp>
      <p:sp>
        <p:nvSpPr>
          <p:cNvPr id="22" name="">
            <a:extLst xmlns:a="http://schemas.openxmlformats.org/drawingml/2006/main">
              <a:ext uri="{FF2B5EF4-FFF2-40B4-BE49-F238E27FC236}">
                <a16:creationId xmlns:a16="http://schemas.microsoft.com/office/drawing/2014/main" id="{EDA7A691-8F4B-4223-97A8-9726109782AC}"/>
              </a:ext>
            </a:extLst>
          </p:cNvPr>
          <p:cNvSpPr>
            <a:spLocks xmlns:a="http://schemas.openxmlformats.org/drawingml/2006/main" noGrp="1"/>
          </p:cNvSpPr>
          <p:nvPr/>
        </p:nvSpPr>
        <p:spPr>
          <a:xfrm xmlns:a="http://schemas.openxmlformats.org/drawingml/2006/main">
            <a:off x="819150" y="4095750"/>
            <a:ext cx="2343150" cy="876300"/>
          </a:xfrm>
          <a:prstGeom xmlns:a="http://schemas.openxmlformats.org/drawingml/2006/main" prst="rect">
            <a:avLst/>
          </a:prstGeom>
          <a:solidFill xmlns:a="http://schemas.openxmlformats.org/drawingml/2006/main">
            <a:srgbClr val="FEFCF7"/>
          </a:solidFill>
          <a:ln xmlns:a="http://schemas.openxmlformats.org/drawingml/2006/main" w="9525">
            <a:solidFill>
              <a:srgbClr val="D7CFC2"/>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263a8061db844a81">
            <a:extLst>
              <a:ext uri="{96DAC541-7B7A-43D3-8B79-37D633B846F1}">
                <asvg:svgBlip xmlns:asvg="http://schemas.microsoft.com/office/drawing/2016/SVG/main" r:embed="R888b90943d2e4889"/>
              </a:ext>
            </a:extLst>
          </a:blip>
          <a:stretch xmlns:a="http://schemas.openxmlformats.org/drawingml/2006/main"/>
        </p:blipFill>
        <p:spPr>
          <a:xfrm xmlns:a="http://schemas.openxmlformats.org/drawingml/2006/main">
            <a:off x="990600" y="4324350"/>
            <a:ext cx="285750" cy="285750"/>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B040EA21-CAF0-44AB-996A-4C8C4AC6C24D}"/>
              </a:ext>
            </a:extLst>
          </p:cNvPr>
          <p:cNvSpPr>
            <a:spLocks xmlns:a="http://schemas.openxmlformats.org/drawingml/2006/main" noGrp="1"/>
          </p:cNvSpPr>
          <p:nvPr/>
        </p:nvSpPr>
        <p:spPr>
          <a:xfrm xmlns:a="http://schemas.openxmlformats.org/drawingml/2006/main">
            <a:off x="1428750" y="4286250"/>
            <a:ext cx="152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050505"/>
                </a:solidFill>
                <a:latin typeface="Aptos"/>
                <a:ea typeface="Aptos"/>
                <a:cs typeface="Aptos"/>
              </a:defRPr>
            </a:pPr>
            <a:r>
              <a:rPr sz="1275" b="1">
                <a:solidFill>
                  <a:srgbClr val="050505"/>
                </a:solidFill>
                <a:latin typeface="Aptos"/>
                <a:ea typeface="Aptos"/>
                <a:cs typeface="Aptos"/>
              </a:rPr>
              <a:t>Order manager</a:t>
            </a:r>
          </a:p>
        </p:txBody>
      </p:sp>
      <p:sp>
        <p:nvSpPr>
          <p:cNvPr id="25" name="">
            <a:extLst xmlns:a="http://schemas.openxmlformats.org/drawingml/2006/main">
              <a:ext uri="{FF2B5EF4-FFF2-40B4-BE49-F238E27FC236}">
                <a16:creationId xmlns:a16="http://schemas.microsoft.com/office/drawing/2014/main" id="{054B57B0-B029-4710-859F-4FF59D7F0C7B}"/>
              </a:ext>
            </a:extLst>
          </p:cNvPr>
          <p:cNvSpPr>
            <a:spLocks xmlns:a="http://schemas.openxmlformats.org/drawingml/2006/main" noGrp="1"/>
          </p:cNvSpPr>
          <p:nvPr/>
        </p:nvSpPr>
        <p:spPr>
          <a:xfrm xmlns:a="http://schemas.openxmlformats.org/drawingml/2006/main">
            <a:off x="1428750" y="4552950"/>
            <a:ext cx="1466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7B5133"/>
                </a:solidFill>
                <a:latin typeface="Aptos Mono"/>
                <a:ea typeface="Aptos Mono"/>
                <a:cs typeface="Aptos Mono"/>
              </a:defRPr>
            </a:pPr>
            <a:r>
              <a:rPr sz="825" b="1">
                <a:solidFill>
                  <a:srgbClr val="7B5133"/>
                </a:solidFill>
                <a:latin typeface="Aptos Mono"/>
                <a:ea typeface="Aptos Mono"/>
                <a:cs typeface="Aptos Mono"/>
              </a:rPr>
              <a:t>status and payments</a:t>
            </a:r>
          </a:p>
        </p:txBody>
      </p:sp>
      <p:sp>
        <p:nvSpPr>
          <p:cNvPr id="26" name="">
            <a:extLst xmlns:a="http://schemas.openxmlformats.org/drawingml/2006/main">
              <a:ext uri="{FF2B5EF4-FFF2-40B4-BE49-F238E27FC236}">
                <a16:creationId xmlns:a16="http://schemas.microsoft.com/office/drawing/2014/main" id="{48F0261B-BDAC-456A-8C30-11496CEE232F}"/>
              </a:ext>
            </a:extLst>
          </p:cNvPr>
          <p:cNvSpPr>
            <a:spLocks xmlns:a="http://schemas.openxmlformats.org/drawingml/2006/main" noGrp="1"/>
          </p:cNvSpPr>
          <p:nvPr/>
        </p:nvSpPr>
        <p:spPr>
          <a:xfrm xmlns:a="http://schemas.openxmlformats.org/drawingml/2006/main">
            <a:off x="8896350" y="2914650"/>
            <a:ext cx="2343150" cy="876300"/>
          </a:xfrm>
          <a:prstGeom xmlns:a="http://schemas.openxmlformats.org/drawingml/2006/main" prst="rect">
            <a:avLst/>
          </a:prstGeom>
          <a:solidFill xmlns:a="http://schemas.openxmlformats.org/drawingml/2006/main">
            <a:srgbClr val="FEFCF7"/>
          </a:solidFill>
          <a:ln xmlns:a="http://schemas.openxmlformats.org/drawingml/2006/main" w="9525">
            <a:solidFill>
              <a:srgbClr val="D7CFC2"/>
            </a:solid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05cd36fe38784029">
            <a:extLst>
              <a:ext uri="{96DAC541-7B7A-43D3-8B79-37D633B846F1}">
                <asvg:svgBlip xmlns:asvg="http://schemas.microsoft.com/office/drawing/2016/SVG/main" r:embed="R676c520160a64f72"/>
              </a:ext>
            </a:extLst>
          </a:blip>
          <a:stretch xmlns:a="http://schemas.openxmlformats.org/drawingml/2006/main"/>
        </p:blipFill>
        <p:spPr>
          <a:xfrm xmlns:a="http://schemas.openxmlformats.org/drawingml/2006/main">
            <a:off x="9067800" y="3143250"/>
            <a:ext cx="285750" cy="285750"/>
          </a:xfrm>
          <a:prstGeom xmlns:a="http://schemas.openxmlformats.org/drawingml/2006/main" prst="rect">
            <a:avLst/>
          </a:prstGeom>
        </p:spPr>
      </p:pic>
      <p:sp>
        <p:nvSpPr>
          <p:cNvPr id="28" name="">
            <a:extLst xmlns:a="http://schemas.openxmlformats.org/drawingml/2006/main">
              <a:ext uri="{FF2B5EF4-FFF2-40B4-BE49-F238E27FC236}">
                <a16:creationId xmlns:a16="http://schemas.microsoft.com/office/drawing/2014/main" id="{96415DF3-040F-4769-99A0-F6132A3397C0}"/>
              </a:ext>
            </a:extLst>
          </p:cNvPr>
          <p:cNvSpPr>
            <a:spLocks xmlns:a="http://schemas.openxmlformats.org/drawingml/2006/main" noGrp="1"/>
          </p:cNvSpPr>
          <p:nvPr/>
        </p:nvSpPr>
        <p:spPr>
          <a:xfrm xmlns:a="http://schemas.openxmlformats.org/drawingml/2006/main">
            <a:off x="9505950" y="3105150"/>
            <a:ext cx="152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050505"/>
                </a:solidFill>
                <a:latin typeface="Aptos"/>
                <a:ea typeface="Aptos"/>
                <a:cs typeface="Aptos"/>
              </a:defRPr>
            </a:pPr>
            <a:r>
              <a:rPr sz="1275" b="1">
                <a:solidFill>
                  <a:srgbClr val="050505"/>
                </a:solidFill>
                <a:latin typeface="Aptos"/>
                <a:ea typeface="Aptos"/>
                <a:cs typeface="Aptos"/>
              </a:rPr>
              <a:t>Inventory</a:t>
            </a:r>
          </a:p>
        </p:txBody>
      </p:sp>
      <p:sp>
        <p:nvSpPr>
          <p:cNvPr id="29" name="">
            <a:extLst xmlns:a="http://schemas.openxmlformats.org/drawingml/2006/main">
              <a:ext uri="{FF2B5EF4-FFF2-40B4-BE49-F238E27FC236}">
                <a16:creationId xmlns:a16="http://schemas.microsoft.com/office/drawing/2014/main" id="{C849814A-608C-4913-88C8-BD8CD087DE2B}"/>
              </a:ext>
            </a:extLst>
          </p:cNvPr>
          <p:cNvSpPr>
            <a:spLocks xmlns:a="http://schemas.openxmlformats.org/drawingml/2006/main" noGrp="1"/>
          </p:cNvSpPr>
          <p:nvPr/>
        </p:nvSpPr>
        <p:spPr>
          <a:xfrm xmlns:a="http://schemas.openxmlformats.org/drawingml/2006/main">
            <a:off x="9505950" y="3371850"/>
            <a:ext cx="1466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7B5133"/>
                </a:solidFill>
                <a:latin typeface="Aptos Mono"/>
                <a:ea typeface="Aptos Mono"/>
                <a:cs typeface="Aptos Mono"/>
              </a:defRPr>
            </a:pPr>
            <a:r>
              <a:rPr sz="825" b="1">
                <a:solidFill>
                  <a:srgbClr val="7B5133"/>
                </a:solidFill>
                <a:latin typeface="Aptos Mono"/>
                <a:ea typeface="Aptos Mono"/>
                <a:cs typeface="Aptos Mono"/>
              </a:rPr>
              <a:t>SKU and stock reserve</a:t>
            </a:r>
          </a:p>
        </p:txBody>
      </p:sp>
      <p:sp>
        <p:nvSpPr>
          <p:cNvPr id="30" name="">
            <a:extLst xmlns:a="http://schemas.openxmlformats.org/drawingml/2006/main">
              <a:ext uri="{FF2B5EF4-FFF2-40B4-BE49-F238E27FC236}">
                <a16:creationId xmlns:a16="http://schemas.microsoft.com/office/drawing/2014/main" id="{91BDC8AB-E64D-432C-AC71-231392FFD7CD}"/>
              </a:ext>
            </a:extLst>
          </p:cNvPr>
          <p:cNvSpPr>
            <a:spLocks xmlns:a="http://schemas.openxmlformats.org/drawingml/2006/main" noGrp="1"/>
          </p:cNvSpPr>
          <p:nvPr/>
        </p:nvSpPr>
        <p:spPr>
          <a:xfrm xmlns:a="http://schemas.openxmlformats.org/drawingml/2006/main">
            <a:off x="8896350" y="4095750"/>
            <a:ext cx="2343150" cy="876300"/>
          </a:xfrm>
          <a:prstGeom xmlns:a="http://schemas.openxmlformats.org/drawingml/2006/main" prst="rect">
            <a:avLst/>
          </a:prstGeom>
          <a:solidFill xmlns:a="http://schemas.openxmlformats.org/drawingml/2006/main">
            <a:srgbClr val="FEFCF7"/>
          </a:solidFill>
          <a:ln xmlns:a="http://schemas.openxmlformats.org/drawingml/2006/main" w="9525">
            <a:solidFill>
              <a:srgbClr val="D7CFC2"/>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2e84c9897a194d8d">
            <a:extLst>
              <a:ext uri="{96DAC541-7B7A-43D3-8B79-37D633B846F1}">
                <asvg:svgBlip xmlns:asvg="http://schemas.microsoft.com/office/drawing/2016/SVG/main" r:embed="R1df7bacf0e134e56"/>
              </a:ext>
            </a:extLst>
          </a:blip>
          <a:stretch xmlns:a="http://schemas.openxmlformats.org/drawingml/2006/main"/>
        </p:blipFill>
        <p:spPr>
          <a:xfrm xmlns:a="http://schemas.openxmlformats.org/drawingml/2006/main">
            <a:off x="9067800" y="4324350"/>
            <a:ext cx="285750" cy="285750"/>
          </a:xfrm>
          <a:prstGeom xmlns:a="http://schemas.openxmlformats.org/drawingml/2006/main" prst="rect">
            <a:avLst/>
          </a:prstGeom>
        </p:spPr>
      </p:pic>
      <p:sp>
        <p:nvSpPr>
          <p:cNvPr id="32" name="">
            <a:extLst xmlns:a="http://schemas.openxmlformats.org/drawingml/2006/main">
              <a:ext uri="{FF2B5EF4-FFF2-40B4-BE49-F238E27FC236}">
                <a16:creationId xmlns:a16="http://schemas.microsoft.com/office/drawing/2014/main" id="{0530BF9D-E217-461C-80FA-2EFABE985FF5}"/>
              </a:ext>
            </a:extLst>
          </p:cNvPr>
          <p:cNvSpPr>
            <a:spLocks xmlns:a="http://schemas.openxmlformats.org/drawingml/2006/main" noGrp="1"/>
          </p:cNvSpPr>
          <p:nvPr/>
        </p:nvSpPr>
        <p:spPr>
          <a:xfrm xmlns:a="http://schemas.openxmlformats.org/drawingml/2006/main">
            <a:off x="9505950" y="4286250"/>
            <a:ext cx="152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050505"/>
                </a:solidFill>
                <a:latin typeface="Aptos"/>
                <a:ea typeface="Aptos"/>
                <a:cs typeface="Aptos"/>
              </a:defRPr>
            </a:pPr>
            <a:r>
              <a:rPr sz="1275" b="1">
                <a:solidFill>
                  <a:srgbClr val="050505"/>
                </a:solidFill>
                <a:latin typeface="Aptos"/>
                <a:ea typeface="Aptos"/>
                <a:cs typeface="Aptos"/>
              </a:rPr>
              <a:t>Production tracker</a:t>
            </a:r>
          </a:p>
        </p:txBody>
      </p:sp>
      <p:sp>
        <p:nvSpPr>
          <p:cNvPr id="33" name="">
            <a:extLst xmlns:a="http://schemas.openxmlformats.org/drawingml/2006/main">
              <a:ext uri="{FF2B5EF4-FFF2-40B4-BE49-F238E27FC236}">
                <a16:creationId xmlns:a16="http://schemas.microsoft.com/office/drawing/2014/main" id="{1C54C98C-A644-45D0-BA10-CE695251B396}"/>
              </a:ext>
            </a:extLst>
          </p:cNvPr>
          <p:cNvSpPr>
            <a:spLocks xmlns:a="http://schemas.openxmlformats.org/drawingml/2006/main" noGrp="1"/>
          </p:cNvSpPr>
          <p:nvPr/>
        </p:nvSpPr>
        <p:spPr>
          <a:xfrm xmlns:a="http://schemas.openxmlformats.org/drawingml/2006/main">
            <a:off x="9505950" y="4552950"/>
            <a:ext cx="1466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7B5133"/>
                </a:solidFill>
                <a:latin typeface="Aptos Mono"/>
                <a:ea typeface="Aptos Mono"/>
                <a:cs typeface="Aptos Mono"/>
              </a:defRPr>
            </a:pPr>
            <a:r>
              <a:rPr sz="825" b="1">
                <a:solidFill>
                  <a:srgbClr val="7B5133"/>
                </a:solidFill>
                <a:latin typeface="Aptos Mono"/>
                <a:ea typeface="Aptos Mono"/>
                <a:cs typeface="Aptos Mono"/>
              </a:rPr>
              <a:t>tasks and QC</a:t>
            </a:r>
          </a:p>
        </p:txBody>
      </p:sp>
      <p:sp>
        <p:nvSpPr>
          <p:cNvPr id="34" name="">
            <a:extLst xmlns:a="http://schemas.openxmlformats.org/drawingml/2006/main">
              <a:ext uri="{FF2B5EF4-FFF2-40B4-BE49-F238E27FC236}">
                <a16:creationId xmlns:a16="http://schemas.microsoft.com/office/drawing/2014/main" id="{0E13D3E0-AF95-4D0F-A97D-F169F0C512C9}"/>
              </a:ext>
            </a:extLst>
          </p:cNvPr>
          <p:cNvSpPr>
            <a:spLocks xmlns:a="http://schemas.openxmlformats.org/drawingml/2006/main" noGrp="1"/>
          </p:cNvSpPr>
          <p:nvPr/>
        </p:nvSpPr>
        <p:spPr>
          <a:xfrm xmlns:a="http://schemas.openxmlformats.org/drawingml/2006/main">
            <a:off x="2876550" y="2019300"/>
            <a:ext cx="2343150" cy="876300"/>
          </a:xfrm>
          <a:prstGeom xmlns:a="http://schemas.openxmlformats.org/drawingml/2006/main" prst="rect">
            <a:avLst/>
          </a:prstGeom>
          <a:solidFill xmlns:a="http://schemas.openxmlformats.org/drawingml/2006/main">
            <a:srgbClr val="FEFCF7"/>
          </a:solidFill>
          <a:ln xmlns:a="http://schemas.openxmlformats.org/drawingml/2006/main" w="9525">
            <a:solidFill>
              <a:srgbClr val="D7CFC2"/>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62d6e2c969254170">
            <a:extLst>
              <a:ext uri="{96DAC541-7B7A-43D3-8B79-37D633B846F1}">
                <asvg:svgBlip xmlns:asvg="http://schemas.microsoft.com/office/drawing/2016/SVG/main" r:embed="Re327077552ab4af8"/>
              </a:ext>
            </a:extLst>
          </a:blip>
          <a:stretch xmlns:a="http://schemas.openxmlformats.org/drawingml/2006/main"/>
        </p:blipFill>
        <p:spPr>
          <a:xfrm xmlns:a="http://schemas.openxmlformats.org/drawingml/2006/main">
            <a:off x="3048000" y="2247900"/>
            <a:ext cx="285750" cy="285750"/>
          </a:xfrm>
          <a:prstGeom xmlns:a="http://schemas.openxmlformats.org/drawingml/2006/main" prst="rect">
            <a:avLst/>
          </a:prstGeom>
        </p:spPr>
      </p:pic>
      <p:sp>
        <p:nvSpPr>
          <p:cNvPr id="36" name="">
            <a:extLst xmlns:a="http://schemas.openxmlformats.org/drawingml/2006/main">
              <a:ext uri="{FF2B5EF4-FFF2-40B4-BE49-F238E27FC236}">
                <a16:creationId xmlns:a16="http://schemas.microsoft.com/office/drawing/2014/main" id="{B3EF20A9-4F51-414A-816C-B8AEC0B55213}"/>
              </a:ext>
            </a:extLst>
          </p:cNvPr>
          <p:cNvSpPr>
            <a:spLocks xmlns:a="http://schemas.openxmlformats.org/drawingml/2006/main" noGrp="1"/>
          </p:cNvSpPr>
          <p:nvPr/>
        </p:nvSpPr>
        <p:spPr>
          <a:xfrm xmlns:a="http://schemas.openxmlformats.org/drawingml/2006/main">
            <a:off x="3486150" y="2209800"/>
            <a:ext cx="152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050505"/>
                </a:solidFill>
                <a:latin typeface="Aptos"/>
                <a:ea typeface="Aptos"/>
                <a:cs typeface="Aptos"/>
              </a:defRPr>
            </a:pPr>
            <a:r>
              <a:rPr sz="1275" b="1">
                <a:solidFill>
                  <a:srgbClr val="050505"/>
                </a:solidFill>
                <a:latin typeface="Aptos"/>
                <a:ea typeface="Aptos"/>
                <a:cs typeface="Aptos"/>
              </a:rPr>
              <a:t>Catalog manager</a:t>
            </a:r>
          </a:p>
        </p:txBody>
      </p:sp>
      <p:sp>
        <p:nvSpPr>
          <p:cNvPr id="37" name="">
            <a:extLst xmlns:a="http://schemas.openxmlformats.org/drawingml/2006/main">
              <a:ext uri="{FF2B5EF4-FFF2-40B4-BE49-F238E27FC236}">
                <a16:creationId xmlns:a16="http://schemas.microsoft.com/office/drawing/2014/main" id="{67A128D6-C904-4CC9-999E-5F493E88944C}"/>
              </a:ext>
            </a:extLst>
          </p:cNvPr>
          <p:cNvSpPr>
            <a:spLocks xmlns:a="http://schemas.openxmlformats.org/drawingml/2006/main" noGrp="1"/>
          </p:cNvSpPr>
          <p:nvPr/>
        </p:nvSpPr>
        <p:spPr>
          <a:xfrm xmlns:a="http://schemas.openxmlformats.org/drawingml/2006/main">
            <a:off x="3486150" y="2476500"/>
            <a:ext cx="1466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7B5133"/>
                </a:solidFill>
                <a:latin typeface="Aptos Mono"/>
                <a:ea typeface="Aptos Mono"/>
                <a:cs typeface="Aptos Mono"/>
              </a:defRPr>
            </a:pPr>
            <a:r>
              <a:rPr sz="825" b="1">
                <a:solidFill>
                  <a:srgbClr val="7B5133"/>
                </a:solidFill>
                <a:latin typeface="Aptos Mono"/>
                <a:ea typeface="Aptos Mono"/>
                <a:cs typeface="Aptos Mono"/>
              </a:rPr>
              <a:t>looks and pricing</a:t>
            </a:r>
          </a:p>
        </p:txBody>
      </p:sp>
      <p:sp>
        <p:nvSpPr>
          <p:cNvPr id="38" name="">
            <a:extLst xmlns:a="http://schemas.openxmlformats.org/drawingml/2006/main">
              <a:ext uri="{FF2B5EF4-FFF2-40B4-BE49-F238E27FC236}">
                <a16:creationId xmlns:a16="http://schemas.microsoft.com/office/drawing/2014/main" id="{4F15E41A-D54E-4902-842E-DA2FCB21ED15}"/>
              </a:ext>
            </a:extLst>
          </p:cNvPr>
          <p:cNvSpPr>
            <a:spLocks xmlns:a="http://schemas.openxmlformats.org/drawingml/2006/main" noGrp="1"/>
          </p:cNvSpPr>
          <p:nvPr/>
        </p:nvSpPr>
        <p:spPr>
          <a:xfrm xmlns:a="http://schemas.openxmlformats.org/drawingml/2006/main">
            <a:off x="6972300" y="2019300"/>
            <a:ext cx="2343150" cy="876300"/>
          </a:xfrm>
          <a:prstGeom xmlns:a="http://schemas.openxmlformats.org/drawingml/2006/main" prst="rect">
            <a:avLst/>
          </a:prstGeom>
          <a:solidFill xmlns:a="http://schemas.openxmlformats.org/drawingml/2006/main">
            <a:srgbClr val="FEFCF7"/>
          </a:solidFill>
          <a:ln xmlns:a="http://schemas.openxmlformats.org/drawingml/2006/main" w="9525">
            <a:solidFill>
              <a:srgbClr val="D7CFC2"/>
            </a:solidFill>
            <a:prstDash val="solid"/>
          </a:ln>
        </p:spPr>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0b4d978d9d474c5c">
            <a:extLst>
              <a:ext uri="{96DAC541-7B7A-43D3-8B79-37D633B846F1}">
                <asvg:svgBlip xmlns:asvg="http://schemas.microsoft.com/office/drawing/2016/SVG/main" r:embed="Re1425da1232e4a89"/>
              </a:ext>
            </a:extLst>
          </a:blip>
          <a:stretch xmlns:a="http://schemas.openxmlformats.org/drawingml/2006/main"/>
        </p:blipFill>
        <p:spPr>
          <a:xfrm xmlns:a="http://schemas.openxmlformats.org/drawingml/2006/main">
            <a:off x="7143750" y="2247900"/>
            <a:ext cx="285750" cy="285750"/>
          </a:xfrm>
          <a:prstGeom xmlns:a="http://schemas.openxmlformats.org/drawingml/2006/main" prst="rect">
            <a:avLst/>
          </a:prstGeom>
        </p:spPr>
      </p:pic>
      <p:sp>
        <p:nvSpPr>
          <p:cNvPr id="40" name="">
            <a:extLst xmlns:a="http://schemas.openxmlformats.org/drawingml/2006/main">
              <a:ext uri="{FF2B5EF4-FFF2-40B4-BE49-F238E27FC236}">
                <a16:creationId xmlns:a16="http://schemas.microsoft.com/office/drawing/2014/main" id="{A10F3109-F17D-4E75-85F3-1EBC7572FB48}"/>
              </a:ext>
            </a:extLst>
          </p:cNvPr>
          <p:cNvSpPr>
            <a:spLocks xmlns:a="http://schemas.openxmlformats.org/drawingml/2006/main" noGrp="1"/>
          </p:cNvSpPr>
          <p:nvPr/>
        </p:nvSpPr>
        <p:spPr>
          <a:xfrm xmlns:a="http://schemas.openxmlformats.org/drawingml/2006/main">
            <a:off x="7581900" y="2209800"/>
            <a:ext cx="152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050505"/>
                </a:solidFill>
                <a:latin typeface="Aptos"/>
                <a:ea typeface="Aptos"/>
                <a:cs typeface="Aptos"/>
              </a:defRPr>
            </a:pPr>
            <a:r>
              <a:rPr sz="1275" b="1">
                <a:solidFill>
                  <a:srgbClr val="050505"/>
                </a:solidFill>
                <a:latin typeface="Aptos"/>
                <a:ea typeface="Aptos"/>
                <a:cs typeface="Aptos"/>
              </a:rPr>
              <a:t>Reports</a:t>
            </a:r>
          </a:p>
        </p:txBody>
      </p:sp>
      <p:sp>
        <p:nvSpPr>
          <p:cNvPr id="41" name="">
            <a:extLst xmlns:a="http://schemas.openxmlformats.org/drawingml/2006/main">
              <a:ext uri="{FF2B5EF4-FFF2-40B4-BE49-F238E27FC236}">
                <a16:creationId xmlns:a16="http://schemas.microsoft.com/office/drawing/2014/main" id="{C26DDD97-43BC-43DA-8686-148E334865E9}"/>
              </a:ext>
            </a:extLst>
          </p:cNvPr>
          <p:cNvSpPr>
            <a:spLocks xmlns:a="http://schemas.openxmlformats.org/drawingml/2006/main" noGrp="1"/>
          </p:cNvSpPr>
          <p:nvPr/>
        </p:nvSpPr>
        <p:spPr>
          <a:xfrm xmlns:a="http://schemas.openxmlformats.org/drawingml/2006/main">
            <a:off x="7581900" y="2476500"/>
            <a:ext cx="1466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7B5133"/>
                </a:solidFill>
                <a:latin typeface="Aptos Mono"/>
                <a:ea typeface="Aptos Mono"/>
                <a:cs typeface="Aptos Mono"/>
              </a:defRPr>
            </a:pPr>
            <a:r>
              <a:rPr sz="825" b="1">
                <a:solidFill>
                  <a:srgbClr val="7B5133"/>
                </a:solidFill>
                <a:latin typeface="Aptos Mono"/>
                <a:ea typeface="Aptos Mono"/>
                <a:cs typeface="Aptos Mono"/>
              </a:rPr>
              <a:t>sales and stock clarity</a:t>
            </a:r>
          </a:p>
        </p:txBody>
      </p:sp>
      <p:sp>
        <p:nvSpPr>
          <p:cNvPr id="42" name="">
            <a:extLst xmlns:a="http://schemas.openxmlformats.org/drawingml/2006/main">
              <a:ext uri="{FF2B5EF4-FFF2-40B4-BE49-F238E27FC236}">
                <a16:creationId xmlns:a16="http://schemas.microsoft.com/office/drawing/2014/main" id="{0811D6FE-9B29-4419-88D3-95871F516F56}"/>
              </a:ext>
            </a:extLst>
          </p:cNvPr>
          <p:cNvSpPr>
            <a:spLocks xmlns:a="http://schemas.openxmlformats.org/drawingml/2006/main" noGrp="1"/>
          </p:cNvSpPr>
          <p:nvPr/>
        </p:nvSpPr>
        <p:spPr>
          <a:xfrm xmlns:a="http://schemas.openxmlformats.org/drawingml/2006/main">
            <a:off x="4933950" y="5257800"/>
            <a:ext cx="2343150" cy="876300"/>
          </a:xfrm>
          <a:prstGeom xmlns:a="http://schemas.openxmlformats.org/drawingml/2006/main" prst="rect">
            <a:avLst/>
          </a:prstGeom>
          <a:solidFill xmlns:a="http://schemas.openxmlformats.org/drawingml/2006/main">
            <a:srgbClr val="FEFCF7"/>
          </a:solidFill>
          <a:ln xmlns:a="http://schemas.openxmlformats.org/drawingml/2006/main" w="9525">
            <a:solidFill>
              <a:srgbClr val="D7CFC2"/>
            </a:solidFill>
            <a:prstDash val="solid"/>
          </a:ln>
        </p:spPr>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39a72bd5479540ba">
            <a:extLst>
              <a:ext uri="{96DAC541-7B7A-43D3-8B79-37D633B846F1}">
                <asvg:svgBlip xmlns:asvg="http://schemas.microsoft.com/office/drawing/2016/SVG/main" r:embed="R0a6911fd0969480b"/>
              </a:ext>
            </a:extLst>
          </a:blip>
          <a:stretch xmlns:a="http://schemas.openxmlformats.org/drawingml/2006/main"/>
        </p:blipFill>
        <p:spPr>
          <a:xfrm xmlns:a="http://schemas.openxmlformats.org/drawingml/2006/main">
            <a:off x="5105400" y="5486400"/>
            <a:ext cx="285750" cy="285750"/>
          </a:xfrm>
          <a:prstGeom xmlns:a="http://schemas.openxmlformats.org/drawingml/2006/main" prst="rect">
            <a:avLst/>
          </a:prstGeom>
        </p:spPr>
      </p:pic>
      <p:sp>
        <p:nvSpPr>
          <p:cNvPr id="44" name="">
            <a:extLst xmlns:a="http://schemas.openxmlformats.org/drawingml/2006/main">
              <a:ext uri="{FF2B5EF4-FFF2-40B4-BE49-F238E27FC236}">
                <a16:creationId xmlns:a16="http://schemas.microsoft.com/office/drawing/2014/main" id="{8DC1D653-2A07-49D0-80A2-CA404EEAF358}"/>
              </a:ext>
            </a:extLst>
          </p:cNvPr>
          <p:cNvSpPr>
            <a:spLocks xmlns:a="http://schemas.openxmlformats.org/drawingml/2006/main" noGrp="1"/>
          </p:cNvSpPr>
          <p:nvPr/>
        </p:nvSpPr>
        <p:spPr>
          <a:xfrm xmlns:a="http://schemas.openxmlformats.org/drawingml/2006/main">
            <a:off x="5543550" y="5448300"/>
            <a:ext cx="152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050505"/>
                </a:solidFill>
                <a:latin typeface="Aptos"/>
                <a:ea typeface="Aptos"/>
                <a:cs typeface="Aptos"/>
              </a:defRPr>
            </a:pPr>
            <a:r>
              <a:rPr sz="1275" b="1">
                <a:solidFill>
                  <a:srgbClr val="050505"/>
                </a:solidFill>
                <a:latin typeface="Aptos"/>
                <a:ea typeface="Aptos"/>
                <a:cs typeface="Aptos"/>
              </a:rPr>
              <a:t>Automation engine</a:t>
            </a:r>
          </a:p>
        </p:txBody>
      </p:sp>
      <p:sp>
        <p:nvSpPr>
          <p:cNvPr id="45" name="">
            <a:extLst xmlns:a="http://schemas.openxmlformats.org/drawingml/2006/main">
              <a:ext uri="{FF2B5EF4-FFF2-40B4-BE49-F238E27FC236}">
                <a16:creationId xmlns:a16="http://schemas.microsoft.com/office/drawing/2014/main" id="{10CBDEEA-CEAD-49A6-8164-887F46C77F2C}"/>
              </a:ext>
            </a:extLst>
          </p:cNvPr>
          <p:cNvSpPr>
            <a:spLocks xmlns:a="http://schemas.openxmlformats.org/drawingml/2006/main" noGrp="1"/>
          </p:cNvSpPr>
          <p:nvPr/>
        </p:nvSpPr>
        <p:spPr>
          <a:xfrm xmlns:a="http://schemas.openxmlformats.org/drawingml/2006/main">
            <a:off x="5543550" y="5715000"/>
            <a:ext cx="1466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7B5133"/>
                </a:solidFill>
                <a:latin typeface="Aptos Mono"/>
                <a:ea typeface="Aptos Mono"/>
                <a:cs typeface="Aptos Mono"/>
              </a:defRPr>
            </a:pPr>
            <a:r>
              <a:rPr sz="825" b="1">
                <a:solidFill>
                  <a:srgbClr val="7B5133"/>
                </a:solidFill>
                <a:latin typeface="Aptos Mono"/>
                <a:ea typeface="Aptos Mono"/>
                <a:cs typeface="Aptos Mono"/>
              </a:rPr>
              <a:t>menus, alerts, replies</a:t>
            </a:r>
          </a:p>
        </p:txBody>
      </p:sp>
      <p:sp>
        <p:nvSpPr>
          <p:cNvPr id="46" name="">
            <a:extLst xmlns:a="http://schemas.openxmlformats.org/drawingml/2006/main">
              <a:ext uri="{FF2B5EF4-FFF2-40B4-BE49-F238E27FC236}">
                <a16:creationId xmlns:a16="http://schemas.microsoft.com/office/drawing/2014/main" id="{F8F38BE9-7BEE-4A6B-A74E-22BE72BBEE67}"/>
              </a:ext>
            </a:extLst>
          </p:cNvPr>
          <p:cNvSpPr>
            <a:spLocks xmlns:a="http://schemas.openxmlformats.org/drawingml/2006/main" noGrp="1"/>
          </p:cNvSpPr>
          <p:nvPr/>
        </p:nvSpPr>
        <p:spPr>
          <a:xfrm xmlns:a="http://schemas.openxmlformats.org/drawingml/2006/main">
            <a:off x="11353800" y="61912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7B5133"/>
                </a:solidFill>
                <a:latin typeface="Aptos Mono"/>
                <a:ea typeface="Aptos Mono"/>
                <a:cs typeface="Aptos Mono"/>
              </a:defRPr>
            </a:pPr>
            <a:r>
              <a:rPr sz="900" b="0">
                <a:solidFill>
                  <a:srgbClr val="7B5133"/>
                </a:solidFill>
                <a:latin typeface="Aptos Mono"/>
                <a:ea typeface="Aptos Mono"/>
                <a:cs typeface="Aptos Mono"/>
              </a:rPr>
              <a:t>07</a:t>
            </a:r>
          </a:p>
        </p:txBody>
      </p:sp>
    </p:spTree>
    <p:extLst>
      <p:ext uri="{BB962C8B-B14F-4D97-AF65-F5344CB8AC3E}">
        <p14:creationId xmlns:p14="http://schemas.microsoft.com/office/powerpoint/2010/main" val="98966514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F1419E3-949E-4CFB-B86A-50071F5E5F5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61615"/>
          </a:solidFill>
          <a:ln xmlns:a="http://schemas.openxmlformats.org/drawingml/2006/main" w="0">
            <a:solidFill>
              <a:srgbClr val="161615"/>
            </a:solidFill>
            <a:prstDash val="solid"/>
          </a:ln>
        </p:spPr>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ece97e538934c75"/>
          <a:stretch xmlns:a="http://schemas.openxmlformats.org/drawingml/2006/main"/>
        </p:blipFill>
        <p:spPr>
          <a:xfrm xmlns:a="http://schemas.openxmlformats.org/drawingml/2006/main">
            <a:off x="9944100" y="515458"/>
            <a:ext cx="1104900" cy="359735"/>
          </a:xfrm>
          <a:prstGeom xmlns:a="http://schemas.openxmlformats.org/drawingml/2006/main" prst="rect">
            <a:avLst/>
          </a:prstGeom>
        </p:spPr>
      </p:pic>
      <p:sp>
        <p:nvSpPr>
          <p:cNvPr id="3" name="kicker-08-marker">
            <a:extLst xmlns:a="http://schemas.openxmlformats.org/drawingml/2006/main">
              <a:ext uri="{FF2B5EF4-FFF2-40B4-BE49-F238E27FC236}">
                <a16:creationId xmlns:a16="http://schemas.microsoft.com/office/drawing/2014/main" id="{B638FEC1-AEB2-486B-A8D3-93D630B63DF0}"/>
              </a:ext>
            </a:extLst>
          </p:cNvPr>
          <p:cNvSpPr>
            <a:spLocks xmlns:a="http://schemas.openxmlformats.org/drawingml/2006/main" noGrp="1"/>
          </p:cNvSpPr>
          <p:nvPr/>
        </p:nvSpPr>
        <p:spPr>
          <a:xfrm xmlns:a="http://schemas.openxmlformats.org/drawingml/2006/main">
            <a:off x="685800" y="600075"/>
            <a:ext cx="323850" cy="19050"/>
          </a:xfrm>
          <a:prstGeom xmlns:a="http://schemas.openxmlformats.org/drawingml/2006/main" prst="rect">
            <a:avLst/>
          </a:prstGeom>
          <a:solidFill xmlns:a="http://schemas.openxmlformats.org/drawingml/2006/main">
            <a:srgbClr val="B8652B"/>
          </a:solidFill>
          <a:ln xmlns:a="http://schemas.openxmlformats.org/drawingml/2006/main" w="0">
            <a:solidFill>
              <a:srgbClr val="B8652B"/>
            </a:solidFill>
            <a:prstDash val="solid"/>
          </a:ln>
        </p:spPr>
      </p:sp>
      <p:sp>
        <p:nvSpPr>
          <p:cNvPr id="4" name="kicker-08-label">
            <a:extLst xmlns:a="http://schemas.openxmlformats.org/drawingml/2006/main">
              <a:ext uri="{FF2B5EF4-FFF2-40B4-BE49-F238E27FC236}">
                <a16:creationId xmlns:a16="http://schemas.microsoft.com/office/drawing/2014/main" id="{091C9519-7EB1-4F33-8C41-265E9A631DFB}"/>
              </a:ext>
            </a:extLst>
          </p:cNvPr>
          <p:cNvSpPr>
            <a:spLocks xmlns:a="http://schemas.openxmlformats.org/drawingml/2006/main" noGrp="1"/>
          </p:cNvSpPr>
          <p:nvPr/>
        </p:nvSpPr>
        <p:spPr>
          <a:xfrm xmlns:a="http://schemas.openxmlformats.org/drawingml/2006/main">
            <a:off x="1123950" y="514350"/>
            <a:ext cx="3429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B7B7B0"/>
                </a:solidFill>
                <a:latin typeface="Aptos Mono"/>
                <a:ea typeface="Aptos Mono"/>
                <a:cs typeface="Aptos Mono"/>
              </a:defRPr>
            </a:pPr>
            <a:r>
              <a:rPr sz="825" b="1">
                <a:solidFill>
                  <a:srgbClr val="B7B7B0"/>
                </a:solidFill>
                <a:latin typeface="Aptos Mono"/>
                <a:ea typeface="Aptos Mono"/>
                <a:cs typeface="Aptos Mono"/>
              </a:rPr>
              <a:t>MVP ROADMAP</a:t>
            </a:r>
          </a:p>
        </p:txBody>
      </p:sp>
      <p:sp>
        <p:nvSpPr>
          <p:cNvPr id="5" name="">
            <a:extLst xmlns:a="http://schemas.openxmlformats.org/drawingml/2006/main">
              <a:ext uri="{FF2B5EF4-FFF2-40B4-BE49-F238E27FC236}">
                <a16:creationId xmlns:a16="http://schemas.microsoft.com/office/drawing/2014/main" id="{B1A499AB-D664-4294-B6E7-0E28D842C97A}"/>
              </a:ext>
            </a:extLst>
          </p:cNvPr>
          <p:cNvSpPr>
            <a:spLocks xmlns:a="http://schemas.openxmlformats.org/drawingml/2006/main" noGrp="1"/>
          </p:cNvSpPr>
          <p:nvPr/>
        </p:nvSpPr>
        <p:spPr>
          <a:xfrm xmlns:a="http://schemas.openxmlformats.org/drawingml/2006/main">
            <a:off x="685800" y="895350"/>
            <a:ext cx="81915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925" b="0">
                <a:solidFill>
                  <a:srgbClr val="F4F0E8"/>
                </a:solidFill>
                <a:latin typeface="Georgia"/>
                <a:ea typeface="Georgia"/>
                <a:cs typeface="Georgia"/>
              </a:defRPr>
            </a:pPr>
            <a:r>
              <a:rPr sz="2925" b="0">
                <a:solidFill>
                  <a:srgbClr val="F4F0E8"/>
                </a:solidFill>
                <a:latin typeface="Georgia"/>
                <a:ea typeface="Georgia"/>
                <a:cs typeface="Georgia"/>
              </a:rPr>
              <a:t>Build the control room first, then layer automation and intelligence.</a:t>
            </a:r>
          </a:p>
        </p:txBody>
      </p:sp>
      <p:sp>
        <p:nvSpPr>
          <p:cNvPr id="6" name="">
            <a:extLst xmlns:a="http://schemas.openxmlformats.org/drawingml/2006/main">
              <a:ext uri="{FF2B5EF4-FFF2-40B4-BE49-F238E27FC236}">
                <a16:creationId xmlns:a16="http://schemas.microsoft.com/office/drawing/2014/main" id="{38DE161B-B0BD-413A-84C2-D88F4E3ADD2A}"/>
              </a:ext>
            </a:extLst>
          </p:cNvPr>
          <p:cNvSpPr>
            <a:spLocks xmlns:a="http://schemas.openxmlformats.org/drawingml/2006/main" noGrp="1"/>
          </p:cNvSpPr>
          <p:nvPr/>
        </p:nvSpPr>
        <p:spPr>
          <a:xfrm xmlns:a="http://schemas.openxmlformats.org/drawingml/2006/main">
            <a:off x="704850" y="1885950"/>
            <a:ext cx="74295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B7B7B0"/>
                </a:solidFill>
                <a:latin typeface="Aptos"/>
                <a:ea typeface="Aptos"/>
                <a:cs typeface="Aptos"/>
              </a:defRPr>
            </a:pPr>
            <a:r>
              <a:rPr sz="1425" b="0">
                <a:solidFill>
                  <a:srgbClr val="B7B7B0"/>
                </a:solidFill>
                <a:latin typeface="Aptos"/>
                <a:ea typeface="Aptos"/>
                <a:cs typeface="Aptos"/>
              </a:rPr>
              <a:t>The roadmap keeps the first build practical while preserving a path toward AI-assisted clienteling and reporting.</a:t>
            </a:r>
          </a:p>
        </p:txBody>
      </p:sp>
      <p:sp>
        <p:nvSpPr>
          <p:cNvPr id="7" name="">
            <a:extLst xmlns:a="http://schemas.openxmlformats.org/drawingml/2006/main">
              <a:ext uri="{FF2B5EF4-FFF2-40B4-BE49-F238E27FC236}">
                <a16:creationId xmlns:a16="http://schemas.microsoft.com/office/drawing/2014/main" id="{2A722D93-DA5E-4DD4-A08A-E33D22F2D27E}"/>
              </a:ext>
            </a:extLst>
          </p:cNvPr>
          <p:cNvSpPr>
            <a:spLocks xmlns:a="http://schemas.openxmlformats.org/drawingml/2006/main" noGrp="1"/>
          </p:cNvSpPr>
          <p:nvPr/>
        </p:nvSpPr>
        <p:spPr>
          <a:xfrm xmlns:a="http://schemas.openxmlformats.org/drawingml/2006/main">
            <a:off x="1181100" y="3276600"/>
            <a:ext cx="9791700" cy="19050"/>
          </a:xfrm>
          <a:prstGeom xmlns:a="http://schemas.openxmlformats.org/drawingml/2006/main" prst="rect">
            <a:avLst/>
          </a:prstGeom>
          <a:solidFill xmlns:a="http://schemas.openxmlformats.org/drawingml/2006/main">
            <a:srgbClr val="3B3832"/>
          </a:solidFill>
          <a:ln xmlns:a="http://schemas.openxmlformats.org/drawingml/2006/main" w="0">
            <a:solidFill>
              <a:srgbClr val="3B3832"/>
            </a:solidFill>
            <a:prstDash val="solid"/>
          </a:ln>
        </p:spPr>
      </p:sp>
      <p:sp>
        <p:nvSpPr>
          <p:cNvPr id="8" name="">
            <a:extLst xmlns:a="http://schemas.openxmlformats.org/drawingml/2006/main">
              <a:ext uri="{FF2B5EF4-FFF2-40B4-BE49-F238E27FC236}">
                <a16:creationId xmlns:a16="http://schemas.microsoft.com/office/drawing/2014/main" id="{FFF118E7-6098-47C2-9699-B617E4F6A969}"/>
              </a:ext>
            </a:extLst>
          </p:cNvPr>
          <p:cNvSpPr>
            <a:spLocks xmlns:a="http://schemas.openxmlformats.org/drawingml/2006/main" noGrp="1"/>
          </p:cNvSpPr>
          <p:nvPr/>
        </p:nvSpPr>
        <p:spPr>
          <a:xfrm xmlns:a="http://schemas.openxmlformats.org/drawingml/2006/main">
            <a:off x="1181100" y="3276600"/>
            <a:ext cx="3257550" cy="19050"/>
          </a:xfrm>
          <a:prstGeom xmlns:a="http://schemas.openxmlformats.org/drawingml/2006/main" prst="rect">
            <a:avLst/>
          </a:prstGeom>
          <a:solidFill xmlns:a="http://schemas.openxmlformats.org/drawingml/2006/main">
            <a:srgbClr val="B8652B"/>
          </a:solidFill>
          <a:ln xmlns:a="http://schemas.openxmlformats.org/drawingml/2006/main" w="0">
            <a:solidFill>
              <a:srgbClr val="B8652B"/>
            </a:solidFill>
            <a:prstDash val="solid"/>
          </a:ln>
        </p:spPr>
      </p:sp>
      <p:sp>
        <p:nvSpPr>
          <p:cNvPr id="9" name="">
            <a:extLst xmlns:a="http://schemas.openxmlformats.org/drawingml/2006/main">
              <a:ext uri="{FF2B5EF4-FFF2-40B4-BE49-F238E27FC236}">
                <a16:creationId xmlns:a16="http://schemas.microsoft.com/office/drawing/2014/main" id="{D4FEFB30-86D9-4528-BDC6-E2B315A8CAC1}"/>
              </a:ext>
            </a:extLst>
          </p:cNvPr>
          <p:cNvSpPr>
            <a:spLocks xmlns:a="http://schemas.openxmlformats.org/drawingml/2006/main" noGrp="1"/>
          </p:cNvSpPr>
          <p:nvPr/>
        </p:nvSpPr>
        <p:spPr>
          <a:xfrm xmlns:a="http://schemas.openxmlformats.org/drawingml/2006/main">
            <a:off x="876300" y="3695700"/>
            <a:ext cx="3028950" cy="2133600"/>
          </a:xfrm>
          <a:prstGeom xmlns:a="http://schemas.openxmlformats.org/drawingml/2006/main" prst="rect">
            <a:avLst/>
          </a:prstGeom>
          <a:solidFill xmlns:a="http://schemas.openxmlformats.org/drawingml/2006/main">
            <a:srgbClr val="171511"/>
          </a:solidFill>
          <a:ln xmlns:a="http://schemas.openxmlformats.org/drawingml/2006/main" w="9525">
            <a:solidFill>
              <a:srgbClr val="383127"/>
            </a:solidFill>
            <a:prstDash val="solid"/>
          </a:ln>
        </p:spPr>
      </p:sp>
      <p:sp>
        <p:nvSpPr>
          <p:cNvPr id="10" name="">
            <a:extLst xmlns:a="http://schemas.openxmlformats.org/drawingml/2006/main">
              <a:ext uri="{FF2B5EF4-FFF2-40B4-BE49-F238E27FC236}">
                <a16:creationId xmlns:a16="http://schemas.microsoft.com/office/drawing/2014/main" id="{274E6FFD-376B-4E5D-B386-4B13B1898B19}"/>
              </a:ext>
            </a:extLst>
          </p:cNvPr>
          <p:cNvSpPr>
            <a:spLocks xmlns:a="http://schemas.openxmlformats.org/drawingml/2006/main" noGrp="1"/>
          </p:cNvSpPr>
          <p:nvPr/>
        </p:nvSpPr>
        <p:spPr>
          <a:xfrm xmlns:a="http://schemas.openxmlformats.org/drawingml/2006/main">
            <a:off x="1104900" y="3924300"/>
            <a:ext cx="1143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B8652B"/>
                </a:solidFill>
                <a:latin typeface="Aptos Mono"/>
                <a:ea typeface="Aptos Mono"/>
                <a:cs typeface="Aptos Mono"/>
              </a:defRPr>
            </a:pPr>
            <a:r>
              <a:rPr sz="900" b="1">
                <a:solidFill>
                  <a:srgbClr val="B8652B"/>
                </a:solidFill>
                <a:latin typeface="Aptos Mono"/>
                <a:ea typeface="Aptos Mono"/>
                <a:cs typeface="Aptos Mono"/>
              </a:rPr>
              <a:t>PHASE 1</a:t>
            </a:r>
          </a:p>
        </p:txBody>
      </p:sp>
      <p:sp>
        <p:nvSpPr>
          <p:cNvPr id="11" name="">
            <a:extLst xmlns:a="http://schemas.openxmlformats.org/drawingml/2006/main">
              <a:ext uri="{FF2B5EF4-FFF2-40B4-BE49-F238E27FC236}">
                <a16:creationId xmlns:a16="http://schemas.microsoft.com/office/drawing/2014/main" id="{645F4BB2-E4CA-430E-BF35-0288A655AC3B}"/>
              </a:ext>
            </a:extLst>
          </p:cNvPr>
          <p:cNvSpPr>
            <a:spLocks xmlns:a="http://schemas.openxmlformats.org/drawingml/2006/main" noGrp="1"/>
          </p:cNvSpPr>
          <p:nvPr/>
        </p:nvSpPr>
        <p:spPr>
          <a:xfrm xmlns:a="http://schemas.openxmlformats.org/drawingml/2006/main">
            <a:off x="1104900" y="4248150"/>
            <a:ext cx="23812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0">
                <a:solidFill>
                  <a:srgbClr val="F4F0E8"/>
                </a:solidFill>
                <a:latin typeface="Georgia"/>
                <a:ea typeface="Georgia"/>
                <a:cs typeface="Georgia"/>
              </a:defRPr>
            </a:pPr>
            <a:r>
              <a:rPr sz="1875" b="0">
                <a:solidFill>
                  <a:srgbClr val="F4F0E8"/>
                </a:solidFill>
                <a:latin typeface="Georgia"/>
                <a:ea typeface="Georgia"/>
                <a:cs typeface="Georgia"/>
              </a:rPr>
              <a:t>Dashboard foundation</a:t>
            </a:r>
          </a:p>
        </p:txBody>
      </p:sp>
      <p:sp>
        <p:nvSpPr>
          <p:cNvPr id="12" name="">
            <a:extLst xmlns:a="http://schemas.openxmlformats.org/drawingml/2006/main">
              <a:ext uri="{FF2B5EF4-FFF2-40B4-BE49-F238E27FC236}">
                <a16:creationId xmlns:a16="http://schemas.microsoft.com/office/drawing/2014/main" id="{2463A891-46FA-443A-9B21-699A3AB4A0F4}"/>
              </a:ext>
            </a:extLst>
          </p:cNvPr>
          <p:cNvSpPr>
            <a:spLocks xmlns:a="http://schemas.openxmlformats.org/drawingml/2006/main" noGrp="1"/>
          </p:cNvSpPr>
          <p:nvPr/>
        </p:nvSpPr>
        <p:spPr>
          <a:xfrm xmlns:a="http://schemas.openxmlformats.org/drawingml/2006/main">
            <a:off x="1104900" y="4905375"/>
            <a:ext cx="152400" cy="19050"/>
          </a:xfrm>
          <a:prstGeom xmlns:a="http://schemas.openxmlformats.org/drawingml/2006/main" prst="rect">
            <a:avLst/>
          </a:prstGeom>
          <a:solidFill xmlns:a="http://schemas.openxmlformats.org/drawingml/2006/main">
            <a:srgbClr val="B8652B"/>
          </a:solidFill>
          <a:ln xmlns:a="http://schemas.openxmlformats.org/drawingml/2006/main" w="0">
            <a:solidFill>
              <a:srgbClr val="B8652B"/>
            </a:solidFill>
            <a:prstDash val="solid"/>
          </a:ln>
        </p:spPr>
      </p:sp>
      <p:sp>
        <p:nvSpPr>
          <p:cNvPr id="13" name="">
            <a:extLst xmlns:a="http://schemas.openxmlformats.org/drawingml/2006/main">
              <a:ext uri="{FF2B5EF4-FFF2-40B4-BE49-F238E27FC236}">
                <a16:creationId xmlns:a16="http://schemas.microsoft.com/office/drawing/2014/main" id="{707A3A85-7D65-4ACE-8B2F-A305AFFC366D}"/>
              </a:ext>
            </a:extLst>
          </p:cNvPr>
          <p:cNvSpPr>
            <a:spLocks xmlns:a="http://schemas.openxmlformats.org/drawingml/2006/main" noGrp="1"/>
          </p:cNvSpPr>
          <p:nvPr/>
        </p:nvSpPr>
        <p:spPr>
          <a:xfrm xmlns:a="http://schemas.openxmlformats.org/drawingml/2006/main">
            <a:off x="1371600" y="4819650"/>
            <a:ext cx="22098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B7B7B0"/>
                </a:solidFill>
                <a:latin typeface="Aptos"/>
                <a:ea typeface="Aptos"/>
                <a:cs typeface="Aptos"/>
              </a:defRPr>
            </a:pPr>
            <a:r>
              <a:rPr sz="1125" b="0">
                <a:solidFill>
                  <a:srgbClr val="B7B7B0"/>
                </a:solidFill>
                <a:latin typeface="Aptos"/>
                <a:ea typeface="Aptos"/>
                <a:cs typeface="Aptos"/>
              </a:rPr>
              <a:t>dashboard</a:t>
            </a:r>
          </a:p>
        </p:txBody>
      </p:sp>
      <p:sp>
        <p:nvSpPr>
          <p:cNvPr id="14" name="">
            <a:extLst xmlns:a="http://schemas.openxmlformats.org/drawingml/2006/main">
              <a:ext uri="{FF2B5EF4-FFF2-40B4-BE49-F238E27FC236}">
                <a16:creationId xmlns:a16="http://schemas.microsoft.com/office/drawing/2014/main" id="{9EF516B1-AE39-441A-AC71-575FAEDD0B22}"/>
              </a:ext>
            </a:extLst>
          </p:cNvPr>
          <p:cNvSpPr>
            <a:spLocks xmlns:a="http://schemas.openxmlformats.org/drawingml/2006/main" noGrp="1"/>
          </p:cNvSpPr>
          <p:nvPr/>
        </p:nvSpPr>
        <p:spPr>
          <a:xfrm xmlns:a="http://schemas.openxmlformats.org/drawingml/2006/main">
            <a:off x="1104900" y="5191125"/>
            <a:ext cx="152400" cy="19050"/>
          </a:xfrm>
          <a:prstGeom xmlns:a="http://schemas.openxmlformats.org/drawingml/2006/main" prst="rect">
            <a:avLst/>
          </a:prstGeom>
          <a:solidFill xmlns:a="http://schemas.openxmlformats.org/drawingml/2006/main">
            <a:srgbClr val="B8652B"/>
          </a:solidFill>
          <a:ln xmlns:a="http://schemas.openxmlformats.org/drawingml/2006/main" w="0">
            <a:solidFill>
              <a:srgbClr val="B8652B"/>
            </a:solidFill>
            <a:prstDash val="solid"/>
          </a:ln>
        </p:spPr>
      </p:sp>
      <p:sp>
        <p:nvSpPr>
          <p:cNvPr id="15" name="">
            <a:extLst xmlns:a="http://schemas.openxmlformats.org/drawingml/2006/main">
              <a:ext uri="{FF2B5EF4-FFF2-40B4-BE49-F238E27FC236}">
                <a16:creationId xmlns:a16="http://schemas.microsoft.com/office/drawing/2014/main" id="{545DC4AE-9D45-46DD-A552-D3B95137D4A9}"/>
              </a:ext>
            </a:extLst>
          </p:cNvPr>
          <p:cNvSpPr>
            <a:spLocks xmlns:a="http://schemas.openxmlformats.org/drawingml/2006/main" noGrp="1"/>
          </p:cNvSpPr>
          <p:nvPr/>
        </p:nvSpPr>
        <p:spPr>
          <a:xfrm xmlns:a="http://schemas.openxmlformats.org/drawingml/2006/main">
            <a:off x="1371600" y="5105400"/>
            <a:ext cx="22098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B7B7B0"/>
                </a:solidFill>
                <a:latin typeface="Aptos"/>
                <a:ea typeface="Aptos"/>
                <a:cs typeface="Aptos"/>
              </a:defRPr>
            </a:pPr>
            <a:r>
              <a:rPr sz="1125" b="0">
                <a:solidFill>
                  <a:srgbClr val="B7B7B0"/>
                </a:solidFill>
                <a:latin typeface="Aptos"/>
                <a:ea typeface="Aptos"/>
                <a:cs typeface="Aptos"/>
              </a:rPr>
              <a:t>inventory</a:t>
            </a:r>
          </a:p>
        </p:txBody>
      </p:sp>
      <p:sp>
        <p:nvSpPr>
          <p:cNvPr id="16" name="">
            <a:extLst xmlns:a="http://schemas.openxmlformats.org/drawingml/2006/main">
              <a:ext uri="{FF2B5EF4-FFF2-40B4-BE49-F238E27FC236}">
                <a16:creationId xmlns:a16="http://schemas.microsoft.com/office/drawing/2014/main" id="{C372DDD1-0EE7-4D8D-A851-84A9517277C7}"/>
              </a:ext>
            </a:extLst>
          </p:cNvPr>
          <p:cNvSpPr>
            <a:spLocks xmlns:a="http://schemas.openxmlformats.org/drawingml/2006/main" noGrp="1"/>
          </p:cNvSpPr>
          <p:nvPr/>
        </p:nvSpPr>
        <p:spPr>
          <a:xfrm xmlns:a="http://schemas.openxmlformats.org/drawingml/2006/main">
            <a:off x="1104900" y="5476875"/>
            <a:ext cx="152400" cy="19050"/>
          </a:xfrm>
          <a:prstGeom xmlns:a="http://schemas.openxmlformats.org/drawingml/2006/main" prst="rect">
            <a:avLst/>
          </a:prstGeom>
          <a:solidFill xmlns:a="http://schemas.openxmlformats.org/drawingml/2006/main">
            <a:srgbClr val="B8652B"/>
          </a:solidFill>
          <a:ln xmlns:a="http://schemas.openxmlformats.org/drawingml/2006/main" w="0">
            <a:solidFill>
              <a:srgbClr val="B8652B"/>
            </a:solidFill>
            <a:prstDash val="solid"/>
          </a:ln>
        </p:spPr>
      </p:sp>
      <p:sp>
        <p:nvSpPr>
          <p:cNvPr id="17" name="">
            <a:extLst xmlns:a="http://schemas.openxmlformats.org/drawingml/2006/main">
              <a:ext uri="{FF2B5EF4-FFF2-40B4-BE49-F238E27FC236}">
                <a16:creationId xmlns:a16="http://schemas.microsoft.com/office/drawing/2014/main" id="{A3AF6D29-52D5-41AB-89E8-9FAA3A984F2C}"/>
              </a:ext>
            </a:extLst>
          </p:cNvPr>
          <p:cNvSpPr>
            <a:spLocks xmlns:a="http://schemas.openxmlformats.org/drawingml/2006/main" noGrp="1"/>
          </p:cNvSpPr>
          <p:nvPr/>
        </p:nvSpPr>
        <p:spPr>
          <a:xfrm xmlns:a="http://schemas.openxmlformats.org/drawingml/2006/main">
            <a:off x="1371600" y="5391150"/>
            <a:ext cx="22098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B7B7B0"/>
                </a:solidFill>
                <a:latin typeface="Aptos"/>
                <a:ea typeface="Aptos"/>
                <a:cs typeface="Aptos"/>
              </a:defRPr>
            </a:pPr>
            <a:r>
              <a:rPr sz="1125" b="0">
                <a:solidFill>
                  <a:srgbClr val="B7B7B0"/>
                </a:solidFill>
                <a:latin typeface="Aptos"/>
                <a:ea typeface="Aptos"/>
                <a:cs typeface="Aptos"/>
              </a:rPr>
              <a:t>orders</a:t>
            </a:r>
          </a:p>
        </p:txBody>
      </p:sp>
      <p:sp>
        <p:nvSpPr>
          <p:cNvPr id="18" name="">
            <a:extLst xmlns:a="http://schemas.openxmlformats.org/drawingml/2006/main">
              <a:ext uri="{FF2B5EF4-FFF2-40B4-BE49-F238E27FC236}">
                <a16:creationId xmlns:a16="http://schemas.microsoft.com/office/drawing/2014/main" id="{51B84766-EC9F-4775-9C5D-7F962BF3272E}"/>
              </a:ext>
            </a:extLst>
          </p:cNvPr>
          <p:cNvSpPr>
            <a:spLocks xmlns:a="http://schemas.openxmlformats.org/drawingml/2006/main" noGrp="1"/>
          </p:cNvSpPr>
          <p:nvPr/>
        </p:nvSpPr>
        <p:spPr>
          <a:xfrm xmlns:a="http://schemas.openxmlformats.org/drawingml/2006/main">
            <a:off x="4591050" y="3695700"/>
            <a:ext cx="3028950" cy="2133600"/>
          </a:xfrm>
          <a:prstGeom xmlns:a="http://schemas.openxmlformats.org/drawingml/2006/main" prst="rect">
            <a:avLst/>
          </a:prstGeom>
          <a:solidFill xmlns:a="http://schemas.openxmlformats.org/drawingml/2006/main">
            <a:srgbClr val="171511"/>
          </a:solidFill>
          <a:ln xmlns:a="http://schemas.openxmlformats.org/drawingml/2006/main" w="9525">
            <a:solidFill>
              <a:srgbClr val="383127"/>
            </a:solidFill>
            <a:prstDash val="solid"/>
          </a:ln>
        </p:spPr>
      </p:sp>
      <p:sp>
        <p:nvSpPr>
          <p:cNvPr id="19" name="">
            <a:extLst xmlns:a="http://schemas.openxmlformats.org/drawingml/2006/main">
              <a:ext uri="{FF2B5EF4-FFF2-40B4-BE49-F238E27FC236}">
                <a16:creationId xmlns:a16="http://schemas.microsoft.com/office/drawing/2014/main" id="{FCB1DD18-D082-4400-8D53-A87FB776BA49}"/>
              </a:ext>
            </a:extLst>
          </p:cNvPr>
          <p:cNvSpPr>
            <a:spLocks xmlns:a="http://schemas.openxmlformats.org/drawingml/2006/main" noGrp="1"/>
          </p:cNvSpPr>
          <p:nvPr/>
        </p:nvSpPr>
        <p:spPr>
          <a:xfrm xmlns:a="http://schemas.openxmlformats.org/drawingml/2006/main">
            <a:off x="4819650" y="3924300"/>
            <a:ext cx="1143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3F4A35"/>
                </a:solidFill>
                <a:latin typeface="Aptos Mono"/>
                <a:ea typeface="Aptos Mono"/>
                <a:cs typeface="Aptos Mono"/>
              </a:defRPr>
            </a:pPr>
            <a:r>
              <a:rPr sz="900" b="1">
                <a:solidFill>
                  <a:srgbClr val="3F4A35"/>
                </a:solidFill>
                <a:latin typeface="Aptos Mono"/>
                <a:ea typeface="Aptos Mono"/>
                <a:cs typeface="Aptos Mono"/>
              </a:rPr>
              <a:t>PHASE 2</a:t>
            </a:r>
          </a:p>
        </p:txBody>
      </p:sp>
      <p:sp>
        <p:nvSpPr>
          <p:cNvPr id="20" name="">
            <a:extLst xmlns:a="http://schemas.openxmlformats.org/drawingml/2006/main">
              <a:ext uri="{FF2B5EF4-FFF2-40B4-BE49-F238E27FC236}">
                <a16:creationId xmlns:a16="http://schemas.microsoft.com/office/drawing/2014/main" id="{8CFD21A8-0239-49F3-A2A6-1F5D079F8594}"/>
              </a:ext>
            </a:extLst>
          </p:cNvPr>
          <p:cNvSpPr>
            <a:spLocks xmlns:a="http://schemas.openxmlformats.org/drawingml/2006/main" noGrp="1"/>
          </p:cNvSpPr>
          <p:nvPr/>
        </p:nvSpPr>
        <p:spPr>
          <a:xfrm xmlns:a="http://schemas.openxmlformats.org/drawingml/2006/main">
            <a:off x="4819650" y="4248150"/>
            <a:ext cx="23812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0">
                <a:solidFill>
                  <a:srgbClr val="F4F0E8"/>
                </a:solidFill>
                <a:latin typeface="Georgia"/>
                <a:ea typeface="Georgia"/>
                <a:cs typeface="Georgia"/>
              </a:defRPr>
            </a:pPr>
            <a:r>
              <a:rPr sz="1875" b="0">
                <a:solidFill>
                  <a:srgbClr val="F4F0E8"/>
                </a:solidFill>
                <a:latin typeface="Georgia"/>
                <a:ea typeface="Georgia"/>
                <a:cs typeface="Georgia"/>
              </a:rPr>
              <a:t>Channel automation</a:t>
            </a:r>
          </a:p>
        </p:txBody>
      </p:sp>
      <p:sp>
        <p:nvSpPr>
          <p:cNvPr id="21" name="">
            <a:extLst xmlns:a="http://schemas.openxmlformats.org/drawingml/2006/main">
              <a:ext uri="{FF2B5EF4-FFF2-40B4-BE49-F238E27FC236}">
                <a16:creationId xmlns:a16="http://schemas.microsoft.com/office/drawing/2014/main" id="{D4D57C9A-C6AD-4EBA-BB52-18F4DA44C963}"/>
              </a:ext>
            </a:extLst>
          </p:cNvPr>
          <p:cNvSpPr>
            <a:spLocks xmlns:a="http://schemas.openxmlformats.org/drawingml/2006/main" noGrp="1"/>
          </p:cNvSpPr>
          <p:nvPr/>
        </p:nvSpPr>
        <p:spPr>
          <a:xfrm xmlns:a="http://schemas.openxmlformats.org/drawingml/2006/main">
            <a:off x="4819650" y="4905375"/>
            <a:ext cx="152400" cy="19050"/>
          </a:xfrm>
          <a:prstGeom xmlns:a="http://schemas.openxmlformats.org/drawingml/2006/main" prst="rect">
            <a:avLst/>
          </a:prstGeom>
          <a:solidFill xmlns:a="http://schemas.openxmlformats.org/drawingml/2006/main">
            <a:srgbClr val="3F4A35"/>
          </a:solidFill>
          <a:ln xmlns:a="http://schemas.openxmlformats.org/drawingml/2006/main" w="0">
            <a:solidFill>
              <a:srgbClr val="3F4A35"/>
            </a:solidFill>
            <a:prstDash val="solid"/>
          </a:ln>
        </p:spPr>
      </p:sp>
      <p:sp>
        <p:nvSpPr>
          <p:cNvPr id="22" name="">
            <a:extLst xmlns:a="http://schemas.openxmlformats.org/drawingml/2006/main">
              <a:ext uri="{FF2B5EF4-FFF2-40B4-BE49-F238E27FC236}">
                <a16:creationId xmlns:a16="http://schemas.microsoft.com/office/drawing/2014/main" id="{B02FC76A-B2BB-4466-80D7-59FAF0A6651A}"/>
              </a:ext>
            </a:extLst>
          </p:cNvPr>
          <p:cNvSpPr>
            <a:spLocks xmlns:a="http://schemas.openxmlformats.org/drawingml/2006/main" noGrp="1"/>
          </p:cNvSpPr>
          <p:nvPr/>
        </p:nvSpPr>
        <p:spPr>
          <a:xfrm xmlns:a="http://schemas.openxmlformats.org/drawingml/2006/main">
            <a:off x="5086350" y="4819650"/>
            <a:ext cx="22098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B7B7B0"/>
                </a:solidFill>
                <a:latin typeface="Aptos"/>
                <a:ea typeface="Aptos"/>
                <a:cs typeface="Aptos"/>
              </a:defRPr>
            </a:pPr>
            <a:r>
              <a:rPr sz="1125" b="0">
                <a:solidFill>
                  <a:srgbClr val="B7B7B0"/>
                </a:solidFill>
                <a:latin typeface="Aptos"/>
                <a:ea typeface="Aptos"/>
                <a:cs typeface="Aptos"/>
              </a:rPr>
              <a:t>WhatsApp menu</a:t>
            </a:r>
          </a:p>
        </p:txBody>
      </p:sp>
      <p:sp>
        <p:nvSpPr>
          <p:cNvPr id="23" name="">
            <a:extLst xmlns:a="http://schemas.openxmlformats.org/drawingml/2006/main">
              <a:ext uri="{FF2B5EF4-FFF2-40B4-BE49-F238E27FC236}">
                <a16:creationId xmlns:a16="http://schemas.microsoft.com/office/drawing/2014/main" id="{E2F85401-86B3-4B08-90F8-AD61C247F528}"/>
              </a:ext>
            </a:extLst>
          </p:cNvPr>
          <p:cNvSpPr>
            <a:spLocks xmlns:a="http://schemas.openxmlformats.org/drawingml/2006/main" noGrp="1"/>
          </p:cNvSpPr>
          <p:nvPr/>
        </p:nvSpPr>
        <p:spPr>
          <a:xfrm xmlns:a="http://schemas.openxmlformats.org/drawingml/2006/main">
            <a:off x="4819650" y="5191125"/>
            <a:ext cx="152400" cy="19050"/>
          </a:xfrm>
          <a:prstGeom xmlns:a="http://schemas.openxmlformats.org/drawingml/2006/main" prst="rect">
            <a:avLst/>
          </a:prstGeom>
          <a:solidFill xmlns:a="http://schemas.openxmlformats.org/drawingml/2006/main">
            <a:srgbClr val="3F4A35"/>
          </a:solidFill>
          <a:ln xmlns:a="http://schemas.openxmlformats.org/drawingml/2006/main" w="0">
            <a:solidFill>
              <a:srgbClr val="3F4A35"/>
            </a:solidFill>
            <a:prstDash val="solid"/>
          </a:ln>
        </p:spPr>
      </p:sp>
      <p:sp>
        <p:nvSpPr>
          <p:cNvPr id="24" name="">
            <a:extLst xmlns:a="http://schemas.openxmlformats.org/drawingml/2006/main">
              <a:ext uri="{FF2B5EF4-FFF2-40B4-BE49-F238E27FC236}">
                <a16:creationId xmlns:a16="http://schemas.microsoft.com/office/drawing/2014/main" id="{70A0818D-E9C6-4BA6-90A6-CE87E4964741}"/>
              </a:ext>
            </a:extLst>
          </p:cNvPr>
          <p:cNvSpPr>
            <a:spLocks xmlns:a="http://schemas.openxmlformats.org/drawingml/2006/main" noGrp="1"/>
          </p:cNvSpPr>
          <p:nvPr/>
        </p:nvSpPr>
        <p:spPr>
          <a:xfrm xmlns:a="http://schemas.openxmlformats.org/drawingml/2006/main">
            <a:off x="5086350" y="5105400"/>
            <a:ext cx="22098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B7B7B0"/>
                </a:solidFill>
                <a:latin typeface="Aptos"/>
                <a:ea typeface="Aptos"/>
                <a:cs typeface="Aptos"/>
              </a:defRPr>
            </a:pPr>
            <a:r>
              <a:rPr sz="1125" b="0">
                <a:solidFill>
                  <a:srgbClr val="B7B7B0"/>
                </a:solidFill>
                <a:latin typeface="Aptos"/>
                <a:ea typeface="Aptos"/>
                <a:cs typeface="Aptos"/>
              </a:rPr>
              <a:t>Instagram routing</a:t>
            </a:r>
          </a:p>
        </p:txBody>
      </p:sp>
      <p:sp>
        <p:nvSpPr>
          <p:cNvPr id="25" name="">
            <a:extLst xmlns:a="http://schemas.openxmlformats.org/drawingml/2006/main">
              <a:ext uri="{FF2B5EF4-FFF2-40B4-BE49-F238E27FC236}">
                <a16:creationId xmlns:a16="http://schemas.microsoft.com/office/drawing/2014/main" id="{A253AD35-523F-4AE8-B3BB-40CC47F1B238}"/>
              </a:ext>
            </a:extLst>
          </p:cNvPr>
          <p:cNvSpPr>
            <a:spLocks xmlns:a="http://schemas.openxmlformats.org/drawingml/2006/main" noGrp="1"/>
          </p:cNvSpPr>
          <p:nvPr/>
        </p:nvSpPr>
        <p:spPr>
          <a:xfrm xmlns:a="http://schemas.openxmlformats.org/drawingml/2006/main">
            <a:off x="4819650" y="5476875"/>
            <a:ext cx="152400" cy="19050"/>
          </a:xfrm>
          <a:prstGeom xmlns:a="http://schemas.openxmlformats.org/drawingml/2006/main" prst="rect">
            <a:avLst/>
          </a:prstGeom>
          <a:solidFill xmlns:a="http://schemas.openxmlformats.org/drawingml/2006/main">
            <a:srgbClr val="3F4A35"/>
          </a:solidFill>
          <a:ln xmlns:a="http://schemas.openxmlformats.org/drawingml/2006/main" w="0">
            <a:solidFill>
              <a:srgbClr val="3F4A35"/>
            </a:solidFill>
            <a:prstDash val="solid"/>
          </a:ln>
        </p:spPr>
      </p:sp>
      <p:sp>
        <p:nvSpPr>
          <p:cNvPr id="26" name="">
            <a:extLst xmlns:a="http://schemas.openxmlformats.org/drawingml/2006/main">
              <a:ext uri="{FF2B5EF4-FFF2-40B4-BE49-F238E27FC236}">
                <a16:creationId xmlns:a16="http://schemas.microsoft.com/office/drawing/2014/main" id="{7CF62FB0-A9FB-4B82-9299-F96FBC71D7ED}"/>
              </a:ext>
            </a:extLst>
          </p:cNvPr>
          <p:cNvSpPr>
            <a:spLocks xmlns:a="http://schemas.openxmlformats.org/drawingml/2006/main" noGrp="1"/>
          </p:cNvSpPr>
          <p:nvPr/>
        </p:nvSpPr>
        <p:spPr>
          <a:xfrm xmlns:a="http://schemas.openxmlformats.org/drawingml/2006/main">
            <a:off x="5086350" y="5391150"/>
            <a:ext cx="22098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B7B7B0"/>
                </a:solidFill>
                <a:latin typeface="Aptos"/>
                <a:ea typeface="Aptos"/>
                <a:cs typeface="Aptos"/>
              </a:defRPr>
            </a:pPr>
            <a:r>
              <a:rPr sz="1125" b="0">
                <a:solidFill>
                  <a:srgbClr val="B7B7B0"/>
                </a:solidFill>
                <a:latin typeface="Aptos"/>
                <a:ea typeface="Aptos"/>
                <a:cs typeface="Aptos"/>
              </a:rPr>
              <a:t>message templates</a:t>
            </a:r>
          </a:p>
        </p:txBody>
      </p:sp>
      <p:sp>
        <p:nvSpPr>
          <p:cNvPr id="27" name="">
            <a:extLst xmlns:a="http://schemas.openxmlformats.org/drawingml/2006/main">
              <a:ext uri="{FF2B5EF4-FFF2-40B4-BE49-F238E27FC236}">
                <a16:creationId xmlns:a16="http://schemas.microsoft.com/office/drawing/2014/main" id="{6194732B-21F4-4625-867F-39222A2B03AD}"/>
              </a:ext>
            </a:extLst>
          </p:cNvPr>
          <p:cNvSpPr>
            <a:spLocks xmlns:a="http://schemas.openxmlformats.org/drawingml/2006/main" noGrp="1"/>
          </p:cNvSpPr>
          <p:nvPr/>
        </p:nvSpPr>
        <p:spPr>
          <a:xfrm xmlns:a="http://schemas.openxmlformats.org/drawingml/2006/main">
            <a:off x="8305800" y="3695700"/>
            <a:ext cx="3028950" cy="2133600"/>
          </a:xfrm>
          <a:prstGeom xmlns:a="http://schemas.openxmlformats.org/drawingml/2006/main" prst="rect">
            <a:avLst/>
          </a:prstGeom>
          <a:solidFill xmlns:a="http://schemas.openxmlformats.org/drawingml/2006/main">
            <a:srgbClr val="171511"/>
          </a:solidFill>
          <a:ln xmlns:a="http://schemas.openxmlformats.org/drawingml/2006/main" w="9525">
            <a:solidFill>
              <a:srgbClr val="383127"/>
            </a:solidFill>
            <a:prstDash val="solid"/>
          </a:ln>
        </p:spPr>
      </p:sp>
      <p:sp>
        <p:nvSpPr>
          <p:cNvPr id="28" name="">
            <a:extLst xmlns:a="http://schemas.openxmlformats.org/drawingml/2006/main">
              <a:ext uri="{FF2B5EF4-FFF2-40B4-BE49-F238E27FC236}">
                <a16:creationId xmlns:a16="http://schemas.microsoft.com/office/drawing/2014/main" id="{9BB21539-D92F-4020-90F2-49CEB14B621D}"/>
              </a:ext>
            </a:extLst>
          </p:cNvPr>
          <p:cNvSpPr>
            <a:spLocks xmlns:a="http://schemas.openxmlformats.org/drawingml/2006/main" noGrp="1"/>
          </p:cNvSpPr>
          <p:nvPr/>
        </p:nvSpPr>
        <p:spPr>
          <a:xfrm xmlns:a="http://schemas.openxmlformats.org/drawingml/2006/main">
            <a:off x="8534400" y="3924300"/>
            <a:ext cx="1143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B7B7B0"/>
                </a:solidFill>
                <a:latin typeface="Aptos Mono"/>
                <a:ea typeface="Aptos Mono"/>
                <a:cs typeface="Aptos Mono"/>
              </a:defRPr>
            </a:pPr>
            <a:r>
              <a:rPr sz="900" b="1">
                <a:solidFill>
                  <a:srgbClr val="B7B7B0"/>
                </a:solidFill>
                <a:latin typeface="Aptos Mono"/>
                <a:ea typeface="Aptos Mono"/>
                <a:cs typeface="Aptos Mono"/>
              </a:rPr>
              <a:t>PHASE 3</a:t>
            </a:r>
          </a:p>
        </p:txBody>
      </p:sp>
      <p:sp>
        <p:nvSpPr>
          <p:cNvPr id="29" name="">
            <a:extLst xmlns:a="http://schemas.openxmlformats.org/drawingml/2006/main">
              <a:ext uri="{FF2B5EF4-FFF2-40B4-BE49-F238E27FC236}">
                <a16:creationId xmlns:a16="http://schemas.microsoft.com/office/drawing/2014/main" id="{DE52A75E-3328-4A03-A1BA-03190511A112}"/>
              </a:ext>
            </a:extLst>
          </p:cNvPr>
          <p:cNvSpPr>
            <a:spLocks xmlns:a="http://schemas.openxmlformats.org/drawingml/2006/main" noGrp="1"/>
          </p:cNvSpPr>
          <p:nvPr/>
        </p:nvSpPr>
        <p:spPr>
          <a:xfrm xmlns:a="http://schemas.openxmlformats.org/drawingml/2006/main">
            <a:off x="8534400" y="4248150"/>
            <a:ext cx="23812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0">
                <a:solidFill>
                  <a:srgbClr val="F4F0E8"/>
                </a:solidFill>
                <a:latin typeface="Georgia"/>
                <a:ea typeface="Georgia"/>
                <a:cs typeface="Georgia"/>
              </a:defRPr>
            </a:pPr>
            <a:r>
              <a:rPr sz="1875" b="0">
                <a:solidFill>
                  <a:srgbClr val="F4F0E8"/>
                </a:solidFill>
                <a:latin typeface="Georgia"/>
                <a:ea typeface="Georgia"/>
                <a:cs typeface="Georgia"/>
              </a:rPr>
              <a:t>Intelligence layer</a:t>
            </a:r>
          </a:p>
        </p:txBody>
      </p:sp>
      <p:sp>
        <p:nvSpPr>
          <p:cNvPr id="30" name="">
            <a:extLst xmlns:a="http://schemas.openxmlformats.org/drawingml/2006/main">
              <a:ext uri="{FF2B5EF4-FFF2-40B4-BE49-F238E27FC236}">
                <a16:creationId xmlns:a16="http://schemas.microsoft.com/office/drawing/2014/main" id="{60540275-83FD-4F82-BFCB-CB2621B36563}"/>
              </a:ext>
            </a:extLst>
          </p:cNvPr>
          <p:cNvSpPr>
            <a:spLocks xmlns:a="http://schemas.openxmlformats.org/drawingml/2006/main" noGrp="1"/>
          </p:cNvSpPr>
          <p:nvPr/>
        </p:nvSpPr>
        <p:spPr>
          <a:xfrm xmlns:a="http://schemas.openxmlformats.org/drawingml/2006/main">
            <a:off x="8534400" y="4905375"/>
            <a:ext cx="152400" cy="19050"/>
          </a:xfrm>
          <a:prstGeom xmlns:a="http://schemas.openxmlformats.org/drawingml/2006/main" prst="rect">
            <a:avLst/>
          </a:prstGeom>
          <a:solidFill xmlns:a="http://schemas.openxmlformats.org/drawingml/2006/main">
            <a:srgbClr val="B7B7B0"/>
          </a:solidFill>
          <a:ln xmlns:a="http://schemas.openxmlformats.org/drawingml/2006/main" w="0">
            <a:solidFill>
              <a:srgbClr val="B7B7B0"/>
            </a:solidFill>
            <a:prstDash val="solid"/>
          </a:ln>
        </p:spPr>
      </p:sp>
      <p:sp>
        <p:nvSpPr>
          <p:cNvPr id="31" name="">
            <a:extLst xmlns:a="http://schemas.openxmlformats.org/drawingml/2006/main">
              <a:ext uri="{FF2B5EF4-FFF2-40B4-BE49-F238E27FC236}">
                <a16:creationId xmlns:a16="http://schemas.microsoft.com/office/drawing/2014/main" id="{A25E91A5-83AC-46CF-822F-58D543A8C019}"/>
              </a:ext>
            </a:extLst>
          </p:cNvPr>
          <p:cNvSpPr>
            <a:spLocks xmlns:a="http://schemas.openxmlformats.org/drawingml/2006/main" noGrp="1"/>
          </p:cNvSpPr>
          <p:nvPr/>
        </p:nvSpPr>
        <p:spPr>
          <a:xfrm xmlns:a="http://schemas.openxmlformats.org/drawingml/2006/main">
            <a:off x="8801100" y="4819650"/>
            <a:ext cx="22098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B7B7B0"/>
                </a:solidFill>
                <a:latin typeface="Aptos"/>
                <a:ea typeface="Aptos"/>
                <a:cs typeface="Aptos"/>
              </a:defRPr>
            </a:pPr>
            <a:r>
              <a:rPr sz="1125" b="0">
                <a:solidFill>
                  <a:srgbClr val="B7B7B0"/>
                </a:solidFill>
                <a:latin typeface="Aptos"/>
                <a:ea typeface="Aptos"/>
                <a:cs typeface="Aptos"/>
              </a:rPr>
              <a:t>AI reply drafts</a:t>
            </a:r>
          </a:p>
        </p:txBody>
      </p:sp>
      <p:sp>
        <p:nvSpPr>
          <p:cNvPr id="32" name="">
            <a:extLst xmlns:a="http://schemas.openxmlformats.org/drawingml/2006/main">
              <a:ext uri="{FF2B5EF4-FFF2-40B4-BE49-F238E27FC236}">
                <a16:creationId xmlns:a16="http://schemas.microsoft.com/office/drawing/2014/main" id="{A33198FF-2243-4059-8996-17320A03D424}"/>
              </a:ext>
            </a:extLst>
          </p:cNvPr>
          <p:cNvSpPr>
            <a:spLocks xmlns:a="http://schemas.openxmlformats.org/drawingml/2006/main" noGrp="1"/>
          </p:cNvSpPr>
          <p:nvPr/>
        </p:nvSpPr>
        <p:spPr>
          <a:xfrm xmlns:a="http://schemas.openxmlformats.org/drawingml/2006/main">
            <a:off x="8534400" y="5191125"/>
            <a:ext cx="152400" cy="19050"/>
          </a:xfrm>
          <a:prstGeom xmlns:a="http://schemas.openxmlformats.org/drawingml/2006/main" prst="rect">
            <a:avLst/>
          </a:prstGeom>
          <a:solidFill xmlns:a="http://schemas.openxmlformats.org/drawingml/2006/main">
            <a:srgbClr val="B7B7B0"/>
          </a:solidFill>
          <a:ln xmlns:a="http://schemas.openxmlformats.org/drawingml/2006/main" w="0">
            <a:solidFill>
              <a:srgbClr val="B7B7B0"/>
            </a:solidFill>
            <a:prstDash val="solid"/>
          </a:ln>
        </p:spPr>
      </p:sp>
      <p:sp>
        <p:nvSpPr>
          <p:cNvPr id="33" name="">
            <a:extLst xmlns:a="http://schemas.openxmlformats.org/drawingml/2006/main">
              <a:ext uri="{FF2B5EF4-FFF2-40B4-BE49-F238E27FC236}">
                <a16:creationId xmlns:a16="http://schemas.microsoft.com/office/drawing/2014/main" id="{2A5F82F5-27B7-48CD-A005-E5FF53CE21A6}"/>
              </a:ext>
            </a:extLst>
          </p:cNvPr>
          <p:cNvSpPr>
            <a:spLocks xmlns:a="http://schemas.openxmlformats.org/drawingml/2006/main" noGrp="1"/>
          </p:cNvSpPr>
          <p:nvPr/>
        </p:nvSpPr>
        <p:spPr>
          <a:xfrm xmlns:a="http://schemas.openxmlformats.org/drawingml/2006/main">
            <a:off x="8801100" y="5105400"/>
            <a:ext cx="22098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B7B7B0"/>
                </a:solidFill>
                <a:latin typeface="Aptos"/>
                <a:ea typeface="Aptos"/>
                <a:cs typeface="Aptos"/>
              </a:defRPr>
            </a:pPr>
            <a:r>
              <a:rPr sz="1125" b="0">
                <a:solidFill>
                  <a:srgbClr val="B7B7B0"/>
                </a:solidFill>
                <a:latin typeface="Aptos"/>
                <a:ea typeface="Aptos"/>
                <a:cs typeface="Aptos"/>
              </a:rPr>
              <a:t>auto-quote drafts</a:t>
            </a:r>
          </a:p>
        </p:txBody>
      </p:sp>
      <p:sp>
        <p:nvSpPr>
          <p:cNvPr id="34" name="">
            <a:extLst xmlns:a="http://schemas.openxmlformats.org/drawingml/2006/main">
              <a:ext uri="{FF2B5EF4-FFF2-40B4-BE49-F238E27FC236}">
                <a16:creationId xmlns:a16="http://schemas.microsoft.com/office/drawing/2014/main" id="{7709607E-8717-4863-BA29-AEDE006DB681}"/>
              </a:ext>
            </a:extLst>
          </p:cNvPr>
          <p:cNvSpPr>
            <a:spLocks xmlns:a="http://schemas.openxmlformats.org/drawingml/2006/main" noGrp="1"/>
          </p:cNvSpPr>
          <p:nvPr/>
        </p:nvSpPr>
        <p:spPr>
          <a:xfrm xmlns:a="http://schemas.openxmlformats.org/drawingml/2006/main">
            <a:off x="8534400" y="5476875"/>
            <a:ext cx="152400" cy="19050"/>
          </a:xfrm>
          <a:prstGeom xmlns:a="http://schemas.openxmlformats.org/drawingml/2006/main" prst="rect">
            <a:avLst/>
          </a:prstGeom>
          <a:solidFill xmlns:a="http://schemas.openxmlformats.org/drawingml/2006/main">
            <a:srgbClr val="B7B7B0"/>
          </a:solidFill>
          <a:ln xmlns:a="http://schemas.openxmlformats.org/drawingml/2006/main" w="0">
            <a:solidFill>
              <a:srgbClr val="B7B7B0"/>
            </a:solidFill>
            <a:prstDash val="solid"/>
          </a:ln>
        </p:spPr>
      </p:sp>
      <p:sp>
        <p:nvSpPr>
          <p:cNvPr id="35" name="">
            <a:extLst xmlns:a="http://schemas.openxmlformats.org/drawingml/2006/main">
              <a:ext uri="{FF2B5EF4-FFF2-40B4-BE49-F238E27FC236}">
                <a16:creationId xmlns:a16="http://schemas.microsoft.com/office/drawing/2014/main" id="{04B2C185-0B3F-431D-B62D-E8D10C03F47A}"/>
              </a:ext>
            </a:extLst>
          </p:cNvPr>
          <p:cNvSpPr>
            <a:spLocks xmlns:a="http://schemas.openxmlformats.org/drawingml/2006/main" noGrp="1"/>
          </p:cNvSpPr>
          <p:nvPr/>
        </p:nvSpPr>
        <p:spPr>
          <a:xfrm xmlns:a="http://schemas.openxmlformats.org/drawingml/2006/main">
            <a:off x="8801100" y="5391150"/>
            <a:ext cx="22098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B7B7B0"/>
                </a:solidFill>
                <a:latin typeface="Aptos"/>
                <a:ea typeface="Aptos"/>
                <a:cs typeface="Aptos"/>
              </a:defRPr>
            </a:pPr>
            <a:r>
              <a:rPr sz="1125" b="0">
                <a:solidFill>
                  <a:srgbClr val="B7B7B0"/>
                </a:solidFill>
                <a:latin typeface="Aptos"/>
                <a:ea typeface="Aptos"/>
                <a:cs typeface="Aptos"/>
              </a:rPr>
              <a:t>smart alerts + reports</a:t>
            </a:r>
          </a:p>
        </p:txBody>
      </p:sp>
      <p:sp>
        <p:nvSpPr>
          <p:cNvPr id="36" name="">
            <a:extLst xmlns:a="http://schemas.openxmlformats.org/drawingml/2006/main">
              <a:ext uri="{FF2B5EF4-FFF2-40B4-BE49-F238E27FC236}">
                <a16:creationId xmlns:a16="http://schemas.microsoft.com/office/drawing/2014/main" id="{86754283-8A68-4E96-84D8-1E6BE5882D39}"/>
              </a:ext>
            </a:extLst>
          </p:cNvPr>
          <p:cNvSpPr>
            <a:spLocks xmlns:a="http://schemas.openxmlformats.org/drawingml/2006/main" noGrp="1"/>
          </p:cNvSpPr>
          <p:nvPr/>
        </p:nvSpPr>
        <p:spPr>
          <a:xfrm xmlns:a="http://schemas.openxmlformats.org/drawingml/2006/main">
            <a:off x="2190750" y="3105150"/>
            <a:ext cx="342900" cy="342900"/>
          </a:xfrm>
          <a:prstGeom xmlns:a="http://schemas.openxmlformats.org/drawingml/2006/main" prst="rect">
            <a:avLst/>
          </a:prstGeom>
          <a:solidFill xmlns:a="http://schemas.openxmlformats.org/drawingml/2006/main">
            <a:srgbClr val="B8652B"/>
          </a:solidFill>
          <a:ln xmlns:a="http://schemas.openxmlformats.org/drawingml/2006/main" w="9525">
            <a:solidFill>
              <a:srgbClr val="B8652B"/>
            </a:solidFill>
            <a:prstDash val="solid"/>
          </a:ln>
        </p:spPr>
      </p:sp>
      <p:sp>
        <p:nvSpPr>
          <p:cNvPr id="37" name="">
            <a:extLst xmlns:a="http://schemas.openxmlformats.org/drawingml/2006/main">
              <a:ext uri="{FF2B5EF4-FFF2-40B4-BE49-F238E27FC236}">
                <a16:creationId xmlns:a16="http://schemas.microsoft.com/office/drawing/2014/main" id="{EC7F2B98-86E4-41FD-9163-122F53EA68F2}"/>
              </a:ext>
            </a:extLst>
          </p:cNvPr>
          <p:cNvSpPr>
            <a:spLocks xmlns:a="http://schemas.openxmlformats.org/drawingml/2006/main" noGrp="1"/>
          </p:cNvSpPr>
          <p:nvPr/>
        </p:nvSpPr>
        <p:spPr>
          <a:xfrm xmlns:a="http://schemas.openxmlformats.org/drawingml/2006/main">
            <a:off x="2266950" y="3171825"/>
            <a:ext cx="19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4F0E8"/>
                </a:solidFill>
                <a:latin typeface="Aptos Mono"/>
                <a:ea typeface="Aptos Mono"/>
                <a:cs typeface="Aptos Mono"/>
              </a:defRPr>
            </a:pPr>
            <a:r>
              <a:rPr sz="975" b="1">
                <a:solidFill>
                  <a:srgbClr val="F4F0E8"/>
                </a:solidFill>
                <a:latin typeface="Aptos Mono"/>
                <a:ea typeface="Aptos Mono"/>
                <a:cs typeface="Aptos Mono"/>
              </a:rPr>
              <a:t>1</a:t>
            </a:r>
          </a:p>
        </p:txBody>
      </p:sp>
      <p:sp>
        <p:nvSpPr>
          <p:cNvPr id="38" name="">
            <a:extLst xmlns:a="http://schemas.openxmlformats.org/drawingml/2006/main">
              <a:ext uri="{FF2B5EF4-FFF2-40B4-BE49-F238E27FC236}">
                <a16:creationId xmlns:a16="http://schemas.microsoft.com/office/drawing/2014/main" id="{F1CFC98E-F1E5-4BDD-ABBF-4881BFB22036}"/>
              </a:ext>
            </a:extLst>
          </p:cNvPr>
          <p:cNvSpPr>
            <a:spLocks xmlns:a="http://schemas.openxmlformats.org/drawingml/2006/main" noGrp="1"/>
          </p:cNvSpPr>
          <p:nvPr/>
        </p:nvSpPr>
        <p:spPr>
          <a:xfrm xmlns:a="http://schemas.openxmlformats.org/drawingml/2006/main">
            <a:off x="5905500" y="3105150"/>
            <a:ext cx="342900" cy="342900"/>
          </a:xfrm>
          <a:prstGeom xmlns:a="http://schemas.openxmlformats.org/drawingml/2006/main" prst="rect">
            <a:avLst/>
          </a:prstGeom>
          <a:solidFill xmlns:a="http://schemas.openxmlformats.org/drawingml/2006/main">
            <a:srgbClr val="161615"/>
          </a:solidFill>
          <a:ln xmlns:a="http://schemas.openxmlformats.org/drawingml/2006/main" w="9525">
            <a:solidFill>
              <a:srgbClr val="3B3832"/>
            </a:solidFill>
            <a:prstDash val="solid"/>
          </a:ln>
        </p:spPr>
      </p:sp>
      <p:sp>
        <p:nvSpPr>
          <p:cNvPr id="39" name="">
            <a:extLst xmlns:a="http://schemas.openxmlformats.org/drawingml/2006/main">
              <a:ext uri="{FF2B5EF4-FFF2-40B4-BE49-F238E27FC236}">
                <a16:creationId xmlns:a16="http://schemas.microsoft.com/office/drawing/2014/main" id="{BFB19201-7450-43AD-9331-E5C2218C7230}"/>
              </a:ext>
            </a:extLst>
          </p:cNvPr>
          <p:cNvSpPr>
            <a:spLocks xmlns:a="http://schemas.openxmlformats.org/drawingml/2006/main" noGrp="1"/>
          </p:cNvSpPr>
          <p:nvPr/>
        </p:nvSpPr>
        <p:spPr>
          <a:xfrm xmlns:a="http://schemas.openxmlformats.org/drawingml/2006/main">
            <a:off x="5981700" y="3171825"/>
            <a:ext cx="19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4F0E8"/>
                </a:solidFill>
                <a:latin typeface="Aptos Mono"/>
                <a:ea typeface="Aptos Mono"/>
                <a:cs typeface="Aptos Mono"/>
              </a:defRPr>
            </a:pPr>
            <a:r>
              <a:rPr sz="975" b="1">
                <a:solidFill>
                  <a:srgbClr val="F4F0E8"/>
                </a:solidFill>
                <a:latin typeface="Aptos Mono"/>
                <a:ea typeface="Aptos Mono"/>
                <a:cs typeface="Aptos Mono"/>
              </a:rPr>
              <a:t>2</a:t>
            </a:r>
          </a:p>
        </p:txBody>
      </p:sp>
      <p:sp>
        <p:nvSpPr>
          <p:cNvPr id="40" name="">
            <a:extLst xmlns:a="http://schemas.openxmlformats.org/drawingml/2006/main">
              <a:ext uri="{FF2B5EF4-FFF2-40B4-BE49-F238E27FC236}">
                <a16:creationId xmlns:a16="http://schemas.microsoft.com/office/drawing/2014/main" id="{2630DBC8-7EA0-497D-A3D1-2B7309080623}"/>
              </a:ext>
            </a:extLst>
          </p:cNvPr>
          <p:cNvSpPr>
            <a:spLocks xmlns:a="http://schemas.openxmlformats.org/drawingml/2006/main" noGrp="1"/>
          </p:cNvSpPr>
          <p:nvPr/>
        </p:nvSpPr>
        <p:spPr>
          <a:xfrm xmlns:a="http://schemas.openxmlformats.org/drawingml/2006/main">
            <a:off x="9620250" y="3105150"/>
            <a:ext cx="342900" cy="342900"/>
          </a:xfrm>
          <a:prstGeom xmlns:a="http://schemas.openxmlformats.org/drawingml/2006/main" prst="rect">
            <a:avLst/>
          </a:prstGeom>
          <a:solidFill xmlns:a="http://schemas.openxmlformats.org/drawingml/2006/main">
            <a:srgbClr val="161615"/>
          </a:solidFill>
          <a:ln xmlns:a="http://schemas.openxmlformats.org/drawingml/2006/main" w="9525">
            <a:solidFill>
              <a:srgbClr val="3B3832"/>
            </a:solidFill>
            <a:prstDash val="solid"/>
          </a:ln>
        </p:spPr>
      </p:sp>
      <p:sp>
        <p:nvSpPr>
          <p:cNvPr id="41" name="">
            <a:extLst xmlns:a="http://schemas.openxmlformats.org/drawingml/2006/main">
              <a:ext uri="{FF2B5EF4-FFF2-40B4-BE49-F238E27FC236}">
                <a16:creationId xmlns:a16="http://schemas.microsoft.com/office/drawing/2014/main" id="{6C584F7C-C367-4865-B628-6DB77E332F8C}"/>
              </a:ext>
            </a:extLst>
          </p:cNvPr>
          <p:cNvSpPr>
            <a:spLocks xmlns:a="http://schemas.openxmlformats.org/drawingml/2006/main" noGrp="1"/>
          </p:cNvSpPr>
          <p:nvPr/>
        </p:nvSpPr>
        <p:spPr>
          <a:xfrm xmlns:a="http://schemas.openxmlformats.org/drawingml/2006/main">
            <a:off x="9696450" y="3171825"/>
            <a:ext cx="19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4F0E8"/>
                </a:solidFill>
                <a:latin typeface="Aptos Mono"/>
                <a:ea typeface="Aptos Mono"/>
                <a:cs typeface="Aptos Mono"/>
              </a:defRPr>
            </a:pPr>
            <a:r>
              <a:rPr sz="975" b="1">
                <a:solidFill>
                  <a:srgbClr val="F4F0E8"/>
                </a:solidFill>
                <a:latin typeface="Aptos Mono"/>
                <a:ea typeface="Aptos Mono"/>
                <a:cs typeface="Aptos Mono"/>
              </a:rPr>
              <a:t>3</a:t>
            </a:r>
          </a:p>
        </p:txBody>
      </p:sp>
      <p:sp>
        <p:nvSpPr>
          <p:cNvPr id="42" name="">
            <a:extLst xmlns:a="http://schemas.openxmlformats.org/drawingml/2006/main">
              <a:ext uri="{FF2B5EF4-FFF2-40B4-BE49-F238E27FC236}">
                <a16:creationId xmlns:a16="http://schemas.microsoft.com/office/drawing/2014/main" id="{28F1AD9A-CFA1-47AE-9533-DA24E060A76A}"/>
              </a:ext>
            </a:extLst>
          </p:cNvPr>
          <p:cNvSpPr>
            <a:spLocks xmlns:a="http://schemas.openxmlformats.org/drawingml/2006/main" noGrp="1"/>
          </p:cNvSpPr>
          <p:nvPr/>
        </p:nvSpPr>
        <p:spPr>
          <a:xfrm xmlns:a="http://schemas.openxmlformats.org/drawingml/2006/main">
            <a:off x="11353800" y="61912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B7B7B0"/>
                </a:solidFill>
                <a:latin typeface="Aptos Mono"/>
                <a:ea typeface="Aptos Mono"/>
                <a:cs typeface="Aptos Mono"/>
              </a:defRPr>
            </a:pPr>
            <a:r>
              <a:rPr sz="900" b="0">
                <a:solidFill>
                  <a:srgbClr val="B7B7B0"/>
                </a:solidFill>
                <a:latin typeface="Aptos Mono"/>
                <a:ea typeface="Aptos Mono"/>
                <a:cs typeface="Aptos Mono"/>
              </a:rPr>
              <a:t>08</a:t>
            </a:r>
          </a:p>
        </p:txBody>
      </p:sp>
    </p:spTree>
    <p:extLst>
      <p:ext uri="{BB962C8B-B14F-4D97-AF65-F5344CB8AC3E}">
        <p14:creationId xmlns:p14="http://schemas.microsoft.com/office/powerpoint/2010/main" val="179861406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82E0D07-AFCE-4CCD-9978-0EB4B0088F4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4F0E8"/>
          </a:solidFill>
          <a:ln xmlns:a="http://schemas.openxmlformats.org/drawingml/2006/main" w="0">
            <a:solidFill>
              <a:srgbClr val="F4F0E8"/>
            </a:solidFill>
            <a:prstDash val="solid"/>
          </a:ln>
        </p:spPr>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ca9447900ba4425"/>
          <a:stretch xmlns:a="http://schemas.openxmlformats.org/drawingml/2006/main"/>
        </p:blipFill>
        <p:spPr>
          <a:xfrm xmlns:a="http://schemas.openxmlformats.org/drawingml/2006/main">
            <a:off x="9944100" y="515458"/>
            <a:ext cx="1104900" cy="359735"/>
          </a:xfrm>
          <a:prstGeom xmlns:a="http://schemas.openxmlformats.org/drawingml/2006/main" prst="rect">
            <a:avLst/>
          </a:prstGeom>
        </p:spPr>
      </p:pic>
      <p:sp>
        <p:nvSpPr>
          <p:cNvPr id="3" name="kicker-09-marker">
            <a:extLst xmlns:a="http://schemas.openxmlformats.org/drawingml/2006/main">
              <a:ext uri="{FF2B5EF4-FFF2-40B4-BE49-F238E27FC236}">
                <a16:creationId xmlns:a16="http://schemas.microsoft.com/office/drawing/2014/main" id="{7B293D3C-45AA-49E5-9021-BB87251FF663}"/>
              </a:ext>
            </a:extLst>
          </p:cNvPr>
          <p:cNvSpPr>
            <a:spLocks xmlns:a="http://schemas.openxmlformats.org/drawingml/2006/main" noGrp="1"/>
          </p:cNvSpPr>
          <p:nvPr/>
        </p:nvSpPr>
        <p:spPr>
          <a:xfrm xmlns:a="http://schemas.openxmlformats.org/drawingml/2006/main">
            <a:off x="685800" y="600075"/>
            <a:ext cx="323850" cy="19050"/>
          </a:xfrm>
          <a:prstGeom xmlns:a="http://schemas.openxmlformats.org/drawingml/2006/main" prst="rect">
            <a:avLst/>
          </a:prstGeom>
          <a:solidFill xmlns:a="http://schemas.openxmlformats.org/drawingml/2006/main">
            <a:srgbClr val="B8652B"/>
          </a:solidFill>
          <a:ln xmlns:a="http://schemas.openxmlformats.org/drawingml/2006/main" w="0">
            <a:solidFill>
              <a:srgbClr val="B8652B"/>
            </a:solidFill>
            <a:prstDash val="solid"/>
          </a:ln>
        </p:spPr>
      </p:sp>
      <p:sp>
        <p:nvSpPr>
          <p:cNvPr id="4" name="kicker-09-label">
            <a:extLst xmlns:a="http://schemas.openxmlformats.org/drawingml/2006/main">
              <a:ext uri="{FF2B5EF4-FFF2-40B4-BE49-F238E27FC236}">
                <a16:creationId xmlns:a16="http://schemas.microsoft.com/office/drawing/2014/main" id="{79FC34D8-228E-4332-98EF-06F48D98852D}"/>
              </a:ext>
            </a:extLst>
          </p:cNvPr>
          <p:cNvSpPr>
            <a:spLocks xmlns:a="http://schemas.openxmlformats.org/drawingml/2006/main" noGrp="1"/>
          </p:cNvSpPr>
          <p:nvPr/>
        </p:nvSpPr>
        <p:spPr>
          <a:xfrm xmlns:a="http://schemas.openxmlformats.org/drawingml/2006/main">
            <a:off x="1123950" y="514350"/>
            <a:ext cx="3429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7B5133"/>
                </a:solidFill>
                <a:latin typeface="Aptos Mono"/>
                <a:ea typeface="Aptos Mono"/>
                <a:cs typeface="Aptos Mono"/>
              </a:defRPr>
            </a:pPr>
            <a:r>
              <a:rPr sz="825" b="1">
                <a:solidFill>
                  <a:srgbClr val="7B5133"/>
                </a:solidFill>
                <a:latin typeface="Aptos Mono"/>
                <a:ea typeface="Aptos Mono"/>
                <a:cs typeface="Aptos Mono"/>
              </a:rPr>
              <a:t>BUSINESS VALUE</a:t>
            </a:r>
          </a:p>
        </p:txBody>
      </p:sp>
      <p:sp>
        <p:nvSpPr>
          <p:cNvPr id="5" name="">
            <a:extLst xmlns:a="http://schemas.openxmlformats.org/drawingml/2006/main">
              <a:ext uri="{FF2B5EF4-FFF2-40B4-BE49-F238E27FC236}">
                <a16:creationId xmlns:a16="http://schemas.microsoft.com/office/drawing/2014/main" id="{072A5910-901A-4EF1-8F63-88B367F84866}"/>
              </a:ext>
            </a:extLst>
          </p:cNvPr>
          <p:cNvSpPr>
            <a:spLocks xmlns:a="http://schemas.openxmlformats.org/drawingml/2006/main" noGrp="1"/>
          </p:cNvSpPr>
          <p:nvPr/>
        </p:nvSpPr>
        <p:spPr>
          <a:xfrm xmlns:a="http://schemas.openxmlformats.org/drawingml/2006/main">
            <a:off x="685800" y="876300"/>
            <a:ext cx="742950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0">
                <a:solidFill>
                  <a:srgbClr val="050505"/>
                </a:solidFill>
                <a:latin typeface="Georgia"/>
                <a:ea typeface="Georgia"/>
                <a:cs typeface="Georgia"/>
              </a:defRPr>
            </a:pPr>
            <a:r>
              <a:rPr sz="3000" b="0">
                <a:solidFill>
                  <a:srgbClr val="050505"/>
                </a:solidFill>
                <a:latin typeface="Georgia"/>
                <a:ea typeface="Georgia"/>
                <a:cs typeface="Georgia"/>
              </a:rPr>
              <a:t>The system protects revenue, time, and the client experience.</a:t>
            </a:r>
          </a:p>
        </p:txBody>
      </p:sp>
      <p:sp>
        <p:nvSpPr>
          <p:cNvPr id="6" name="">
            <a:extLst xmlns:a="http://schemas.openxmlformats.org/drawingml/2006/main">
              <a:ext uri="{FF2B5EF4-FFF2-40B4-BE49-F238E27FC236}">
                <a16:creationId xmlns:a16="http://schemas.microsoft.com/office/drawing/2014/main" id="{CA4FC781-D830-48A2-815E-90AD5DAF1DCB}"/>
              </a:ext>
            </a:extLst>
          </p:cNvPr>
          <p:cNvSpPr>
            <a:spLocks xmlns:a="http://schemas.openxmlformats.org/drawingml/2006/main" noGrp="1"/>
          </p:cNvSpPr>
          <p:nvPr/>
        </p:nvSpPr>
        <p:spPr>
          <a:xfrm xmlns:a="http://schemas.openxmlformats.org/drawingml/2006/main">
            <a:off x="704850" y="1809750"/>
            <a:ext cx="62865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161615"/>
                </a:solidFill>
                <a:latin typeface="Aptos"/>
                <a:ea typeface="Aptos"/>
                <a:cs typeface="Aptos"/>
              </a:defRPr>
            </a:pPr>
            <a:r>
              <a:rPr sz="1425" b="0">
                <a:solidFill>
                  <a:srgbClr val="161615"/>
                </a:solidFill>
                <a:latin typeface="Aptos"/>
                <a:ea typeface="Aptos"/>
                <a:cs typeface="Aptos"/>
              </a:rPr>
              <a:t>Operational discipline becomes a luxury signal: fast, clear, calm, and reliable.</a:t>
            </a:r>
          </a:p>
        </p:txBody>
      </p:sp>
      <p:sp>
        <p:nvSpPr>
          <p:cNvPr id="7" name="">
            <a:extLst xmlns:a="http://schemas.openxmlformats.org/drawingml/2006/main">
              <a:ext uri="{FF2B5EF4-FFF2-40B4-BE49-F238E27FC236}">
                <a16:creationId xmlns:a16="http://schemas.microsoft.com/office/drawing/2014/main" id="{EF7EF335-04EC-4032-A72D-2A49C016E380}"/>
              </a:ext>
            </a:extLst>
          </p:cNvPr>
          <p:cNvSpPr>
            <a:spLocks xmlns:a="http://schemas.openxmlformats.org/drawingml/2006/main" noGrp="1"/>
          </p:cNvSpPr>
          <p:nvPr/>
        </p:nvSpPr>
        <p:spPr>
          <a:xfrm xmlns:a="http://schemas.openxmlformats.org/drawingml/2006/main">
            <a:off x="704850" y="2609850"/>
            <a:ext cx="2305050" cy="2819400"/>
          </a:xfrm>
          <a:prstGeom xmlns:a="http://schemas.openxmlformats.org/drawingml/2006/main" prst="rect">
            <a:avLst/>
          </a:prstGeom>
          <a:solidFill xmlns:a="http://schemas.openxmlformats.org/drawingml/2006/main">
            <a:srgbClr val="050505"/>
          </a:solidFill>
          <a:ln xmlns:a="http://schemas.openxmlformats.org/drawingml/2006/main" w="9525">
            <a:solidFill>
              <a:srgbClr val="050505"/>
            </a:solidFill>
            <a:prstDash val="solid"/>
          </a:ln>
        </p:spPr>
      </p:sp>
      <p:sp>
        <p:nvSpPr>
          <p:cNvPr id="8" name="">
            <a:extLst xmlns:a="http://schemas.openxmlformats.org/drawingml/2006/main">
              <a:ext uri="{FF2B5EF4-FFF2-40B4-BE49-F238E27FC236}">
                <a16:creationId xmlns:a16="http://schemas.microsoft.com/office/drawing/2014/main" id="{82044874-C76C-425D-B7F2-36E5F9829B4D}"/>
              </a:ext>
            </a:extLst>
          </p:cNvPr>
          <p:cNvSpPr>
            <a:spLocks xmlns:a="http://schemas.openxmlformats.org/drawingml/2006/main" noGrp="1"/>
          </p:cNvSpPr>
          <p:nvPr/>
        </p:nvSpPr>
        <p:spPr>
          <a:xfrm xmlns:a="http://schemas.openxmlformats.org/drawingml/2006/main">
            <a:off x="990600" y="2971800"/>
            <a:ext cx="95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B7B7B0"/>
                </a:solidFill>
                <a:latin typeface="Aptos Mono"/>
                <a:ea typeface="Aptos Mono"/>
                <a:cs typeface="Aptos Mono"/>
              </a:defRPr>
            </a:pPr>
            <a:r>
              <a:rPr sz="900" b="1">
                <a:solidFill>
                  <a:srgbClr val="B7B7B0"/>
                </a:solidFill>
                <a:latin typeface="Aptos Mono"/>
                <a:ea typeface="Aptos Mono"/>
                <a:cs typeface="Aptos Mono"/>
              </a:rPr>
              <a:t>BEFORE</a:t>
            </a:r>
          </a:p>
        </p:txBody>
      </p:sp>
      <p:sp>
        <p:nvSpPr>
          <p:cNvPr id="9" name="">
            <a:extLst xmlns:a="http://schemas.openxmlformats.org/drawingml/2006/main">
              <a:ext uri="{FF2B5EF4-FFF2-40B4-BE49-F238E27FC236}">
                <a16:creationId xmlns:a16="http://schemas.microsoft.com/office/drawing/2014/main" id="{F29D8958-39F8-4599-916B-28746B3B89D5}"/>
              </a:ext>
            </a:extLst>
          </p:cNvPr>
          <p:cNvSpPr>
            <a:spLocks xmlns:a="http://schemas.openxmlformats.org/drawingml/2006/main" noGrp="1"/>
          </p:cNvSpPr>
          <p:nvPr/>
        </p:nvSpPr>
        <p:spPr>
          <a:xfrm xmlns:a="http://schemas.openxmlformats.org/drawingml/2006/main">
            <a:off x="990600" y="3390900"/>
            <a:ext cx="144780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0">
                <a:solidFill>
                  <a:srgbClr val="F4F0E8"/>
                </a:solidFill>
                <a:latin typeface="Georgia"/>
                <a:ea typeface="Georgia"/>
                <a:cs typeface="Georgia"/>
              </a:defRPr>
            </a:pPr>
            <a:r>
              <a:rPr sz="2250" b="0">
                <a:solidFill>
                  <a:srgbClr val="F4F0E8"/>
                </a:solidFill>
                <a:latin typeface="Georgia"/>
                <a:ea typeface="Georgia"/>
                <a:cs typeface="Georgia"/>
              </a:rPr>
              <a:t>Scattered demand</a:t>
            </a:r>
          </a:p>
        </p:txBody>
      </p:sp>
      <p:sp>
        <p:nvSpPr>
          <p:cNvPr id="10" name="">
            <a:extLst xmlns:a="http://schemas.openxmlformats.org/drawingml/2006/main">
              <a:ext uri="{FF2B5EF4-FFF2-40B4-BE49-F238E27FC236}">
                <a16:creationId xmlns:a16="http://schemas.microsoft.com/office/drawing/2014/main" id="{C1E40055-84DC-4343-9450-10C625D1279E}"/>
              </a:ext>
            </a:extLst>
          </p:cNvPr>
          <p:cNvSpPr>
            <a:spLocks xmlns:a="http://schemas.openxmlformats.org/drawingml/2006/main" noGrp="1"/>
          </p:cNvSpPr>
          <p:nvPr/>
        </p:nvSpPr>
        <p:spPr>
          <a:xfrm xmlns:a="http://schemas.openxmlformats.org/drawingml/2006/main">
            <a:off x="990600" y="4324350"/>
            <a:ext cx="152400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B7B7B0"/>
                </a:solidFill>
                <a:latin typeface="Aptos"/>
                <a:ea typeface="Aptos"/>
                <a:cs typeface="Aptos"/>
              </a:defRPr>
            </a:pPr>
            <a:r>
              <a:rPr sz="1275" b="0">
                <a:solidFill>
                  <a:srgbClr val="B7B7B0"/>
                </a:solidFill>
                <a:latin typeface="Aptos"/>
                <a:ea typeface="Aptos"/>
                <a:cs typeface="Aptos"/>
              </a:rPr>
              <a:t>Manual replies</a:t>
            </a:r>
          </a:p>
          <a:p xmlns:a="http://schemas.openxmlformats.org/drawingml/2006/main">
            <a:pPr algn="l">
              <a:defRPr sz="1275" b="0">
                <a:solidFill>
                  <a:srgbClr val="B7B7B0"/>
                </a:solidFill>
                <a:latin typeface="Aptos"/>
                <a:ea typeface="Aptos"/>
                <a:cs typeface="Aptos"/>
              </a:defRPr>
            </a:pPr>
            <a:r>
              <a:rPr sz="1275" b="0">
                <a:solidFill>
                  <a:srgbClr val="B7B7B0"/>
                </a:solidFill>
                <a:latin typeface="Aptos"/>
                <a:ea typeface="Aptos"/>
                <a:cs typeface="Aptos"/>
              </a:rPr>
              <a:t>unclear stock</a:t>
            </a:r>
          </a:p>
          <a:p xmlns:a="http://schemas.openxmlformats.org/drawingml/2006/main">
            <a:pPr algn="l">
              <a:defRPr sz="1275" b="0">
                <a:solidFill>
                  <a:srgbClr val="B7B7B0"/>
                </a:solidFill>
                <a:latin typeface="Aptos"/>
                <a:ea typeface="Aptos"/>
                <a:cs typeface="Aptos"/>
              </a:defRPr>
            </a:pPr>
            <a:r>
              <a:rPr sz="1275" b="0">
                <a:solidFill>
                  <a:srgbClr val="B7B7B0"/>
                </a:solidFill>
                <a:latin typeface="Aptos"/>
                <a:ea typeface="Aptos"/>
                <a:cs typeface="Aptos"/>
              </a:rPr>
              <a:t>status chasing</a:t>
            </a:r>
          </a:p>
        </p:txBody>
      </p:sp>
      <p:sp>
        <p:nvSpPr>
          <p:cNvPr id="11" name="">
            <a:extLst xmlns:a="http://schemas.openxmlformats.org/drawingml/2006/main">
              <a:ext uri="{FF2B5EF4-FFF2-40B4-BE49-F238E27FC236}">
                <a16:creationId xmlns:a16="http://schemas.microsoft.com/office/drawing/2014/main" id="{CACC32EF-5EBA-462D-A653-6783BCCCF162}"/>
              </a:ext>
            </a:extLst>
          </p:cNvPr>
          <p:cNvSpPr>
            <a:spLocks xmlns:a="http://schemas.openxmlformats.org/drawingml/2006/main" noGrp="1"/>
          </p:cNvSpPr>
          <p:nvPr/>
        </p:nvSpPr>
        <p:spPr>
          <a:xfrm xmlns:a="http://schemas.openxmlformats.org/drawingml/2006/main">
            <a:off x="3390900" y="2609850"/>
            <a:ext cx="8096250" cy="2819400"/>
          </a:xfrm>
          <a:prstGeom xmlns:a="http://schemas.openxmlformats.org/drawingml/2006/main" prst="rect">
            <a:avLst/>
          </a:prstGeom>
          <a:solidFill xmlns:a="http://schemas.openxmlformats.org/drawingml/2006/main">
            <a:srgbClr val="F9F5EC"/>
          </a:solidFill>
          <a:ln xmlns:a="http://schemas.openxmlformats.org/drawingml/2006/main" w="9525">
            <a:solidFill>
              <a:srgbClr val="D7CFC2"/>
            </a:solidFill>
            <a:prstDash val="solid"/>
          </a:ln>
        </p:spPr>
      </p:sp>
      <p:sp>
        <p:nvSpPr>
          <p:cNvPr id="12" name="">
            <a:extLst xmlns:a="http://schemas.openxmlformats.org/drawingml/2006/main">
              <a:ext uri="{FF2B5EF4-FFF2-40B4-BE49-F238E27FC236}">
                <a16:creationId xmlns:a16="http://schemas.microsoft.com/office/drawing/2014/main" id="{5329ABCE-538A-44E3-B5DD-3E6EA6390604}"/>
              </a:ext>
            </a:extLst>
          </p:cNvPr>
          <p:cNvSpPr>
            <a:spLocks xmlns:a="http://schemas.openxmlformats.org/drawingml/2006/main" noGrp="1"/>
          </p:cNvSpPr>
          <p:nvPr/>
        </p:nvSpPr>
        <p:spPr>
          <a:xfrm xmlns:a="http://schemas.openxmlformats.org/drawingml/2006/main">
            <a:off x="3695700" y="2971800"/>
            <a:ext cx="95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7B5133"/>
                </a:solidFill>
                <a:latin typeface="Aptos Mono"/>
                <a:ea typeface="Aptos Mono"/>
                <a:cs typeface="Aptos Mono"/>
              </a:defRPr>
            </a:pPr>
            <a:r>
              <a:rPr sz="900" b="1">
                <a:solidFill>
                  <a:srgbClr val="7B5133"/>
                </a:solidFill>
                <a:latin typeface="Aptos Mono"/>
                <a:ea typeface="Aptos Mono"/>
                <a:cs typeface="Aptos Mono"/>
              </a:rPr>
              <a:t>AFTER</a:t>
            </a:r>
          </a:p>
        </p:txBody>
      </p:sp>
      <p:sp>
        <p:nvSpPr>
          <p:cNvPr id="13" name="">
            <a:extLst xmlns:a="http://schemas.openxmlformats.org/drawingml/2006/main">
              <a:ext uri="{FF2B5EF4-FFF2-40B4-BE49-F238E27FC236}">
                <a16:creationId xmlns:a16="http://schemas.microsoft.com/office/drawing/2014/main" id="{B49D6BBA-DE98-44D4-ACF0-03CAB7DB8122}"/>
              </a:ext>
            </a:extLst>
          </p:cNvPr>
          <p:cNvSpPr>
            <a:spLocks xmlns:a="http://schemas.openxmlformats.org/drawingml/2006/main" noGrp="1"/>
          </p:cNvSpPr>
          <p:nvPr/>
        </p:nvSpPr>
        <p:spPr>
          <a:xfrm xmlns:a="http://schemas.openxmlformats.org/drawingml/2006/main">
            <a:off x="3695700" y="3295650"/>
            <a:ext cx="7410450" cy="609600"/>
          </a:xfrm>
          <a:prstGeom xmlns:a="http://schemas.openxmlformats.org/drawingml/2006/main" prst="rect">
            <a:avLst/>
          </a:prstGeom>
          <a:solidFill xmlns:a="http://schemas.openxmlformats.org/drawingml/2006/main">
            <a:srgbClr val="FEFCF7"/>
          </a:solidFill>
          <a:ln xmlns:a="http://schemas.openxmlformats.org/drawingml/2006/main" w="9525">
            <a:solidFill>
              <a:srgbClr val="D7CFC2"/>
            </a:solidFill>
            <a:prstDash val="solid"/>
          </a:ln>
        </p:spPr>
      </p:sp>
      <p:sp>
        <p:nvSpPr>
          <p:cNvPr id="14" name="">
            <a:extLst xmlns:a="http://schemas.openxmlformats.org/drawingml/2006/main">
              <a:ext uri="{FF2B5EF4-FFF2-40B4-BE49-F238E27FC236}">
                <a16:creationId xmlns:a16="http://schemas.microsoft.com/office/drawing/2014/main" id="{73F74C42-CF59-487C-86C3-3F3AF6A04971}"/>
              </a:ext>
            </a:extLst>
          </p:cNvPr>
          <p:cNvSpPr>
            <a:spLocks xmlns:a="http://schemas.openxmlformats.org/drawingml/2006/main" noGrp="1"/>
          </p:cNvSpPr>
          <p:nvPr/>
        </p:nvSpPr>
        <p:spPr>
          <a:xfrm xmlns:a="http://schemas.openxmlformats.org/drawingml/2006/main">
            <a:off x="3695700" y="3295650"/>
            <a:ext cx="47625" cy="609600"/>
          </a:xfrm>
          <a:prstGeom xmlns:a="http://schemas.openxmlformats.org/drawingml/2006/main" prst="rect">
            <a:avLst/>
          </a:prstGeom>
          <a:solidFill xmlns:a="http://schemas.openxmlformats.org/drawingml/2006/main">
            <a:srgbClr val="B8652B"/>
          </a:solidFill>
          <a:ln xmlns:a="http://schemas.openxmlformats.org/drawingml/2006/main" w="0">
            <a:solidFill>
              <a:srgbClr val="B8652B"/>
            </a:solidFill>
            <a:prstDash val="solid"/>
          </a:ln>
        </p:spPr>
      </p:sp>
      <p:sp>
        <p:nvSpPr>
          <p:cNvPr id="15" name="">
            <a:extLst xmlns:a="http://schemas.openxmlformats.org/drawingml/2006/main">
              <a:ext uri="{FF2B5EF4-FFF2-40B4-BE49-F238E27FC236}">
                <a16:creationId xmlns:a16="http://schemas.microsoft.com/office/drawing/2014/main" id="{F2AA6EAB-1F1D-4774-8CDF-ED22597A593F}"/>
              </a:ext>
            </a:extLst>
          </p:cNvPr>
          <p:cNvSpPr>
            <a:spLocks xmlns:a="http://schemas.openxmlformats.org/drawingml/2006/main" noGrp="1"/>
          </p:cNvSpPr>
          <p:nvPr/>
        </p:nvSpPr>
        <p:spPr>
          <a:xfrm xmlns:a="http://schemas.openxmlformats.org/drawingml/2006/main">
            <a:off x="3924300" y="3429000"/>
            <a:ext cx="2476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050505"/>
                </a:solidFill>
                <a:latin typeface="Georgia"/>
                <a:ea typeface="Georgia"/>
                <a:cs typeface="Georgia"/>
              </a:defRPr>
            </a:pPr>
            <a:r>
              <a:rPr sz="1425" b="0">
                <a:solidFill>
                  <a:srgbClr val="050505"/>
                </a:solidFill>
                <a:latin typeface="Georgia"/>
                <a:ea typeface="Georgia"/>
                <a:cs typeface="Georgia"/>
              </a:rPr>
              <a:t>Faster responses</a:t>
            </a:r>
          </a:p>
        </p:txBody>
      </p:sp>
      <p:sp>
        <p:nvSpPr>
          <p:cNvPr id="16" name="">
            <a:extLst xmlns:a="http://schemas.openxmlformats.org/drawingml/2006/main">
              <a:ext uri="{FF2B5EF4-FFF2-40B4-BE49-F238E27FC236}">
                <a16:creationId xmlns:a16="http://schemas.microsoft.com/office/drawing/2014/main" id="{E938523B-60AE-4F0A-AE97-51183E917C12}"/>
              </a:ext>
            </a:extLst>
          </p:cNvPr>
          <p:cNvSpPr>
            <a:spLocks xmlns:a="http://schemas.openxmlformats.org/drawingml/2006/main" noGrp="1"/>
          </p:cNvSpPr>
          <p:nvPr/>
        </p:nvSpPr>
        <p:spPr>
          <a:xfrm xmlns:a="http://schemas.openxmlformats.org/drawingml/2006/main">
            <a:off x="6686550" y="3467100"/>
            <a:ext cx="41338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61615"/>
                </a:solidFill>
                <a:latin typeface="Aptos"/>
                <a:ea typeface="Aptos"/>
                <a:cs typeface="Aptos"/>
              </a:defRPr>
            </a:pPr>
            <a:r>
              <a:rPr sz="1125" b="0">
                <a:solidFill>
                  <a:srgbClr val="161615"/>
                </a:solidFill>
                <a:latin typeface="Aptos"/>
                <a:ea typeface="Aptos"/>
                <a:cs typeface="Aptos"/>
              </a:rPr>
              <a:t>common inquiries routed instantly</a:t>
            </a:r>
          </a:p>
        </p:txBody>
      </p:sp>
      <p:sp>
        <p:nvSpPr>
          <p:cNvPr id="17" name="">
            <a:extLst xmlns:a="http://schemas.openxmlformats.org/drawingml/2006/main">
              <a:ext uri="{FF2B5EF4-FFF2-40B4-BE49-F238E27FC236}">
                <a16:creationId xmlns:a16="http://schemas.microsoft.com/office/drawing/2014/main" id="{D71075AC-1747-4272-B252-E681F694926A}"/>
              </a:ext>
            </a:extLst>
          </p:cNvPr>
          <p:cNvSpPr>
            <a:spLocks xmlns:a="http://schemas.openxmlformats.org/drawingml/2006/main" noGrp="1"/>
          </p:cNvSpPr>
          <p:nvPr/>
        </p:nvSpPr>
        <p:spPr>
          <a:xfrm xmlns:a="http://schemas.openxmlformats.org/drawingml/2006/main">
            <a:off x="3695700" y="4000500"/>
            <a:ext cx="7410450" cy="609600"/>
          </a:xfrm>
          <a:prstGeom xmlns:a="http://schemas.openxmlformats.org/drawingml/2006/main" prst="rect">
            <a:avLst/>
          </a:prstGeom>
          <a:solidFill xmlns:a="http://schemas.openxmlformats.org/drawingml/2006/main">
            <a:srgbClr val="FEFCF7"/>
          </a:solidFill>
          <a:ln xmlns:a="http://schemas.openxmlformats.org/drawingml/2006/main" w="9525">
            <a:solidFill>
              <a:srgbClr val="D7CFC2"/>
            </a:solidFill>
            <a:prstDash val="solid"/>
          </a:ln>
        </p:spPr>
      </p:sp>
      <p:sp>
        <p:nvSpPr>
          <p:cNvPr id="18" name="">
            <a:extLst xmlns:a="http://schemas.openxmlformats.org/drawingml/2006/main">
              <a:ext uri="{FF2B5EF4-FFF2-40B4-BE49-F238E27FC236}">
                <a16:creationId xmlns:a16="http://schemas.microsoft.com/office/drawing/2014/main" id="{9B797571-9E81-4343-9FBC-9015F038877C}"/>
              </a:ext>
            </a:extLst>
          </p:cNvPr>
          <p:cNvSpPr>
            <a:spLocks xmlns:a="http://schemas.openxmlformats.org/drawingml/2006/main" noGrp="1"/>
          </p:cNvSpPr>
          <p:nvPr/>
        </p:nvSpPr>
        <p:spPr>
          <a:xfrm xmlns:a="http://schemas.openxmlformats.org/drawingml/2006/main">
            <a:off x="3695700" y="4000500"/>
            <a:ext cx="47625" cy="609600"/>
          </a:xfrm>
          <a:prstGeom xmlns:a="http://schemas.openxmlformats.org/drawingml/2006/main" prst="rect">
            <a:avLst/>
          </a:prstGeom>
          <a:solidFill xmlns:a="http://schemas.openxmlformats.org/drawingml/2006/main">
            <a:srgbClr val="7B5133"/>
          </a:solidFill>
          <a:ln xmlns:a="http://schemas.openxmlformats.org/drawingml/2006/main" w="0">
            <a:solidFill>
              <a:srgbClr val="7B5133"/>
            </a:solidFill>
            <a:prstDash val="solid"/>
          </a:ln>
        </p:spPr>
      </p:sp>
      <p:sp>
        <p:nvSpPr>
          <p:cNvPr id="19" name="">
            <a:extLst xmlns:a="http://schemas.openxmlformats.org/drawingml/2006/main">
              <a:ext uri="{FF2B5EF4-FFF2-40B4-BE49-F238E27FC236}">
                <a16:creationId xmlns:a16="http://schemas.microsoft.com/office/drawing/2014/main" id="{F0DBFEBA-5940-4AE9-B2F0-7357E11F43E5}"/>
              </a:ext>
            </a:extLst>
          </p:cNvPr>
          <p:cNvSpPr>
            <a:spLocks xmlns:a="http://schemas.openxmlformats.org/drawingml/2006/main" noGrp="1"/>
          </p:cNvSpPr>
          <p:nvPr/>
        </p:nvSpPr>
        <p:spPr>
          <a:xfrm xmlns:a="http://schemas.openxmlformats.org/drawingml/2006/main">
            <a:off x="3924300" y="4133850"/>
            <a:ext cx="2476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050505"/>
                </a:solidFill>
                <a:latin typeface="Georgia"/>
                <a:ea typeface="Georgia"/>
                <a:cs typeface="Georgia"/>
              </a:defRPr>
            </a:pPr>
            <a:r>
              <a:rPr sz="1425" b="0">
                <a:solidFill>
                  <a:srgbClr val="050505"/>
                </a:solidFill>
                <a:latin typeface="Georgia"/>
                <a:ea typeface="Georgia"/>
                <a:cs typeface="Georgia"/>
              </a:rPr>
              <a:t>Fewer missed orders</a:t>
            </a:r>
          </a:p>
        </p:txBody>
      </p:sp>
      <p:sp>
        <p:nvSpPr>
          <p:cNvPr id="20" name="">
            <a:extLst xmlns:a="http://schemas.openxmlformats.org/drawingml/2006/main">
              <a:ext uri="{FF2B5EF4-FFF2-40B4-BE49-F238E27FC236}">
                <a16:creationId xmlns:a16="http://schemas.microsoft.com/office/drawing/2014/main" id="{6631013A-C19B-432A-B29B-2EB5F6FE406C}"/>
              </a:ext>
            </a:extLst>
          </p:cNvPr>
          <p:cNvSpPr>
            <a:spLocks xmlns:a="http://schemas.openxmlformats.org/drawingml/2006/main" noGrp="1"/>
          </p:cNvSpPr>
          <p:nvPr/>
        </p:nvSpPr>
        <p:spPr>
          <a:xfrm xmlns:a="http://schemas.openxmlformats.org/drawingml/2006/main">
            <a:off x="6686550" y="4171950"/>
            <a:ext cx="41338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61615"/>
                </a:solidFill>
                <a:latin typeface="Aptos"/>
                <a:ea typeface="Aptos"/>
                <a:cs typeface="Aptos"/>
              </a:defRPr>
            </a:pPr>
            <a:r>
              <a:rPr sz="1125" b="0">
                <a:solidFill>
                  <a:srgbClr val="161615"/>
                </a:solidFill>
                <a:latin typeface="Aptos"/>
                <a:ea typeface="Aptos"/>
                <a:cs typeface="Aptos"/>
              </a:rPr>
              <a:t>every inquiry can become a tracked order draft</a:t>
            </a:r>
          </a:p>
        </p:txBody>
      </p:sp>
      <p:sp>
        <p:nvSpPr>
          <p:cNvPr id="21" name="">
            <a:extLst xmlns:a="http://schemas.openxmlformats.org/drawingml/2006/main">
              <a:ext uri="{FF2B5EF4-FFF2-40B4-BE49-F238E27FC236}">
                <a16:creationId xmlns:a16="http://schemas.microsoft.com/office/drawing/2014/main" id="{DBEC8D10-D295-4561-9D80-C65DEF9F3CF3}"/>
              </a:ext>
            </a:extLst>
          </p:cNvPr>
          <p:cNvSpPr>
            <a:spLocks xmlns:a="http://schemas.openxmlformats.org/drawingml/2006/main" noGrp="1"/>
          </p:cNvSpPr>
          <p:nvPr/>
        </p:nvSpPr>
        <p:spPr>
          <a:xfrm xmlns:a="http://schemas.openxmlformats.org/drawingml/2006/main">
            <a:off x="3695700" y="4705350"/>
            <a:ext cx="7410450" cy="609600"/>
          </a:xfrm>
          <a:prstGeom xmlns:a="http://schemas.openxmlformats.org/drawingml/2006/main" prst="rect">
            <a:avLst/>
          </a:prstGeom>
          <a:solidFill xmlns:a="http://schemas.openxmlformats.org/drawingml/2006/main">
            <a:srgbClr val="FEFCF7"/>
          </a:solidFill>
          <a:ln xmlns:a="http://schemas.openxmlformats.org/drawingml/2006/main" w="9525">
            <a:solidFill>
              <a:srgbClr val="D7CFC2"/>
            </a:solidFill>
            <a:prstDash val="solid"/>
          </a:ln>
        </p:spPr>
      </p:sp>
      <p:sp>
        <p:nvSpPr>
          <p:cNvPr id="22" name="">
            <a:extLst xmlns:a="http://schemas.openxmlformats.org/drawingml/2006/main">
              <a:ext uri="{FF2B5EF4-FFF2-40B4-BE49-F238E27FC236}">
                <a16:creationId xmlns:a16="http://schemas.microsoft.com/office/drawing/2014/main" id="{FD92FA03-C637-4DE0-B2B3-A425DEF2B6E0}"/>
              </a:ext>
            </a:extLst>
          </p:cNvPr>
          <p:cNvSpPr>
            <a:spLocks xmlns:a="http://schemas.openxmlformats.org/drawingml/2006/main" noGrp="1"/>
          </p:cNvSpPr>
          <p:nvPr/>
        </p:nvSpPr>
        <p:spPr>
          <a:xfrm xmlns:a="http://schemas.openxmlformats.org/drawingml/2006/main">
            <a:off x="3695700" y="4705350"/>
            <a:ext cx="47625" cy="609600"/>
          </a:xfrm>
          <a:prstGeom xmlns:a="http://schemas.openxmlformats.org/drawingml/2006/main" prst="rect">
            <a:avLst/>
          </a:prstGeom>
          <a:solidFill xmlns:a="http://schemas.openxmlformats.org/drawingml/2006/main">
            <a:srgbClr val="3F4A35"/>
          </a:solidFill>
          <a:ln xmlns:a="http://schemas.openxmlformats.org/drawingml/2006/main" w="0">
            <a:solidFill>
              <a:srgbClr val="3F4A35"/>
            </a:solidFill>
            <a:prstDash val="solid"/>
          </a:ln>
        </p:spPr>
      </p:sp>
      <p:sp>
        <p:nvSpPr>
          <p:cNvPr id="23" name="">
            <a:extLst xmlns:a="http://schemas.openxmlformats.org/drawingml/2006/main">
              <a:ext uri="{FF2B5EF4-FFF2-40B4-BE49-F238E27FC236}">
                <a16:creationId xmlns:a16="http://schemas.microsoft.com/office/drawing/2014/main" id="{A52352D6-DC4A-452B-91EC-B2E6FC69FBE5}"/>
              </a:ext>
            </a:extLst>
          </p:cNvPr>
          <p:cNvSpPr>
            <a:spLocks xmlns:a="http://schemas.openxmlformats.org/drawingml/2006/main" noGrp="1"/>
          </p:cNvSpPr>
          <p:nvPr/>
        </p:nvSpPr>
        <p:spPr>
          <a:xfrm xmlns:a="http://schemas.openxmlformats.org/drawingml/2006/main">
            <a:off x="3924300" y="4838700"/>
            <a:ext cx="2476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050505"/>
                </a:solidFill>
                <a:latin typeface="Georgia"/>
                <a:ea typeface="Georgia"/>
                <a:cs typeface="Georgia"/>
              </a:defRPr>
            </a:pPr>
            <a:r>
              <a:rPr sz="1425" b="0">
                <a:solidFill>
                  <a:srgbClr val="050505"/>
                </a:solidFill>
                <a:latin typeface="Georgia"/>
                <a:ea typeface="Georgia"/>
                <a:cs typeface="Georgia"/>
              </a:rPr>
              <a:t>Clearer stock visibility</a:t>
            </a:r>
          </a:p>
        </p:txBody>
      </p:sp>
      <p:sp>
        <p:nvSpPr>
          <p:cNvPr id="24" name="">
            <a:extLst xmlns:a="http://schemas.openxmlformats.org/drawingml/2006/main">
              <a:ext uri="{FF2B5EF4-FFF2-40B4-BE49-F238E27FC236}">
                <a16:creationId xmlns:a16="http://schemas.microsoft.com/office/drawing/2014/main" id="{D27AA2B5-A120-49E6-A5C8-B622D0C42599}"/>
              </a:ext>
            </a:extLst>
          </p:cNvPr>
          <p:cNvSpPr>
            <a:spLocks xmlns:a="http://schemas.openxmlformats.org/drawingml/2006/main" noGrp="1"/>
          </p:cNvSpPr>
          <p:nvPr/>
        </p:nvSpPr>
        <p:spPr>
          <a:xfrm xmlns:a="http://schemas.openxmlformats.org/drawingml/2006/main">
            <a:off x="6686550" y="4876800"/>
            <a:ext cx="41338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61615"/>
                </a:solidFill>
                <a:latin typeface="Aptos"/>
                <a:ea typeface="Aptos"/>
                <a:cs typeface="Aptos"/>
              </a:defRPr>
            </a:pPr>
            <a:r>
              <a:rPr sz="1125" b="0">
                <a:solidFill>
                  <a:srgbClr val="161615"/>
                </a:solidFill>
                <a:latin typeface="Aptos"/>
                <a:ea typeface="Aptos"/>
                <a:cs typeface="Aptos"/>
              </a:rPr>
              <a:t>confirmed orders reserve or deduct inventory</a:t>
            </a:r>
          </a:p>
        </p:txBody>
      </p:sp>
      <p:sp>
        <p:nvSpPr>
          <p:cNvPr id="25" name="">
            <a:extLst xmlns:a="http://schemas.openxmlformats.org/drawingml/2006/main">
              <a:ext uri="{FF2B5EF4-FFF2-40B4-BE49-F238E27FC236}">
                <a16:creationId xmlns:a16="http://schemas.microsoft.com/office/drawing/2014/main" id="{D550850D-7043-467A-B9F7-C3348DBA4369}"/>
              </a:ext>
            </a:extLst>
          </p:cNvPr>
          <p:cNvSpPr>
            <a:spLocks xmlns:a="http://schemas.openxmlformats.org/drawingml/2006/main" noGrp="1"/>
          </p:cNvSpPr>
          <p:nvPr/>
        </p:nvSpPr>
        <p:spPr>
          <a:xfrm xmlns:a="http://schemas.openxmlformats.org/drawingml/2006/main">
            <a:off x="3714750" y="5657850"/>
            <a:ext cx="6191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7B5133"/>
                </a:solidFill>
                <a:latin typeface="Aptos Mono"/>
                <a:ea typeface="Aptos Mono"/>
                <a:cs typeface="Aptos Mono"/>
              </a:defRPr>
            </a:pPr>
            <a:r>
              <a:rPr sz="1350" b="1">
                <a:solidFill>
                  <a:srgbClr val="7B5133"/>
                </a:solidFill>
                <a:latin typeface="Aptos Mono"/>
                <a:ea typeface="Aptos Mono"/>
                <a:cs typeface="Aptos Mono"/>
              </a:rPr>
              <a:t>better customer experience + scalable operations</a:t>
            </a:r>
          </a:p>
        </p:txBody>
      </p:sp>
      <p:sp>
        <p:nvSpPr>
          <p:cNvPr id="26" name="">
            <a:extLst xmlns:a="http://schemas.openxmlformats.org/drawingml/2006/main">
              <a:ext uri="{FF2B5EF4-FFF2-40B4-BE49-F238E27FC236}">
                <a16:creationId xmlns:a16="http://schemas.microsoft.com/office/drawing/2014/main" id="{5E9BACE0-D9FA-438B-B2E0-DA6AE30E17A3}"/>
              </a:ext>
            </a:extLst>
          </p:cNvPr>
          <p:cNvSpPr>
            <a:spLocks xmlns:a="http://schemas.openxmlformats.org/drawingml/2006/main" noGrp="1"/>
          </p:cNvSpPr>
          <p:nvPr/>
        </p:nvSpPr>
        <p:spPr>
          <a:xfrm xmlns:a="http://schemas.openxmlformats.org/drawingml/2006/main">
            <a:off x="11353800" y="61912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7B5133"/>
                </a:solidFill>
                <a:latin typeface="Aptos Mono"/>
                <a:ea typeface="Aptos Mono"/>
                <a:cs typeface="Aptos Mono"/>
              </a:defRPr>
            </a:pPr>
            <a:r>
              <a:rPr sz="900" b="0">
                <a:solidFill>
                  <a:srgbClr val="7B5133"/>
                </a:solidFill>
                <a:latin typeface="Aptos Mono"/>
                <a:ea typeface="Aptos Mono"/>
                <a:cs typeface="Aptos Mono"/>
              </a:rPr>
              <a:t>09</a:t>
            </a:r>
          </a:p>
        </p:txBody>
      </p:sp>
    </p:spTree>
    <p:extLst>
      <p:ext uri="{BB962C8B-B14F-4D97-AF65-F5344CB8AC3E}">
        <p14:creationId xmlns:p14="http://schemas.microsoft.com/office/powerpoint/2010/main" val="196810554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8E67DB3-E8CA-4D23-BC5D-1EB84FE1303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505"/>
          </a:solidFill>
          <a:ln xmlns:a="http://schemas.openxmlformats.org/drawingml/2006/main" w="0">
            <a:solidFill>
              <a:srgbClr val="050505"/>
            </a:solidFill>
            <a:prstDash val="solid"/>
          </a:ln>
        </p:spPr>
      </p:sp>
      <p:sp>
        <p:nvSpPr>
          <p:cNvPr id="2" name="">
            <a:extLst xmlns:a="http://schemas.openxmlformats.org/drawingml/2006/main">
              <a:ext uri="{FF2B5EF4-FFF2-40B4-BE49-F238E27FC236}">
                <a16:creationId xmlns:a16="http://schemas.microsoft.com/office/drawing/2014/main" id="{2597A061-F83D-4D20-A030-43B364CBC8D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0907"/>
          </a:solidFill>
          <a:ln xmlns:a="http://schemas.openxmlformats.org/drawingml/2006/main" w="0">
            <a:solidFill>
              <a:srgbClr val="0B0907"/>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21d269f596944176"/>
          <a:stretch xmlns:a="http://schemas.openxmlformats.org/drawingml/2006/main"/>
        </p:blipFill>
        <p:spPr>
          <a:xfrm xmlns:a="http://schemas.openxmlformats.org/drawingml/2006/main">
            <a:off x="10040620" y="1485900"/>
            <a:ext cx="873760" cy="1828800"/>
          </a:xfrm>
          <a:prstGeom xmlns:a="http://schemas.openxmlformats.org/drawingml/2006/main" prst="rect">
            <a:avLst/>
          </a:prstGeom>
        </p:spPr>
      </p:pic>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042f8c981da844a9"/>
          <a:stretch xmlns:a="http://schemas.openxmlformats.org/drawingml/2006/main"/>
        </p:blipFill>
        <p:spPr>
          <a:xfrm xmlns:a="http://schemas.openxmlformats.org/drawingml/2006/main">
            <a:off x="857250" y="5832180"/>
            <a:ext cx="1562100" cy="508591"/>
          </a:xfrm>
          <a:prstGeom xmlns:a="http://schemas.openxmlformats.org/drawingml/2006/main" prst="rect">
            <a:avLst/>
          </a:prstGeom>
        </p:spPr>
      </p:pic>
      <p:sp>
        <p:nvSpPr>
          <p:cNvPr id="5" name="kicker-10-marker">
            <a:extLst xmlns:a="http://schemas.openxmlformats.org/drawingml/2006/main">
              <a:ext uri="{FF2B5EF4-FFF2-40B4-BE49-F238E27FC236}">
                <a16:creationId xmlns:a16="http://schemas.microsoft.com/office/drawing/2014/main" id="{91EEC58B-EB5A-435D-86CF-023DAD6A96D7}"/>
              </a:ext>
            </a:extLst>
          </p:cNvPr>
          <p:cNvSpPr>
            <a:spLocks xmlns:a="http://schemas.openxmlformats.org/drawingml/2006/main" noGrp="1"/>
          </p:cNvSpPr>
          <p:nvPr/>
        </p:nvSpPr>
        <p:spPr>
          <a:xfrm xmlns:a="http://schemas.openxmlformats.org/drawingml/2006/main">
            <a:off x="685800" y="600075"/>
            <a:ext cx="323850" cy="19050"/>
          </a:xfrm>
          <a:prstGeom xmlns:a="http://schemas.openxmlformats.org/drawingml/2006/main" prst="rect">
            <a:avLst/>
          </a:prstGeom>
          <a:solidFill xmlns:a="http://schemas.openxmlformats.org/drawingml/2006/main">
            <a:srgbClr val="B8652B"/>
          </a:solidFill>
          <a:ln xmlns:a="http://schemas.openxmlformats.org/drawingml/2006/main" w="0">
            <a:solidFill>
              <a:srgbClr val="B8652B"/>
            </a:solidFill>
            <a:prstDash val="solid"/>
          </a:ln>
        </p:spPr>
      </p:sp>
      <p:sp>
        <p:nvSpPr>
          <p:cNvPr id="6" name="kicker-10-label">
            <a:extLst xmlns:a="http://schemas.openxmlformats.org/drawingml/2006/main">
              <a:ext uri="{FF2B5EF4-FFF2-40B4-BE49-F238E27FC236}">
                <a16:creationId xmlns:a16="http://schemas.microsoft.com/office/drawing/2014/main" id="{46A9247D-E3E3-4DA6-AD2C-46B7612344ED}"/>
              </a:ext>
            </a:extLst>
          </p:cNvPr>
          <p:cNvSpPr>
            <a:spLocks xmlns:a="http://schemas.openxmlformats.org/drawingml/2006/main" noGrp="1"/>
          </p:cNvSpPr>
          <p:nvPr/>
        </p:nvSpPr>
        <p:spPr>
          <a:xfrm xmlns:a="http://schemas.openxmlformats.org/drawingml/2006/main">
            <a:off x="1123950" y="514350"/>
            <a:ext cx="3429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B7B7B0"/>
                </a:solidFill>
                <a:latin typeface="Aptos Mono"/>
                <a:ea typeface="Aptos Mono"/>
                <a:cs typeface="Aptos Mono"/>
              </a:defRPr>
            </a:pPr>
            <a:r>
              <a:rPr sz="825" b="1">
                <a:solidFill>
                  <a:srgbClr val="B7B7B0"/>
                </a:solidFill>
                <a:latin typeface="Aptos Mono"/>
                <a:ea typeface="Aptos Mono"/>
                <a:cs typeface="Aptos Mono"/>
              </a:rPr>
              <a:t>NEXT STEPS</a:t>
            </a:r>
          </a:p>
        </p:txBody>
      </p:sp>
      <p:sp>
        <p:nvSpPr>
          <p:cNvPr id="7" name="">
            <a:extLst xmlns:a="http://schemas.openxmlformats.org/drawingml/2006/main">
              <a:ext uri="{FF2B5EF4-FFF2-40B4-BE49-F238E27FC236}">
                <a16:creationId xmlns:a16="http://schemas.microsoft.com/office/drawing/2014/main" id="{44397CB0-F6D1-4FD1-B972-DE68AE15B62F}"/>
              </a:ext>
            </a:extLst>
          </p:cNvPr>
          <p:cNvSpPr>
            <a:spLocks xmlns:a="http://schemas.openxmlformats.org/drawingml/2006/main" noGrp="1"/>
          </p:cNvSpPr>
          <p:nvPr/>
        </p:nvSpPr>
        <p:spPr>
          <a:xfrm xmlns:a="http://schemas.openxmlformats.org/drawingml/2006/main">
            <a:off x="685800" y="914400"/>
            <a:ext cx="619125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300" b="0">
                <a:solidFill>
                  <a:srgbClr val="F4F0E8"/>
                </a:solidFill>
                <a:latin typeface="Georgia"/>
                <a:ea typeface="Georgia"/>
                <a:cs typeface="Georgia"/>
              </a:defRPr>
            </a:pPr>
            <a:r>
              <a:rPr sz="3300" b="0">
                <a:solidFill>
                  <a:srgbClr val="F4F0E8"/>
                </a:solidFill>
                <a:latin typeface="Georgia"/>
                <a:ea typeface="Georgia"/>
                <a:cs typeface="Georgia"/>
              </a:rPr>
              <a:t>Five decisions unlock a buildable MVP.</a:t>
            </a:r>
          </a:p>
        </p:txBody>
      </p:sp>
      <p:sp>
        <p:nvSpPr>
          <p:cNvPr id="8" name="">
            <a:extLst xmlns:a="http://schemas.openxmlformats.org/drawingml/2006/main">
              <a:ext uri="{FF2B5EF4-FFF2-40B4-BE49-F238E27FC236}">
                <a16:creationId xmlns:a16="http://schemas.microsoft.com/office/drawing/2014/main" id="{678B5C87-25C0-4D92-98FA-65F18F60B884}"/>
              </a:ext>
            </a:extLst>
          </p:cNvPr>
          <p:cNvSpPr>
            <a:spLocks xmlns:a="http://schemas.openxmlformats.org/drawingml/2006/main" noGrp="1"/>
          </p:cNvSpPr>
          <p:nvPr/>
        </p:nvSpPr>
        <p:spPr>
          <a:xfrm xmlns:a="http://schemas.openxmlformats.org/drawingml/2006/main">
            <a:off x="723900" y="1981200"/>
            <a:ext cx="60960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B7B7B0"/>
                </a:solidFill>
                <a:latin typeface="Aptos"/>
                <a:ea typeface="Aptos"/>
                <a:cs typeface="Aptos"/>
              </a:defRPr>
            </a:pPr>
            <a:r>
              <a:rPr sz="1425" b="0">
                <a:solidFill>
                  <a:srgbClr val="B7B7B0"/>
                </a:solidFill>
                <a:latin typeface="Aptos"/>
                <a:ea typeface="Aptos"/>
                <a:cs typeface="Aptos"/>
              </a:rPr>
              <a:t>The next move is to turn the studio's actual workflow into structured data, message templates, and a focused first build.</a:t>
            </a:r>
          </a:p>
        </p:txBody>
      </p:sp>
      <p:sp>
        <p:nvSpPr>
          <p:cNvPr id="9" name="">
            <a:extLst xmlns:a="http://schemas.openxmlformats.org/drawingml/2006/main">
              <a:ext uri="{FF2B5EF4-FFF2-40B4-BE49-F238E27FC236}">
                <a16:creationId xmlns:a16="http://schemas.microsoft.com/office/drawing/2014/main" id="{0CC29B94-3F74-43D8-A47A-F6C6AEBCE910}"/>
              </a:ext>
            </a:extLst>
          </p:cNvPr>
          <p:cNvSpPr>
            <a:spLocks xmlns:a="http://schemas.openxmlformats.org/drawingml/2006/main" noGrp="1"/>
          </p:cNvSpPr>
          <p:nvPr/>
        </p:nvSpPr>
        <p:spPr>
          <a:xfrm xmlns:a="http://schemas.openxmlformats.org/drawingml/2006/main">
            <a:off x="1104900" y="2705100"/>
            <a:ext cx="419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B8652B"/>
                </a:solidFill>
                <a:latin typeface="Aptos Mono"/>
                <a:ea typeface="Aptos Mono"/>
                <a:cs typeface="Aptos Mono"/>
              </a:defRPr>
            </a:pPr>
            <a:r>
              <a:rPr sz="975" b="1">
                <a:solidFill>
                  <a:srgbClr val="B8652B"/>
                </a:solidFill>
                <a:latin typeface="Aptos Mono"/>
                <a:ea typeface="Aptos Mono"/>
                <a:cs typeface="Aptos Mono"/>
              </a:rPr>
              <a:t>01</a:t>
            </a:r>
          </a:p>
        </p:txBody>
      </p:sp>
      <p:sp>
        <p:nvSpPr>
          <p:cNvPr id="10" name="">
            <a:extLst xmlns:a="http://schemas.openxmlformats.org/drawingml/2006/main">
              <a:ext uri="{FF2B5EF4-FFF2-40B4-BE49-F238E27FC236}">
                <a16:creationId xmlns:a16="http://schemas.microsoft.com/office/drawing/2014/main" id="{AC7BB527-ABDC-4598-BE2F-EF228B42A2BD}"/>
              </a:ext>
            </a:extLst>
          </p:cNvPr>
          <p:cNvSpPr>
            <a:spLocks xmlns:a="http://schemas.openxmlformats.org/drawingml/2006/main" noGrp="1"/>
          </p:cNvSpPr>
          <p:nvPr/>
        </p:nvSpPr>
        <p:spPr>
          <a:xfrm xmlns:a="http://schemas.openxmlformats.org/drawingml/2006/main">
            <a:off x="1657350" y="2667000"/>
            <a:ext cx="361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F4F0E8"/>
                </a:solidFill>
                <a:latin typeface="Georgia"/>
                <a:ea typeface="Georgia"/>
                <a:cs typeface="Georgia"/>
              </a:defRPr>
            </a:pPr>
            <a:r>
              <a:rPr sz="1650" b="0">
                <a:solidFill>
                  <a:srgbClr val="F4F0E8"/>
                </a:solidFill>
                <a:latin typeface="Georgia"/>
                <a:ea typeface="Georgia"/>
                <a:cs typeface="Georgia"/>
              </a:rPr>
              <a:t>Inventory digitization session</a:t>
            </a:r>
          </a:p>
        </p:txBody>
      </p:sp>
      <p:sp>
        <p:nvSpPr>
          <p:cNvPr id="11" name="">
            <a:extLst xmlns:a="http://schemas.openxmlformats.org/drawingml/2006/main">
              <a:ext uri="{FF2B5EF4-FFF2-40B4-BE49-F238E27FC236}">
                <a16:creationId xmlns:a16="http://schemas.microsoft.com/office/drawing/2014/main" id="{DFE1A6CB-27F1-424E-90CF-9DBD84008F38}"/>
              </a:ext>
            </a:extLst>
          </p:cNvPr>
          <p:cNvSpPr>
            <a:spLocks xmlns:a="http://schemas.openxmlformats.org/drawingml/2006/main" noGrp="1"/>
          </p:cNvSpPr>
          <p:nvPr/>
        </p:nvSpPr>
        <p:spPr>
          <a:xfrm xmlns:a="http://schemas.openxmlformats.org/drawingml/2006/main">
            <a:off x="1657350" y="2990850"/>
            <a:ext cx="4476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B7B7B0"/>
                </a:solidFill>
                <a:latin typeface="Aptos"/>
                <a:ea typeface="Aptos"/>
                <a:cs typeface="Aptos"/>
              </a:defRPr>
            </a:pPr>
            <a:r>
              <a:rPr sz="1125" b="0">
                <a:solidFill>
                  <a:srgbClr val="B7B7B0"/>
                </a:solidFill>
                <a:latin typeface="Aptos"/>
                <a:ea typeface="Aptos"/>
                <a:cs typeface="Aptos"/>
              </a:rPr>
              <a:t>capture SKUs, sizes, colorways, stock rules</a:t>
            </a:r>
          </a:p>
        </p:txBody>
      </p:sp>
      <p:sp>
        <p:nvSpPr>
          <p:cNvPr id="12" name="">
            <a:extLst xmlns:a="http://schemas.openxmlformats.org/drawingml/2006/main">
              <a:ext uri="{FF2B5EF4-FFF2-40B4-BE49-F238E27FC236}">
                <a16:creationId xmlns:a16="http://schemas.microsoft.com/office/drawing/2014/main" id="{DB35CA09-97E6-4C53-BDF7-02A535D28571}"/>
              </a:ext>
            </a:extLst>
          </p:cNvPr>
          <p:cNvSpPr>
            <a:spLocks xmlns:a="http://schemas.openxmlformats.org/drawingml/2006/main" noGrp="1"/>
          </p:cNvSpPr>
          <p:nvPr/>
        </p:nvSpPr>
        <p:spPr>
          <a:xfrm xmlns:a="http://schemas.openxmlformats.org/drawingml/2006/main">
            <a:off x="1295400" y="3048000"/>
            <a:ext cx="9525" cy="552450"/>
          </a:xfrm>
          <a:prstGeom xmlns:a="http://schemas.openxmlformats.org/drawingml/2006/main" prst="rect">
            <a:avLst/>
          </a:prstGeom>
          <a:solidFill xmlns:a="http://schemas.openxmlformats.org/drawingml/2006/main">
            <a:srgbClr val="3B3832"/>
          </a:solidFill>
          <a:ln xmlns:a="http://schemas.openxmlformats.org/drawingml/2006/main" w="0">
            <a:solidFill>
              <a:srgbClr val="3B3832"/>
            </a:solidFill>
            <a:prstDash val="solid"/>
          </a:ln>
        </p:spPr>
      </p:sp>
      <p:sp>
        <p:nvSpPr>
          <p:cNvPr id="13" name="">
            <a:extLst xmlns:a="http://schemas.openxmlformats.org/drawingml/2006/main">
              <a:ext uri="{FF2B5EF4-FFF2-40B4-BE49-F238E27FC236}">
                <a16:creationId xmlns:a16="http://schemas.microsoft.com/office/drawing/2014/main" id="{E90C06F0-E77F-457C-8A94-46E04D432C45}"/>
              </a:ext>
            </a:extLst>
          </p:cNvPr>
          <p:cNvSpPr>
            <a:spLocks xmlns:a="http://schemas.openxmlformats.org/drawingml/2006/main" noGrp="1"/>
          </p:cNvSpPr>
          <p:nvPr/>
        </p:nvSpPr>
        <p:spPr>
          <a:xfrm xmlns:a="http://schemas.openxmlformats.org/drawingml/2006/main">
            <a:off x="1104900" y="3467100"/>
            <a:ext cx="419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7B5133"/>
                </a:solidFill>
                <a:latin typeface="Aptos Mono"/>
                <a:ea typeface="Aptos Mono"/>
                <a:cs typeface="Aptos Mono"/>
              </a:defRPr>
            </a:pPr>
            <a:r>
              <a:rPr sz="975" b="1">
                <a:solidFill>
                  <a:srgbClr val="7B5133"/>
                </a:solidFill>
                <a:latin typeface="Aptos Mono"/>
                <a:ea typeface="Aptos Mono"/>
                <a:cs typeface="Aptos Mono"/>
              </a:rPr>
              <a:t>02</a:t>
            </a:r>
          </a:p>
        </p:txBody>
      </p:sp>
      <p:sp>
        <p:nvSpPr>
          <p:cNvPr id="14" name="">
            <a:extLst xmlns:a="http://schemas.openxmlformats.org/drawingml/2006/main">
              <a:ext uri="{FF2B5EF4-FFF2-40B4-BE49-F238E27FC236}">
                <a16:creationId xmlns:a16="http://schemas.microsoft.com/office/drawing/2014/main" id="{F76E9624-0868-4040-93DE-F3F034A13635}"/>
              </a:ext>
            </a:extLst>
          </p:cNvPr>
          <p:cNvSpPr>
            <a:spLocks xmlns:a="http://schemas.openxmlformats.org/drawingml/2006/main" noGrp="1"/>
          </p:cNvSpPr>
          <p:nvPr/>
        </p:nvSpPr>
        <p:spPr>
          <a:xfrm xmlns:a="http://schemas.openxmlformats.org/drawingml/2006/main">
            <a:off x="1657350" y="3429000"/>
            <a:ext cx="361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F4F0E8"/>
                </a:solidFill>
                <a:latin typeface="Georgia"/>
                <a:ea typeface="Georgia"/>
                <a:cs typeface="Georgia"/>
              </a:defRPr>
            </a:pPr>
            <a:r>
              <a:rPr sz="1650" b="0">
                <a:solidFill>
                  <a:srgbClr val="F4F0E8"/>
                </a:solidFill>
                <a:latin typeface="Georgia"/>
                <a:ea typeface="Georgia"/>
                <a:cs typeface="Georgia"/>
              </a:rPr>
              <a:t>Confirm workflows</a:t>
            </a:r>
          </a:p>
        </p:txBody>
      </p:sp>
      <p:sp>
        <p:nvSpPr>
          <p:cNvPr id="15" name="">
            <a:extLst xmlns:a="http://schemas.openxmlformats.org/drawingml/2006/main">
              <a:ext uri="{FF2B5EF4-FFF2-40B4-BE49-F238E27FC236}">
                <a16:creationId xmlns:a16="http://schemas.microsoft.com/office/drawing/2014/main" id="{115D3779-B70D-4630-98FE-FEC237F02AE0}"/>
              </a:ext>
            </a:extLst>
          </p:cNvPr>
          <p:cNvSpPr>
            <a:spLocks xmlns:a="http://schemas.openxmlformats.org/drawingml/2006/main" noGrp="1"/>
          </p:cNvSpPr>
          <p:nvPr/>
        </p:nvSpPr>
        <p:spPr>
          <a:xfrm xmlns:a="http://schemas.openxmlformats.org/drawingml/2006/main">
            <a:off x="1657350" y="3752850"/>
            <a:ext cx="4476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B7B7B0"/>
                </a:solidFill>
                <a:latin typeface="Aptos"/>
                <a:ea typeface="Aptos"/>
                <a:cs typeface="Aptos"/>
              </a:defRPr>
            </a:pPr>
            <a:r>
              <a:rPr sz="1125" b="0">
                <a:solidFill>
                  <a:srgbClr val="B7B7B0"/>
                </a:solidFill>
                <a:latin typeface="Aptos"/>
                <a:ea typeface="Aptos"/>
                <a:cs typeface="Aptos"/>
              </a:rPr>
              <a:t>define order, custom, bulk, and production states</a:t>
            </a:r>
          </a:p>
        </p:txBody>
      </p:sp>
      <p:sp>
        <p:nvSpPr>
          <p:cNvPr id="16" name="">
            <a:extLst xmlns:a="http://schemas.openxmlformats.org/drawingml/2006/main">
              <a:ext uri="{FF2B5EF4-FFF2-40B4-BE49-F238E27FC236}">
                <a16:creationId xmlns:a16="http://schemas.microsoft.com/office/drawing/2014/main" id="{4E9F8FE5-E628-4E71-8302-4B653AB72DE0}"/>
              </a:ext>
            </a:extLst>
          </p:cNvPr>
          <p:cNvSpPr>
            <a:spLocks xmlns:a="http://schemas.openxmlformats.org/drawingml/2006/main" noGrp="1"/>
          </p:cNvSpPr>
          <p:nvPr/>
        </p:nvSpPr>
        <p:spPr>
          <a:xfrm xmlns:a="http://schemas.openxmlformats.org/drawingml/2006/main">
            <a:off x="1295400" y="3810000"/>
            <a:ext cx="9525" cy="552450"/>
          </a:xfrm>
          <a:prstGeom xmlns:a="http://schemas.openxmlformats.org/drawingml/2006/main" prst="rect">
            <a:avLst/>
          </a:prstGeom>
          <a:solidFill xmlns:a="http://schemas.openxmlformats.org/drawingml/2006/main">
            <a:srgbClr val="3B3832"/>
          </a:solidFill>
          <a:ln xmlns:a="http://schemas.openxmlformats.org/drawingml/2006/main" w="0">
            <a:solidFill>
              <a:srgbClr val="3B3832"/>
            </a:solidFill>
            <a:prstDash val="solid"/>
          </a:ln>
        </p:spPr>
      </p:sp>
      <p:sp>
        <p:nvSpPr>
          <p:cNvPr id="17" name="">
            <a:extLst xmlns:a="http://schemas.openxmlformats.org/drawingml/2006/main">
              <a:ext uri="{FF2B5EF4-FFF2-40B4-BE49-F238E27FC236}">
                <a16:creationId xmlns:a16="http://schemas.microsoft.com/office/drawing/2014/main" id="{C97F097A-DDCB-492B-872E-7162C850549B}"/>
              </a:ext>
            </a:extLst>
          </p:cNvPr>
          <p:cNvSpPr>
            <a:spLocks xmlns:a="http://schemas.openxmlformats.org/drawingml/2006/main" noGrp="1"/>
          </p:cNvSpPr>
          <p:nvPr/>
        </p:nvSpPr>
        <p:spPr>
          <a:xfrm xmlns:a="http://schemas.openxmlformats.org/drawingml/2006/main">
            <a:off x="1104900" y="4229100"/>
            <a:ext cx="419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3F4A35"/>
                </a:solidFill>
                <a:latin typeface="Aptos Mono"/>
                <a:ea typeface="Aptos Mono"/>
                <a:cs typeface="Aptos Mono"/>
              </a:defRPr>
            </a:pPr>
            <a:r>
              <a:rPr sz="975" b="1">
                <a:solidFill>
                  <a:srgbClr val="3F4A35"/>
                </a:solidFill>
                <a:latin typeface="Aptos Mono"/>
                <a:ea typeface="Aptos Mono"/>
                <a:cs typeface="Aptos Mono"/>
              </a:rPr>
              <a:t>03</a:t>
            </a:r>
          </a:p>
        </p:txBody>
      </p:sp>
      <p:sp>
        <p:nvSpPr>
          <p:cNvPr id="18" name="">
            <a:extLst xmlns:a="http://schemas.openxmlformats.org/drawingml/2006/main">
              <a:ext uri="{FF2B5EF4-FFF2-40B4-BE49-F238E27FC236}">
                <a16:creationId xmlns:a16="http://schemas.microsoft.com/office/drawing/2014/main" id="{9448D1C4-5C0C-41D3-B257-2DB6CA81BE1B}"/>
              </a:ext>
            </a:extLst>
          </p:cNvPr>
          <p:cNvSpPr>
            <a:spLocks xmlns:a="http://schemas.openxmlformats.org/drawingml/2006/main" noGrp="1"/>
          </p:cNvSpPr>
          <p:nvPr/>
        </p:nvSpPr>
        <p:spPr>
          <a:xfrm xmlns:a="http://schemas.openxmlformats.org/drawingml/2006/main">
            <a:off x="1657350" y="4191000"/>
            <a:ext cx="361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F4F0E8"/>
                </a:solidFill>
                <a:latin typeface="Georgia"/>
                <a:ea typeface="Georgia"/>
                <a:cs typeface="Georgia"/>
              </a:defRPr>
            </a:pPr>
            <a:r>
              <a:rPr sz="1650" b="0">
                <a:solidFill>
                  <a:srgbClr val="F4F0E8"/>
                </a:solidFill>
                <a:latin typeface="Georgia"/>
                <a:ea typeface="Georgia"/>
                <a:cs typeface="Georgia"/>
              </a:rPr>
              <a:t>Define message templates</a:t>
            </a:r>
          </a:p>
        </p:txBody>
      </p:sp>
      <p:sp>
        <p:nvSpPr>
          <p:cNvPr id="19" name="">
            <a:extLst xmlns:a="http://schemas.openxmlformats.org/drawingml/2006/main">
              <a:ext uri="{FF2B5EF4-FFF2-40B4-BE49-F238E27FC236}">
                <a16:creationId xmlns:a16="http://schemas.microsoft.com/office/drawing/2014/main" id="{96B26E06-0CB5-4A56-AE0C-250979C2F45F}"/>
              </a:ext>
            </a:extLst>
          </p:cNvPr>
          <p:cNvSpPr>
            <a:spLocks xmlns:a="http://schemas.openxmlformats.org/drawingml/2006/main" noGrp="1"/>
          </p:cNvSpPr>
          <p:nvPr/>
        </p:nvSpPr>
        <p:spPr>
          <a:xfrm xmlns:a="http://schemas.openxmlformats.org/drawingml/2006/main">
            <a:off x="1657350" y="4514850"/>
            <a:ext cx="4476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B7B7B0"/>
                </a:solidFill>
                <a:latin typeface="Aptos"/>
                <a:ea typeface="Aptos"/>
                <a:cs typeface="Aptos"/>
              </a:defRPr>
            </a:pPr>
            <a:r>
              <a:rPr sz="1125" b="0">
                <a:solidFill>
                  <a:srgbClr val="B7B7B0"/>
                </a:solidFill>
                <a:latin typeface="Aptos"/>
                <a:ea typeface="Aptos"/>
                <a:cs typeface="Aptos"/>
              </a:rPr>
              <a:t>welcome menu, size guide, quote request, follow-up</a:t>
            </a:r>
          </a:p>
        </p:txBody>
      </p:sp>
      <p:sp>
        <p:nvSpPr>
          <p:cNvPr id="20" name="">
            <a:extLst xmlns:a="http://schemas.openxmlformats.org/drawingml/2006/main">
              <a:ext uri="{FF2B5EF4-FFF2-40B4-BE49-F238E27FC236}">
                <a16:creationId xmlns:a16="http://schemas.microsoft.com/office/drawing/2014/main" id="{4979E0F3-1A8B-461D-AE84-63F9A97F615A}"/>
              </a:ext>
            </a:extLst>
          </p:cNvPr>
          <p:cNvSpPr>
            <a:spLocks xmlns:a="http://schemas.openxmlformats.org/drawingml/2006/main" noGrp="1"/>
          </p:cNvSpPr>
          <p:nvPr/>
        </p:nvSpPr>
        <p:spPr>
          <a:xfrm xmlns:a="http://schemas.openxmlformats.org/drawingml/2006/main">
            <a:off x="1295400" y="4572000"/>
            <a:ext cx="9525" cy="552450"/>
          </a:xfrm>
          <a:prstGeom xmlns:a="http://schemas.openxmlformats.org/drawingml/2006/main" prst="rect">
            <a:avLst/>
          </a:prstGeom>
          <a:solidFill xmlns:a="http://schemas.openxmlformats.org/drawingml/2006/main">
            <a:srgbClr val="3B3832"/>
          </a:solidFill>
          <a:ln xmlns:a="http://schemas.openxmlformats.org/drawingml/2006/main" w="0">
            <a:solidFill>
              <a:srgbClr val="3B3832"/>
            </a:solidFill>
            <a:prstDash val="solid"/>
          </a:ln>
        </p:spPr>
      </p:sp>
      <p:sp>
        <p:nvSpPr>
          <p:cNvPr id="21" name="">
            <a:extLst xmlns:a="http://schemas.openxmlformats.org/drawingml/2006/main">
              <a:ext uri="{FF2B5EF4-FFF2-40B4-BE49-F238E27FC236}">
                <a16:creationId xmlns:a16="http://schemas.microsoft.com/office/drawing/2014/main" id="{79752CF7-D704-4E9E-9C90-43F52EC5F8D4}"/>
              </a:ext>
            </a:extLst>
          </p:cNvPr>
          <p:cNvSpPr>
            <a:spLocks xmlns:a="http://schemas.openxmlformats.org/drawingml/2006/main" noGrp="1"/>
          </p:cNvSpPr>
          <p:nvPr/>
        </p:nvSpPr>
        <p:spPr>
          <a:xfrm xmlns:a="http://schemas.openxmlformats.org/drawingml/2006/main">
            <a:off x="6534150" y="2705100"/>
            <a:ext cx="419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B8652B"/>
                </a:solidFill>
                <a:latin typeface="Aptos Mono"/>
                <a:ea typeface="Aptos Mono"/>
                <a:cs typeface="Aptos Mono"/>
              </a:defRPr>
            </a:pPr>
            <a:r>
              <a:rPr sz="975" b="1">
                <a:solidFill>
                  <a:srgbClr val="B8652B"/>
                </a:solidFill>
                <a:latin typeface="Aptos Mono"/>
                <a:ea typeface="Aptos Mono"/>
                <a:cs typeface="Aptos Mono"/>
              </a:rPr>
              <a:t>04</a:t>
            </a:r>
          </a:p>
        </p:txBody>
      </p:sp>
      <p:sp>
        <p:nvSpPr>
          <p:cNvPr id="22" name="">
            <a:extLst xmlns:a="http://schemas.openxmlformats.org/drawingml/2006/main">
              <a:ext uri="{FF2B5EF4-FFF2-40B4-BE49-F238E27FC236}">
                <a16:creationId xmlns:a16="http://schemas.microsoft.com/office/drawing/2014/main" id="{32835D3E-B2F2-4CDD-B6E1-73E3B929E3DC}"/>
              </a:ext>
            </a:extLst>
          </p:cNvPr>
          <p:cNvSpPr>
            <a:spLocks xmlns:a="http://schemas.openxmlformats.org/drawingml/2006/main" noGrp="1"/>
          </p:cNvSpPr>
          <p:nvPr/>
        </p:nvSpPr>
        <p:spPr>
          <a:xfrm xmlns:a="http://schemas.openxmlformats.org/drawingml/2006/main">
            <a:off x="7086600" y="2667000"/>
            <a:ext cx="2476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F4F0E8"/>
                </a:solidFill>
                <a:latin typeface="Georgia"/>
                <a:ea typeface="Georgia"/>
                <a:cs typeface="Georgia"/>
              </a:defRPr>
            </a:pPr>
            <a:r>
              <a:rPr sz="1650" b="0">
                <a:solidFill>
                  <a:srgbClr val="F4F0E8"/>
                </a:solidFill>
                <a:latin typeface="Georgia"/>
                <a:ea typeface="Georgia"/>
                <a:cs typeface="Georgia"/>
              </a:rPr>
              <a:t>Build MVP</a:t>
            </a:r>
          </a:p>
        </p:txBody>
      </p:sp>
      <p:sp>
        <p:nvSpPr>
          <p:cNvPr id="23" name="">
            <a:extLst xmlns:a="http://schemas.openxmlformats.org/drawingml/2006/main">
              <a:ext uri="{FF2B5EF4-FFF2-40B4-BE49-F238E27FC236}">
                <a16:creationId xmlns:a16="http://schemas.microsoft.com/office/drawing/2014/main" id="{6681F5B5-F843-47E4-A25E-597285524CA8}"/>
              </a:ext>
            </a:extLst>
          </p:cNvPr>
          <p:cNvSpPr>
            <a:spLocks xmlns:a="http://schemas.openxmlformats.org/drawingml/2006/main" noGrp="1"/>
          </p:cNvSpPr>
          <p:nvPr/>
        </p:nvSpPr>
        <p:spPr>
          <a:xfrm xmlns:a="http://schemas.openxmlformats.org/drawingml/2006/main">
            <a:off x="7086600" y="2990850"/>
            <a:ext cx="2857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B7B7B0"/>
                </a:solidFill>
                <a:latin typeface="Aptos"/>
                <a:ea typeface="Aptos"/>
                <a:cs typeface="Aptos"/>
              </a:defRPr>
            </a:pPr>
            <a:r>
              <a:rPr sz="1125" b="0">
                <a:solidFill>
                  <a:srgbClr val="B7B7B0"/>
                </a:solidFill>
                <a:latin typeface="Aptos"/>
                <a:ea typeface="Aptos"/>
                <a:cs typeface="Aptos"/>
              </a:rPr>
              <a:t>dashboard, inventory, orders, production tracker</a:t>
            </a:r>
          </a:p>
        </p:txBody>
      </p:sp>
      <p:sp>
        <p:nvSpPr>
          <p:cNvPr id="24" name="">
            <a:extLst xmlns:a="http://schemas.openxmlformats.org/drawingml/2006/main">
              <a:ext uri="{FF2B5EF4-FFF2-40B4-BE49-F238E27FC236}">
                <a16:creationId xmlns:a16="http://schemas.microsoft.com/office/drawing/2014/main" id="{32FB09D7-F4B8-4A44-81AB-3E37D6A0DE1E}"/>
              </a:ext>
            </a:extLst>
          </p:cNvPr>
          <p:cNvSpPr>
            <a:spLocks xmlns:a="http://schemas.openxmlformats.org/drawingml/2006/main" noGrp="1"/>
          </p:cNvSpPr>
          <p:nvPr/>
        </p:nvSpPr>
        <p:spPr>
          <a:xfrm xmlns:a="http://schemas.openxmlformats.org/drawingml/2006/main">
            <a:off x="6724650" y="3048000"/>
            <a:ext cx="9525" cy="552450"/>
          </a:xfrm>
          <a:prstGeom xmlns:a="http://schemas.openxmlformats.org/drawingml/2006/main" prst="rect">
            <a:avLst/>
          </a:prstGeom>
          <a:solidFill xmlns:a="http://schemas.openxmlformats.org/drawingml/2006/main">
            <a:srgbClr val="3B3832"/>
          </a:solidFill>
          <a:ln xmlns:a="http://schemas.openxmlformats.org/drawingml/2006/main" w="0">
            <a:solidFill>
              <a:srgbClr val="3B3832"/>
            </a:solidFill>
            <a:prstDash val="solid"/>
          </a:ln>
        </p:spPr>
      </p:sp>
      <p:sp>
        <p:nvSpPr>
          <p:cNvPr id="25" name="">
            <a:extLst xmlns:a="http://schemas.openxmlformats.org/drawingml/2006/main">
              <a:ext uri="{FF2B5EF4-FFF2-40B4-BE49-F238E27FC236}">
                <a16:creationId xmlns:a16="http://schemas.microsoft.com/office/drawing/2014/main" id="{DC2125E2-7FA6-4475-8783-D1D8BECEE376}"/>
              </a:ext>
            </a:extLst>
          </p:cNvPr>
          <p:cNvSpPr>
            <a:spLocks xmlns:a="http://schemas.openxmlformats.org/drawingml/2006/main" noGrp="1"/>
          </p:cNvSpPr>
          <p:nvPr/>
        </p:nvSpPr>
        <p:spPr>
          <a:xfrm xmlns:a="http://schemas.openxmlformats.org/drawingml/2006/main">
            <a:off x="6534150" y="3467100"/>
            <a:ext cx="419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3F4A35"/>
                </a:solidFill>
                <a:latin typeface="Aptos Mono"/>
                <a:ea typeface="Aptos Mono"/>
                <a:cs typeface="Aptos Mono"/>
              </a:defRPr>
            </a:pPr>
            <a:r>
              <a:rPr sz="975" b="1">
                <a:solidFill>
                  <a:srgbClr val="3F4A35"/>
                </a:solidFill>
                <a:latin typeface="Aptos Mono"/>
                <a:ea typeface="Aptos Mono"/>
                <a:cs typeface="Aptos Mono"/>
              </a:rPr>
              <a:t>05</a:t>
            </a:r>
          </a:p>
        </p:txBody>
      </p:sp>
      <p:sp>
        <p:nvSpPr>
          <p:cNvPr id="26" name="">
            <a:extLst xmlns:a="http://schemas.openxmlformats.org/drawingml/2006/main">
              <a:ext uri="{FF2B5EF4-FFF2-40B4-BE49-F238E27FC236}">
                <a16:creationId xmlns:a16="http://schemas.microsoft.com/office/drawing/2014/main" id="{E85F3596-15B2-49E3-BA09-78502DBEFCE2}"/>
              </a:ext>
            </a:extLst>
          </p:cNvPr>
          <p:cNvSpPr>
            <a:spLocks xmlns:a="http://schemas.openxmlformats.org/drawingml/2006/main" noGrp="1"/>
          </p:cNvSpPr>
          <p:nvPr/>
        </p:nvSpPr>
        <p:spPr>
          <a:xfrm xmlns:a="http://schemas.openxmlformats.org/drawingml/2006/main">
            <a:off x="7086600" y="3429000"/>
            <a:ext cx="2476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F4F0E8"/>
                </a:solidFill>
                <a:latin typeface="Georgia"/>
                <a:ea typeface="Georgia"/>
                <a:cs typeface="Georgia"/>
              </a:defRPr>
            </a:pPr>
            <a:r>
              <a:rPr sz="1650" b="0">
                <a:solidFill>
                  <a:srgbClr val="F4F0E8"/>
                </a:solidFill>
                <a:latin typeface="Georgia"/>
                <a:ea typeface="Georgia"/>
                <a:cs typeface="Georgia"/>
              </a:rPr>
              <a:t>Test with real orders</a:t>
            </a:r>
          </a:p>
        </p:txBody>
      </p:sp>
      <p:sp>
        <p:nvSpPr>
          <p:cNvPr id="27" name="">
            <a:extLst xmlns:a="http://schemas.openxmlformats.org/drawingml/2006/main">
              <a:ext uri="{FF2B5EF4-FFF2-40B4-BE49-F238E27FC236}">
                <a16:creationId xmlns:a16="http://schemas.microsoft.com/office/drawing/2014/main" id="{397DA133-1FCB-4F63-AD9A-638C8F23BD77}"/>
              </a:ext>
            </a:extLst>
          </p:cNvPr>
          <p:cNvSpPr>
            <a:spLocks xmlns:a="http://schemas.openxmlformats.org/drawingml/2006/main" noGrp="1"/>
          </p:cNvSpPr>
          <p:nvPr/>
        </p:nvSpPr>
        <p:spPr>
          <a:xfrm xmlns:a="http://schemas.openxmlformats.org/drawingml/2006/main">
            <a:off x="7086600" y="3752850"/>
            <a:ext cx="2857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B7B7B0"/>
                </a:solidFill>
                <a:latin typeface="Aptos"/>
                <a:ea typeface="Aptos"/>
                <a:cs typeface="Aptos"/>
              </a:defRPr>
            </a:pPr>
            <a:r>
              <a:rPr sz="1125" b="0">
                <a:solidFill>
                  <a:srgbClr val="B7B7B0"/>
                </a:solidFill>
                <a:latin typeface="Aptos"/>
                <a:ea typeface="Aptos"/>
                <a:cs typeface="Aptos"/>
              </a:rPr>
              <a:t>run a live pilot and refine automations</a:t>
            </a:r>
          </a:p>
        </p:txBody>
      </p:sp>
      <p:sp>
        <p:nvSpPr>
          <p:cNvPr id="28" name="">
            <a:extLst xmlns:a="http://schemas.openxmlformats.org/drawingml/2006/main">
              <a:ext uri="{FF2B5EF4-FFF2-40B4-BE49-F238E27FC236}">
                <a16:creationId xmlns:a16="http://schemas.microsoft.com/office/drawing/2014/main" id="{9B2D3276-FFC4-40ED-B44F-3F2A0E577A0A}"/>
              </a:ext>
            </a:extLst>
          </p:cNvPr>
          <p:cNvSpPr>
            <a:spLocks xmlns:a="http://schemas.openxmlformats.org/drawingml/2006/main" noGrp="1"/>
          </p:cNvSpPr>
          <p:nvPr/>
        </p:nvSpPr>
        <p:spPr>
          <a:xfrm xmlns:a="http://schemas.openxmlformats.org/drawingml/2006/main">
            <a:off x="6724650" y="3810000"/>
            <a:ext cx="9525" cy="552450"/>
          </a:xfrm>
          <a:prstGeom xmlns:a="http://schemas.openxmlformats.org/drawingml/2006/main" prst="rect">
            <a:avLst/>
          </a:prstGeom>
          <a:solidFill xmlns:a="http://schemas.openxmlformats.org/drawingml/2006/main">
            <a:srgbClr val="3B3832"/>
          </a:solidFill>
          <a:ln xmlns:a="http://schemas.openxmlformats.org/drawingml/2006/main" w="0">
            <a:solidFill>
              <a:srgbClr val="3B3832"/>
            </a:solidFill>
            <a:prstDash val="solid"/>
          </a:ln>
        </p:spPr>
      </p:sp>
      <p:sp>
        <p:nvSpPr>
          <p:cNvPr id="29" name="">
            <a:extLst xmlns:a="http://schemas.openxmlformats.org/drawingml/2006/main">
              <a:ext uri="{FF2B5EF4-FFF2-40B4-BE49-F238E27FC236}">
                <a16:creationId xmlns:a16="http://schemas.microsoft.com/office/drawing/2014/main" id="{91E01AA7-87DA-42E3-98AB-6D82F5E5858A}"/>
              </a:ext>
            </a:extLst>
          </p:cNvPr>
          <p:cNvSpPr>
            <a:spLocks xmlns:a="http://schemas.openxmlformats.org/drawingml/2006/main" noGrp="1"/>
          </p:cNvSpPr>
          <p:nvPr/>
        </p:nvSpPr>
        <p:spPr>
          <a:xfrm xmlns:a="http://schemas.openxmlformats.org/drawingml/2006/main">
            <a:off x="6534150" y="4552950"/>
            <a:ext cx="3886200" cy="838200"/>
          </a:xfrm>
          <a:prstGeom xmlns:a="http://schemas.openxmlformats.org/drawingml/2006/main" prst="rect">
            <a:avLst/>
          </a:prstGeom>
          <a:solidFill xmlns:a="http://schemas.openxmlformats.org/drawingml/2006/main">
            <a:srgbClr val="17130F"/>
          </a:solidFill>
          <a:ln xmlns:a="http://schemas.openxmlformats.org/drawingml/2006/main" w="9525">
            <a:solidFill>
              <a:srgbClr val="332A22"/>
            </a:solidFill>
            <a:prstDash val="solid"/>
          </a:ln>
        </p:spPr>
      </p:sp>
      <p:sp>
        <p:nvSpPr>
          <p:cNvPr id="30" name="">
            <a:extLst xmlns:a="http://schemas.openxmlformats.org/drawingml/2006/main">
              <a:ext uri="{FF2B5EF4-FFF2-40B4-BE49-F238E27FC236}">
                <a16:creationId xmlns:a16="http://schemas.microsoft.com/office/drawing/2014/main" id="{F25D163A-25A5-43FC-8BC4-A5F81C1B82DD}"/>
              </a:ext>
            </a:extLst>
          </p:cNvPr>
          <p:cNvSpPr>
            <a:spLocks xmlns:a="http://schemas.openxmlformats.org/drawingml/2006/main" noGrp="1"/>
          </p:cNvSpPr>
          <p:nvPr/>
        </p:nvSpPr>
        <p:spPr>
          <a:xfrm xmlns:a="http://schemas.openxmlformats.org/drawingml/2006/main">
            <a:off x="6800850" y="4762500"/>
            <a:ext cx="857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B8652B"/>
                </a:solidFill>
                <a:latin typeface="Aptos Mono"/>
                <a:ea typeface="Aptos Mono"/>
                <a:cs typeface="Aptos Mono"/>
              </a:defRPr>
            </a:pPr>
            <a:r>
              <a:rPr sz="900" b="1">
                <a:solidFill>
                  <a:srgbClr val="B8652B"/>
                </a:solidFill>
                <a:latin typeface="Aptos Mono"/>
                <a:ea typeface="Aptos Mono"/>
                <a:cs typeface="Aptos Mono"/>
              </a:rPr>
              <a:t>Outcome</a:t>
            </a:r>
          </a:p>
        </p:txBody>
      </p:sp>
      <p:sp>
        <p:nvSpPr>
          <p:cNvPr id="31" name="">
            <a:extLst xmlns:a="http://schemas.openxmlformats.org/drawingml/2006/main">
              <a:ext uri="{FF2B5EF4-FFF2-40B4-BE49-F238E27FC236}">
                <a16:creationId xmlns:a16="http://schemas.microsoft.com/office/drawing/2014/main" id="{5FC7FD93-4178-4D2F-8D10-C7BCB238B06B}"/>
              </a:ext>
            </a:extLst>
          </p:cNvPr>
          <p:cNvSpPr>
            <a:spLocks xmlns:a="http://schemas.openxmlformats.org/drawingml/2006/main" noGrp="1"/>
          </p:cNvSpPr>
          <p:nvPr/>
        </p:nvSpPr>
        <p:spPr>
          <a:xfrm xmlns:a="http://schemas.openxmlformats.org/drawingml/2006/main">
            <a:off x="6800850" y="5029200"/>
            <a:ext cx="3143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F4F0E8"/>
                </a:solidFill>
                <a:latin typeface="Aptos"/>
                <a:ea typeface="Aptos"/>
                <a:cs typeface="Aptos"/>
              </a:defRPr>
            </a:pPr>
            <a:r>
              <a:rPr sz="1350" b="0">
                <a:solidFill>
                  <a:srgbClr val="F4F0E8"/>
                </a:solidFill>
                <a:latin typeface="Aptos"/>
                <a:ea typeface="Aptos"/>
                <a:cs typeface="Aptos"/>
              </a:rPr>
              <a:t>a live Studio OS pilot shaped by real Mo'orafrika orders</a:t>
            </a:r>
          </a:p>
        </p:txBody>
      </p:sp>
      <p:sp>
        <p:nvSpPr>
          <p:cNvPr id="32" name="">
            <a:extLst xmlns:a="http://schemas.openxmlformats.org/drawingml/2006/main">
              <a:ext uri="{FF2B5EF4-FFF2-40B4-BE49-F238E27FC236}">
                <a16:creationId xmlns:a16="http://schemas.microsoft.com/office/drawing/2014/main" id="{36DF95F7-419A-4CD3-8B23-334B23AE3EC8}"/>
              </a:ext>
            </a:extLst>
          </p:cNvPr>
          <p:cNvSpPr>
            <a:spLocks xmlns:a="http://schemas.openxmlformats.org/drawingml/2006/main" noGrp="1"/>
          </p:cNvSpPr>
          <p:nvPr/>
        </p:nvSpPr>
        <p:spPr>
          <a:xfrm xmlns:a="http://schemas.openxmlformats.org/drawingml/2006/main">
            <a:off x="11353800" y="61912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B7B7B0"/>
                </a:solidFill>
                <a:latin typeface="Aptos Mono"/>
                <a:ea typeface="Aptos Mono"/>
                <a:cs typeface="Aptos Mono"/>
              </a:defRPr>
            </a:pPr>
            <a:r>
              <a:rPr sz="900" b="0">
                <a:solidFill>
                  <a:srgbClr val="B7B7B0"/>
                </a:solidFill>
                <a:latin typeface="Aptos Mono"/>
                <a:ea typeface="Aptos Mono"/>
                <a:cs typeface="Aptos Mono"/>
              </a:rPr>
              <a:t>10</a:t>
            </a:r>
          </a:p>
        </p:txBody>
      </p:sp>
    </p:spTree>
    <p:extLst>
      <p:ext uri="{BB962C8B-B14F-4D97-AF65-F5344CB8AC3E}">
        <p14:creationId xmlns:p14="http://schemas.microsoft.com/office/powerpoint/2010/main" val="2182249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2026-05-28T12:22:02.8190000Z</dcterms:created>
  <dcterms:modified xsi:type="dcterms:W3CDTF">2026-05-28T12:22:02.8190000Z</dcterms:modified>
</coreProperties>
</file>